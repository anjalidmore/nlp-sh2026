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74"/>
  </p:notesMasterIdLst>
  <p:sldIdLst>
    <p:sldId id="256" r:id="rId3"/>
    <p:sldId id="414" r:id="rId4"/>
    <p:sldId id="257" r:id="rId5"/>
    <p:sldId id="258" r:id="rId6"/>
    <p:sldId id="279" r:id="rId7"/>
    <p:sldId id="280" r:id="rId8"/>
    <p:sldId id="281" r:id="rId9"/>
    <p:sldId id="259" r:id="rId10"/>
    <p:sldId id="282" r:id="rId11"/>
    <p:sldId id="260" r:id="rId12"/>
    <p:sldId id="261" r:id="rId13"/>
    <p:sldId id="262" r:id="rId14"/>
    <p:sldId id="315" r:id="rId15"/>
    <p:sldId id="316" r:id="rId16"/>
    <p:sldId id="404" r:id="rId17"/>
    <p:sldId id="297" r:id="rId18"/>
    <p:sldId id="317" r:id="rId19"/>
    <p:sldId id="298" r:id="rId20"/>
    <p:sldId id="340" r:id="rId21"/>
    <p:sldId id="318" r:id="rId22"/>
    <p:sldId id="319" r:id="rId23"/>
    <p:sldId id="320" r:id="rId24"/>
    <p:sldId id="405" r:id="rId25"/>
    <p:sldId id="322" r:id="rId26"/>
    <p:sldId id="323" r:id="rId27"/>
    <p:sldId id="324" r:id="rId28"/>
    <p:sldId id="325" r:id="rId29"/>
    <p:sldId id="406" r:id="rId30"/>
    <p:sldId id="300" r:id="rId31"/>
    <p:sldId id="411" r:id="rId32"/>
    <p:sldId id="407" r:id="rId33"/>
    <p:sldId id="408" r:id="rId34"/>
    <p:sldId id="301" r:id="rId35"/>
    <p:sldId id="409" r:id="rId36"/>
    <p:sldId id="410" r:id="rId37"/>
    <p:sldId id="302" r:id="rId38"/>
    <p:sldId id="289" r:id="rId39"/>
    <p:sldId id="263" r:id="rId40"/>
    <p:sldId id="264" r:id="rId41"/>
    <p:sldId id="265" r:id="rId42"/>
    <p:sldId id="266" r:id="rId43"/>
    <p:sldId id="342" r:id="rId44"/>
    <p:sldId id="346" r:id="rId45"/>
    <p:sldId id="303" r:id="rId46"/>
    <p:sldId id="343" r:id="rId47"/>
    <p:sldId id="345" r:id="rId48"/>
    <p:sldId id="347" r:id="rId49"/>
    <p:sldId id="351" r:id="rId50"/>
    <p:sldId id="306" r:id="rId51"/>
    <p:sldId id="349" r:id="rId52"/>
    <p:sldId id="307" r:id="rId53"/>
    <p:sldId id="350" r:id="rId54"/>
    <p:sldId id="308" r:id="rId55"/>
    <p:sldId id="354" r:id="rId56"/>
    <p:sldId id="309" r:id="rId57"/>
    <p:sldId id="268" r:id="rId58"/>
    <p:sldId id="269" r:id="rId59"/>
    <p:sldId id="355" r:id="rId60"/>
    <p:sldId id="304" r:id="rId61"/>
    <p:sldId id="305" r:id="rId62"/>
    <p:sldId id="270" r:id="rId63"/>
    <p:sldId id="271" r:id="rId64"/>
    <p:sldId id="272" r:id="rId65"/>
    <p:sldId id="412" r:id="rId66"/>
    <p:sldId id="413" r:id="rId67"/>
    <p:sldId id="273" r:id="rId68"/>
    <p:sldId id="274" r:id="rId69"/>
    <p:sldId id="275" r:id="rId70"/>
    <p:sldId id="276" r:id="rId71"/>
    <p:sldId id="277" r:id="rId72"/>
    <p:sldId id="352" r:id="rId7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EEE409-E3A3-2A8B-9490-4A46E3C18DD6}" v="25" dt="2026-08-26T07:55:11.2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notesMaster" Target="notesMasters/notesMaster1.xml"/><Relationship Id="rId79" Type="http://schemas.microsoft.com/office/2016/11/relationships/changesInfo" Target="changesInfos/changesInfo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microsoft.com/office/2015/10/relationships/revisionInfo" Target="revisionInfo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e85f2c00-2730-4ca5-b8d8-609b15bd4746::" providerId="AD" clId="Web-{E68967E3-26E8-EEF2-D7D4-460867B65676}"/>
    <pc:docChg chg="modSld">
      <pc:chgData name="Guest User" userId="S::urn:spo:tenantanon#e85f2c00-2730-4ca5-b8d8-609b15bd4746::" providerId="AD" clId="Web-{E68967E3-26E8-EEF2-D7D4-460867B65676}" dt="2026-07-30T05:16:35.175" v="34" actId="20577"/>
      <pc:docMkLst>
        <pc:docMk/>
      </pc:docMkLst>
      <pc:sldChg chg="modSp">
        <pc:chgData name="Guest User" userId="S::urn:spo:tenantanon#e85f2c00-2730-4ca5-b8d8-609b15bd4746::" providerId="AD" clId="Web-{E68967E3-26E8-EEF2-D7D4-460867B65676}" dt="2026-07-30T05:12:43.283" v="33" actId="1076"/>
        <pc:sldMkLst>
          <pc:docMk/>
          <pc:sldMk cId="0" sldId="262"/>
        </pc:sldMkLst>
        <pc:spChg chg="mod">
          <ac:chgData name="Guest User" userId="S::urn:spo:tenantanon#e85f2c00-2730-4ca5-b8d8-609b15bd4746::" providerId="AD" clId="Web-{E68967E3-26E8-EEF2-D7D4-460867B65676}" dt="2026-07-30T05:12:43.283" v="33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Guest User" userId="S::urn:spo:tenantanon#e85f2c00-2730-4ca5-b8d8-609b15bd4746::" providerId="AD" clId="Web-{E68967E3-26E8-EEF2-D7D4-460867B65676}" dt="2026-07-30T05:12:43.283" v="32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Guest User" userId="S::urn:spo:tenantanon#e85f2c00-2730-4ca5-b8d8-609b15bd4746::" providerId="AD" clId="Web-{E68967E3-26E8-EEF2-D7D4-460867B65676}" dt="2026-07-30T05:12:43.283" v="31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Guest User" userId="S::urn:spo:tenantanon#e85f2c00-2730-4ca5-b8d8-609b15bd4746::" providerId="AD" clId="Web-{E68967E3-26E8-EEF2-D7D4-460867B65676}" dt="2026-07-30T05:12:43.283" v="30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Guest User" userId="S::urn:spo:tenantanon#e85f2c00-2730-4ca5-b8d8-609b15bd4746::" providerId="AD" clId="Web-{E68967E3-26E8-EEF2-D7D4-460867B65676}" dt="2026-07-30T05:12:43.283" v="29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Guest User" userId="S::urn:spo:tenantanon#e85f2c00-2730-4ca5-b8d8-609b15bd4746::" providerId="AD" clId="Web-{E68967E3-26E8-EEF2-D7D4-460867B65676}" dt="2026-07-30T05:12:43.283" v="28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Guest User" userId="S::urn:spo:tenantanon#e85f2c00-2730-4ca5-b8d8-609b15bd4746::" providerId="AD" clId="Web-{E68967E3-26E8-EEF2-D7D4-460867B65676}" dt="2026-07-30T05:12:43.283" v="27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Guest User" userId="S::urn:spo:tenantanon#e85f2c00-2730-4ca5-b8d8-609b15bd4746::" providerId="AD" clId="Web-{E68967E3-26E8-EEF2-D7D4-460867B65676}" dt="2026-07-30T05:12:43.283" v="26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Guest User" userId="S::urn:spo:tenantanon#e85f2c00-2730-4ca5-b8d8-609b15bd4746::" providerId="AD" clId="Web-{E68967E3-26E8-EEF2-D7D4-460867B65676}" dt="2026-07-30T05:12:43.283" v="25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Guest User" userId="S::urn:spo:tenantanon#e85f2c00-2730-4ca5-b8d8-609b15bd4746::" providerId="AD" clId="Web-{E68967E3-26E8-EEF2-D7D4-460867B65676}" dt="2026-07-30T05:12:43.283" v="24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Guest User" userId="S::urn:spo:tenantanon#e85f2c00-2730-4ca5-b8d8-609b15bd4746::" providerId="AD" clId="Web-{E68967E3-26E8-EEF2-D7D4-460867B65676}" dt="2026-07-30T05:12:43.283" v="23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Guest User" userId="S::urn:spo:tenantanon#e85f2c00-2730-4ca5-b8d8-609b15bd4746::" providerId="AD" clId="Web-{E68967E3-26E8-EEF2-D7D4-460867B65676}" dt="2026-07-30T05:12:43.283" v="22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Guest User" userId="S::urn:spo:tenantanon#e85f2c00-2730-4ca5-b8d8-609b15bd4746::" providerId="AD" clId="Web-{E68967E3-26E8-EEF2-D7D4-460867B65676}" dt="2026-07-30T05:12:43.283" v="21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Guest User" userId="S::urn:spo:tenantanon#e85f2c00-2730-4ca5-b8d8-609b15bd4746::" providerId="AD" clId="Web-{E68967E3-26E8-EEF2-D7D4-460867B65676}" dt="2026-07-30T05:11:47.220" v="5" actId="1076"/>
          <ac:spMkLst>
            <pc:docMk/>
            <pc:sldMk cId="0" sldId="262"/>
            <ac:spMk id="39" creationId="{00000000-0000-0000-0000-000000000000}"/>
          </ac:spMkLst>
        </pc:spChg>
        <pc:spChg chg="mod">
          <ac:chgData name="Guest User" userId="S::urn:spo:tenantanon#e85f2c00-2730-4ca5-b8d8-609b15bd4746::" providerId="AD" clId="Web-{E68967E3-26E8-EEF2-D7D4-460867B65676}" dt="2026-07-30T05:11:47.220" v="4" actId="1076"/>
          <ac:spMkLst>
            <pc:docMk/>
            <pc:sldMk cId="0" sldId="262"/>
            <ac:spMk id="40" creationId="{00000000-0000-0000-0000-000000000000}"/>
          </ac:spMkLst>
        </pc:spChg>
        <pc:spChg chg="mod">
          <ac:chgData name="Guest User" userId="S::urn:spo:tenantanon#e85f2c00-2730-4ca5-b8d8-609b15bd4746::" providerId="AD" clId="Web-{E68967E3-26E8-EEF2-D7D4-460867B65676}" dt="2026-07-30T05:11:47.220" v="3" actId="1076"/>
          <ac:spMkLst>
            <pc:docMk/>
            <pc:sldMk cId="0" sldId="262"/>
            <ac:spMk id="43" creationId="{00000000-0000-0000-0000-000000000000}"/>
          </ac:spMkLst>
        </pc:spChg>
      </pc:sldChg>
      <pc:sldChg chg="modSp">
        <pc:chgData name="Guest User" userId="S::urn:spo:tenantanon#e85f2c00-2730-4ca5-b8d8-609b15bd4746::" providerId="AD" clId="Web-{E68967E3-26E8-EEF2-D7D4-460867B65676}" dt="2026-07-30T05:16:35.175" v="34" actId="20577"/>
        <pc:sldMkLst>
          <pc:docMk/>
          <pc:sldMk cId="0" sldId="409"/>
        </pc:sldMkLst>
        <pc:spChg chg="mod">
          <ac:chgData name="Guest User" userId="S::urn:spo:tenantanon#e85f2c00-2730-4ca5-b8d8-609b15bd4746::" providerId="AD" clId="Web-{E68967E3-26E8-EEF2-D7D4-460867B65676}" dt="2026-07-30T05:16:35.175" v="34" actId="20577"/>
          <ac:spMkLst>
            <pc:docMk/>
            <pc:sldMk cId="0" sldId="409"/>
            <ac:spMk id="3" creationId="{00000000-0000-0000-0000-000000000000}"/>
          </ac:spMkLst>
        </pc:spChg>
      </pc:sldChg>
    </pc:docChg>
  </pc:docChgLst>
  <pc:docChgLst>
    <pc:chgData name="SHIRIN MATWANKAR" userId="S::shirin.matwankar@fcrit.ac.in::2e542d0c-3197-41aa-b285-03383859806c" providerId="AD" clId="Web-{0DEEE409-E3A3-2A8B-9490-4A46E3C18DD6}"/>
    <pc:docChg chg="addSld delSld modSld">
      <pc:chgData name="SHIRIN MATWANKAR" userId="S::shirin.matwankar@fcrit.ac.in::2e542d0c-3197-41aa-b285-03383859806c" providerId="AD" clId="Web-{0DEEE409-E3A3-2A8B-9490-4A46E3C18DD6}" dt="2026-08-26T07:55:11.273" v="23" actId="20577"/>
      <pc:docMkLst>
        <pc:docMk/>
      </pc:docMkLst>
      <pc:sldChg chg="new del">
        <pc:chgData name="SHIRIN MATWANKAR" userId="S::shirin.matwankar@fcrit.ac.in::2e542d0c-3197-41aa-b285-03383859806c" providerId="AD" clId="Web-{0DEEE409-E3A3-2A8B-9490-4A46E3C18DD6}" dt="2026-08-26T07:53:57.411" v="3"/>
        <pc:sldMkLst>
          <pc:docMk/>
          <pc:sldMk cId="888544167" sldId="414"/>
        </pc:sldMkLst>
      </pc:sldChg>
      <pc:sldChg chg="addSp delSp modSp new mod modClrScheme chgLayout">
        <pc:chgData name="SHIRIN MATWANKAR" userId="S::shirin.matwankar@fcrit.ac.in::2e542d0c-3197-41aa-b285-03383859806c" providerId="AD" clId="Web-{0DEEE409-E3A3-2A8B-9490-4A46E3C18DD6}" dt="2026-08-26T07:55:11.273" v="23" actId="20577"/>
        <pc:sldMkLst>
          <pc:docMk/>
          <pc:sldMk cId="1849201292" sldId="414"/>
        </pc:sldMkLst>
        <pc:spChg chg="del">
          <ac:chgData name="SHIRIN MATWANKAR" userId="S::shirin.matwankar@fcrit.ac.in::2e542d0c-3197-41aa-b285-03383859806c" providerId="AD" clId="Web-{0DEEE409-E3A3-2A8B-9490-4A46E3C18DD6}" dt="2026-08-26T07:54:30.397" v="13"/>
          <ac:spMkLst>
            <pc:docMk/>
            <pc:sldMk cId="1849201292" sldId="414"/>
            <ac:spMk id="2" creationId="{94FE5D80-6765-AF1F-06EB-1FADDF6D2AB1}"/>
          </ac:spMkLst>
        </pc:spChg>
        <pc:spChg chg="del">
          <ac:chgData name="SHIRIN MATWANKAR" userId="S::shirin.matwankar@fcrit.ac.in::2e542d0c-3197-41aa-b285-03383859806c" providerId="AD" clId="Web-{0DEEE409-E3A3-2A8B-9490-4A46E3C18DD6}" dt="2026-08-26T07:54:28.959" v="12"/>
          <ac:spMkLst>
            <pc:docMk/>
            <pc:sldMk cId="1849201292" sldId="414"/>
            <ac:spMk id="3" creationId="{5EE92BCA-DF0A-6DAB-A835-408800248FB3}"/>
          </ac:spMkLst>
        </pc:spChg>
        <pc:spChg chg="add del mod">
          <ac:chgData name="SHIRIN MATWANKAR" userId="S::shirin.matwankar@fcrit.ac.in::2e542d0c-3197-41aa-b285-03383859806c" providerId="AD" clId="Web-{0DEEE409-E3A3-2A8B-9490-4A46E3C18DD6}" dt="2026-08-26T07:54:17.646" v="11"/>
          <ac:spMkLst>
            <pc:docMk/>
            <pc:sldMk cId="1849201292" sldId="414"/>
            <ac:spMk id="4" creationId="{B05A6CEE-EB1D-9DB4-FF80-051D580073D3}"/>
          </ac:spMkLst>
        </pc:spChg>
        <pc:spChg chg="add mod">
          <ac:chgData name="SHIRIN MATWANKAR" userId="S::shirin.matwankar@fcrit.ac.in::2e542d0c-3197-41aa-b285-03383859806c" providerId="AD" clId="Web-{0DEEE409-E3A3-2A8B-9490-4A46E3C18DD6}" dt="2026-08-26T07:54:37.022" v="14"/>
          <ac:spMkLst>
            <pc:docMk/>
            <pc:sldMk cId="1849201292" sldId="414"/>
            <ac:spMk id="5" creationId="{93FED0B6-FE47-0B99-2E4C-0BB858539B50}"/>
          </ac:spMkLst>
        </pc:spChg>
        <pc:spChg chg="add mod">
          <ac:chgData name="SHIRIN MATWANKAR" userId="S::shirin.matwankar@fcrit.ac.in::2e542d0c-3197-41aa-b285-03383859806c" providerId="AD" clId="Web-{0DEEE409-E3A3-2A8B-9490-4A46E3C18DD6}" dt="2026-08-26T07:55:11.273" v="23" actId="20577"/>
          <ac:spMkLst>
            <pc:docMk/>
            <pc:sldMk cId="1849201292" sldId="414"/>
            <ac:spMk id="6" creationId="{85019FDF-9E8E-170D-E89E-FF644BC430B8}"/>
          </ac:spMkLst>
        </pc:spChg>
      </pc:sldChg>
      <pc:sldChg chg="new del">
        <pc:chgData name="SHIRIN MATWANKAR" userId="S::shirin.matwankar@fcrit.ac.in::2e542d0c-3197-41aa-b285-03383859806c" providerId="AD" clId="Web-{0DEEE409-E3A3-2A8B-9490-4A46E3C18DD6}" dt="2026-08-26T07:53:48.176" v="1"/>
        <pc:sldMkLst>
          <pc:docMk/>
          <pc:sldMk cId="3974681452" sldId="414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9T06:09:26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825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334F3-0709-471B-A734-C4B404F5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95016-AF78-4708-9C5F-21110C197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EA2D1-B124-4454-AFDC-EA60A14B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58000-F9D7-4A53-A6C5-E5E815422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22AAD-0D08-4F47-8D5A-EFE29017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911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718B7-7F68-4CC9-8291-332587FA3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81D6BB-0446-49E8-8677-EADF274E9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AEE24-534A-40F1-99E4-00B7D5FD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4011-48FF-493D-8286-F62D34552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0EFCD-7E72-4882-86DC-2F371D7D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45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334F3-0709-471B-A734-C4B404F5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95016-AF78-4708-9C5F-21110C197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EA2D1-B124-4454-AFDC-EA60A14B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58000-F9D7-4A53-A6C5-E5E815422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22AAD-0D08-4F47-8D5A-EFE29017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948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6159-1280-4EE9-96D3-A56BD5826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7A78-1874-488A-B215-7D763D338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BB3D1-3138-4B69-BF5D-4B1A21345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F90C5-31F4-4A22-AC00-3FB5ED29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F787E-B946-4091-ABC6-F9DB06BBE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26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CAA11-CC97-44E5-AE4D-808FD741A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AB6CB-9460-4BCA-86C5-5F26357AB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AB0F6-401D-4BAF-A300-65AD684DF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61BBA-B185-4B45-B152-3D320E15F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CD760-96AC-4821-A56B-0B805F2F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50665-D5B5-4D0B-B2F0-CB6B027CD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06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A47C3-C498-415A-A057-E19BCEB5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6677F-2712-4810-A3AA-56FA75386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1B54A-6775-4978-8E19-32694C9B5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BA1303-B245-476D-BD02-A4E4A359F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8E898F-5B79-46F1-89C1-F827997CC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417A4D-2EC9-4294-BFF4-EAE22EE10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50E317-3602-42A1-BB7F-0184072E8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CE2C97-E26C-4A8B-93A0-B01E2C7F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10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F68FC-5755-447A-8D7F-9ADED3E99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50287-81AA-46CA-8CB3-53A7F831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1BA4AA-02C9-459E-9362-3DA60E3B5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A2C8F-DBB4-4235-A67E-FB4039D9A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19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6ACAA5-F8E7-46E9-8BA7-A510948B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F2DEE8-5654-4DCA-A8D0-D883E52B6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179A5-4329-4057-9DEB-5B6E3AD11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802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1DA80-336B-4DBB-91A1-6E3E4B3C2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0D456-F0A3-4789-A310-A23F01B2E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A8B05-7071-44D4-80F7-3E8191C9A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8562E-E6F1-449B-909C-98426BA8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47A9A-FB08-407B-A73A-0AC513F0F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F841F-796A-4FE6-B5E0-C8A49867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958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D474D-6779-4C23-BD3C-82F5DC3E3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1096C-E430-49C7-A801-21C0BD95DC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4828F-334F-4A50-850D-10684F245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293F4-2B70-4BB5-A982-219E4133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9A86F-B378-4759-B50E-2E0BFAE62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95BDC-FC58-4638-AA59-A3DA9931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085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47D73-EDDA-49A6-BA12-1CA980DA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9B82E-4CA1-47A5-B133-FBD4D8A83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A267F-D142-4D04-9F03-6CB099E6F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127CA-154D-4E90-B776-A2EE71F78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F0BA5-F4EE-4282-B111-76B869BE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186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56E92A-52E0-4710-BDEF-0A1534685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240E1-5EB0-47FD-AA37-BF945D136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14243-F1E4-487A-ABEC-30516A01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58244-98FD-472D-AB8C-075F71C10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98D5A-820D-4519-967F-33320971C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0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80BC3B-525F-4038-9330-0729879F9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29186-93D7-46FA-AE02-36D942604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F1CEB-0530-4996-BAEF-2E6A04DAD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F21A4-E71B-4D3A-AF45-E989C23A7BB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CFF3D-7353-4B4D-9E75-FA835E06E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2C8D6-8B0B-4982-9EE4-AA823C69C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F1B4E-90EC-4A51-B6E5-B702C054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13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edia.org/natural-language-processing" TargetMode="External"/><Relationship Id="rId2" Type="http://schemas.openxmlformats.org/officeDocument/2006/relationships/hyperlink" Target="https://cs.nyu.edu/~davise/ai/ambiguity.html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645920"/>
            <a:ext cx="4572000" cy="4572000"/>
          </a:xfrm>
          <a:prstGeom prst="ellipse">
            <a:avLst/>
          </a:prstGeom>
          <a:solidFill>
            <a:srgbClr val="0D7377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14BDAC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Natural</a:t>
            </a:r>
            <a:endParaRPr lang="en-US" sz="4000"/>
          </a:p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Processing</a:t>
            </a:r>
            <a:endParaRPr lang="en-US" sz="400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Levels of Analysis  ·  Ambiguity &amp; Challenges  ·  Applications  ·  Tools (NLTK / spaCy / HuggingFace)</a:t>
            </a:r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38100">
            <a:solidFill>
              <a:srgbClr val="14BD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937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Shirin Matwankar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822960" y="5257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Fr. C. Rodrigues Institute of Technology, Vashi  |  BE Sem VII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3FED0B6-FE47-0B99-2E4C-0BB858539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019FDF-9E8E-170D-E89E-FF644BC43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Note: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The</a:t>
            </a:r>
            <a:r>
              <a:rPr lang="en-US" b="1" dirty="0">
                <a:ea typeface="+mn-lt"/>
                <a:cs typeface="+mn-lt"/>
              </a:rPr>
              <a:t> problems have been solved in the notebook. Please refer to it.</a:t>
            </a:r>
            <a:endParaRPr lang="en-US" b="1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49201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Roadmap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777240" cy="658368"/>
          </a:xfrm>
          <a:prstGeom prst="roundRect">
            <a:avLst>
              <a:gd name="adj" fmla="val 11111"/>
            </a:avLst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/>
              <a:t>NLP Pipeline and Levels of Analysis: Stages in NLP </a:t>
            </a:r>
            <a:r>
              <a:rPr lang="en-US" sz="1500" b="1">
                <a:solidFill>
                  <a:srgbClr val="1F2937"/>
                </a:solidFill>
                <a:cs typeface="Calibri" pitchFamily="34" charset="-120"/>
              </a:rPr>
              <a:t>processing-text</a:t>
            </a:r>
            <a:r>
              <a:rPr lang="en-US" sz="1500" b="1"/>
              <a:t> preprocessing </a:t>
            </a:r>
            <a:r>
              <a:rPr lang="en-US"/>
              <a:t>	</a:t>
            </a:r>
          </a:p>
        </p:txBody>
      </p:sp>
      <p:sp>
        <p:nvSpPr>
          <p:cNvPr id="8" name="Text 6"/>
          <p:cNvSpPr/>
          <p:nvPr/>
        </p:nvSpPr>
        <p:spPr>
          <a:xfrm>
            <a:off x="9418320" y="160020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+ Demo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777240" cy="658368"/>
          </a:xfrm>
          <a:prstGeom prst="roundRect">
            <a:avLst>
              <a:gd name="adj" fmla="val 11111"/>
            </a:avLst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77440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1508760" y="23774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&amp; Challenges (English + Indian Languages)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9418320" y="237744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+ Demo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777240" cy="658368"/>
          </a:xfrm>
          <a:prstGeom prst="roundRect">
            <a:avLst>
              <a:gd name="adj" fmla="val 11111"/>
            </a:avLst>
          </a:prstGeom>
          <a:solidFill>
            <a:srgbClr val="E85D4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54680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1531620" y="3207491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 NLP</a:t>
            </a:r>
            <a:endParaRPr lang="en-US" sz="1500"/>
          </a:p>
        </p:txBody>
      </p:sp>
      <p:sp>
        <p:nvSpPr>
          <p:cNvPr id="16" name="Text 14"/>
          <p:cNvSpPr/>
          <p:nvPr/>
        </p:nvSpPr>
        <p:spPr>
          <a:xfrm>
            <a:off x="9418320" y="315468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777240" cy="658368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31920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1508760" y="393192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NLTK · spaCy · HuggingFace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9418320" y="393192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+ Demo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777240" cy="658368"/>
          </a:xfrm>
          <a:prstGeom prst="roundRect">
            <a:avLst>
              <a:gd name="adj" fmla="val 11111"/>
            </a:avLst>
          </a:prstGeom>
          <a:solidFill>
            <a:srgbClr val="6B4C9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709160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1508760" y="470916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Seeds: Probability · Vectors · Evaluation</a:t>
            </a:r>
            <a:endParaRPr lang="en-US" sz="1500"/>
          </a:p>
        </p:txBody>
      </p:sp>
      <p:sp>
        <p:nvSpPr>
          <p:cNvPr id="24" name="Text 22"/>
          <p:cNvSpPr/>
          <p:nvPr/>
        </p:nvSpPr>
        <p:spPr>
          <a:xfrm>
            <a:off x="9418320" y="470916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777240" cy="658368"/>
          </a:xfrm>
          <a:prstGeom prst="roundRect">
            <a:avLst>
              <a:gd name="adj" fmla="val 11111"/>
            </a:avLst>
          </a:prstGeom>
          <a:solidFill>
            <a:srgbClr val="555555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486400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1508760" y="548640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Think-Pair-Share Activity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9418320" y="548640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548640" y="634593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IN"/>
          </a:p>
          <a:p>
            <a:r>
              <a:rPr lang="en-IN"/>
              <a:t> </a:t>
            </a:r>
            <a:r>
              <a:rPr lang="en-IN" sz="900">
                <a:solidFill>
                  <a:srgbClr val="8A98A6"/>
                </a:solidFill>
                <a:latin typeface="Calibri" pitchFamily="34" charset="0"/>
                <a:cs typeface="Calibri" pitchFamily="34" charset="-120"/>
              </a:rPr>
              <a:t>CEPEC7032 </a:t>
            </a: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NLP  |  Module 1: Introduction to NLP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</a:t>
            </a:r>
            <a:r>
              <a:rPr lang="en-US" sz="1400" b="1">
                <a:solidFill>
                  <a:srgbClr val="14BDAC"/>
                </a:solidFill>
                <a:latin typeface="Calibri" pitchFamily="34" charset="0"/>
                <a:cs typeface="Calibri" pitchFamily="34" charset="-120"/>
              </a:rPr>
              <a:t>NLP Pipeline and Levels of Analysis: Stages in NLP processing-text preprocessing 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NLP?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10268712" y="41148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10268712" y="411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(NLP)</a:t>
            </a:r>
            <a:r>
              <a:rPr lang="en-US" sz="18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branch of AI that enables machines to read, understand, and generate human language.</a:t>
            </a:r>
            <a:endParaRPr lang="en-US" sz="180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4F7F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3000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raw text into structured form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4343400" y="25146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4F7F8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2697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3000"/>
          </a:p>
        </p:txBody>
      </p:sp>
      <p:sp>
        <p:nvSpPr>
          <p:cNvPr id="14" name="Text 12"/>
          <p:cNvSpPr/>
          <p:nvPr/>
        </p:nvSpPr>
        <p:spPr>
          <a:xfrm>
            <a:off x="452628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4617720" y="3703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meaning, intent, and context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8138160" y="25146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4F7F8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2697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3000"/>
          </a:p>
        </p:txBody>
      </p:sp>
      <p:sp>
        <p:nvSpPr>
          <p:cNvPr id="18" name="Text 16"/>
          <p:cNvSpPr/>
          <p:nvPr/>
        </p:nvSpPr>
        <p:spPr>
          <a:xfrm>
            <a:off x="832104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8412480" y="3703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fluent, coherent language</a:t>
            </a:r>
            <a:endParaRPr lang="en-US" sz="125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709160"/>
            <a:ext cx="10543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</a:t>
            </a: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hard? Because human language is ambiguous, context-dependent, and constantly evolving.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900"/>
              <a:t> </a:t>
            </a:r>
            <a:r>
              <a:rPr lang="en-IN" sz="900">
                <a:solidFill>
                  <a:srgbClr val="8A98A6"/>
                </a:solidFill>
                <a:latin typeface="Calibri" pitchFamily="34" charset="0"/>
                <a:cs typeface="Calibri" pitchFamily="34" charset="-120"/>
              </a:rPr>
              <a:t>CEPEC7032 </a:t>
            </a: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NLP  |  Module 1: Introduction to NLP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>
            <a:extLst>
              <a:ext uri="{FF2B5EF4-FFF2-40B4-BE49-F238E27FC236}">
                <a16:creationId xmlns:a16="http://schemas.microsoft.com/office/drawing/2014/main" id="{EB96F9DC-F476-2A5F-7873-6549B0113303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900"/>
              <a:t> </a:t>
            </a:r>
            <a:r>
              <a:rPr lang="en-IN" sz="900">
                <a:solidFill>
                  <a:srgbClr val="8A98A6"/>
                </a:solidFill>
                <a:latin typeface="Calibri" pitchFamily="34" charset="0"/>
                <a:cs typeface="Calibri" pitchFamily="34" charset="-120"/>
              </a:rPr>
              <a:t>CEPEC7032 </a:t>
            </a: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NLP  |  Module 1: Introduction to NLP</a:t>
            </a:r>
            <a:endParaRPr lang="en-US" sz="90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D92B2E0C-05C6-8DE5-8F19-A657AB2D265E}"/>
              </a:ext>
            </a:extLst>
          </p:cNvPr>
          <p:cNvSpPr/>
          <p:nvPr/>
        </p:nvSpPr>
        <p:spPr>
          <a:xfrm>
            <a:off x="550164" y="1519693"/>
            <a:ext cx="11091672" cy="3818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800" b="1">
                <a:solidFill>
                  <a:srgbClr val="0D7377"/>
                </a:solidFill>
                <a:ea typeface="Calibri" pitchFamily="34" charset="-122"/>
                <a:cs typeface="Calibri" pitchFamily="34" charset="-120"/>
              </a:rPr>
              <a:t>Definitions of Natural language processing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D7377"/>
                </a:solidFill>
                <a:ea typeface="Calibri" pitchFamily="34" charset="-122"/>
                <a:cs typeface="Calibri" pitchFamily="34" charset="-120"/>
              </a:rPr>
              <a:t>Natural Language Processing (NLP)</a:t>
            </a:r>
            <a:r>
              <a:rPr lang="en-US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pc="-7">
                <a:cs typeface="Times New Roman"/>
              </a:rPr>
              <a:t>is the ability to process and harness information from a large corpus of text with </a:t>
            </a:r>
            <a:r>
              <a:rPr lang="en-IN" spc="-7">
                <a:cs typeface="Times New Roman"/>
              </a:rPr>
              <a:t>very little manual intervention.</a:t>
            </a:r>
            <a:endParaRPr lang="en-US" spc="-7">
              <a:cs typeface="Times New Roman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rgbClr val="0D7377"/>
                </a:solidFill>
                <a:ea typeface="Calibri" pitchFamily="34" charset="-122"/>
                <a:cs typeface="Calibri" pitchFamily="34" charset="-120"/>
              </a:rPr>
              <a:t>Natural Language Processing (NLP)</a:t>
            </a:r>
            <a:r>
              <a:rPr lang="en-US" sz="180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IN" spc="-7">
                <a:cs typeface="Times New Roman"/>
              </a:rPr>
              <a:t>i</a:t>
            </a:r>
            <a:r>
              <a:rPr lang="en-IN">
                <a:cs typeface="Times New Roman"/>
              </a:rPr>
              <a:t>s a </a:t>
            </a:r>
            <a:r>
              <a:rPr lang="en-IN" spc="-7">
                <a:cs typeface="Times New Roman"/>
              </a:rPr>
              <a:t>subfiel</a:t>
            </a:r>
            <a:r>
              <a:rPr lang="en-IN">
                <a:cs typeface="Times New Roman"/>
              </a:rPr>
              <a:t>d of </a:t>
            </a:r>
            <a:r>
              <a:rPr lang="en-US" spc="-7">
                <a:cs typeface="Times New Roman"/>
              </a:rPr>
              <a:t>linguistics,</a:t>
            </a:r>
            <a:r>
              <a:rPr lang="en-US">
                <a:cs typeface="Times New Roman"/>
              </a:rPr>
              <a:t> </a:t>
            </a:r>
            <a:r>
              <a:rPr lang="en-US" spc="-7">
                <a:cs typeface="Times New Roman"/>
              </a:rPr>
              <a:t>computer</a:t>
            </a:r>
            <a:r>
              <a:rPr lang="en-US">
                <a:cs typeface="Times New Roman"/>
              </a:rPr>
              <a:t> </a:t>
            </a:r>
            <a:r>
              <a:rPr lang="en-US" spc="-7">
                <a:cs typeface="Times New Roman"/>
              </a:rPr>
              <a:t>science,</a:t>
            </a:r>
            <a:r>
              <a:rPr lang="en-US">
                <a:cs typeface="Times New Roman"/>
              </a:rPr>
              <a:t> </a:t>
            </a:r>
            <a:r>
              <a:rPr lang="en-US" spc="-7">
                <a:cs typeface="Times New Roman"/>
              </a:rPr>
              <a:t>and</a:t>
            </a:r>
            <a:r>
              <a:rPr lang="en-US">
                <a:cs typeface="Times New Roman"/>
              </a:rPr>
              <a:t> </a:t>
            </a:r>
            <a:r>
              <a:rPr lang="en-US" spc="-7">
                <a:cs typeface="Times New Roman"/>
              </a:rPr>
              <a:t>artificial</a:t>
            </a:r>
            <a:r>
              <a:rPr lang="en-US">
                <a:cs typeface="Times New Roman"/>
              </a:rPr>
              <a:t> </a:t>
            </a:r>
            <a:r>
              <a:rPr lang="en-US" spc="-7">
                <a:cs typeface="Times New Roman"/>
              </a:rPr>
              <a:t>intelligence </a:t>
            </a:r>
            <a:r>
              <a:rPr lang="en-US">
                <a:cs typeface="Times New Roman"/>
              </a:rPr>
              <a:t> </a:t>
            </a:r>
            <a:r>
              <a:rPr lang="en-US" spc="-7">
                <a:cs typeface="Times New Roman"/>
              </a:rPr>
              <a:t>concerned with the interactions </a:t>
            </a:r>
            <a:r>
              <a:rPr lang="en-US">
                <a:cs typeface="Times New Roman"/>
              </a:rPr>
              <a:t>between </a:t>
            </a:r>
            <a:r>
              <a:rPr lang="en-US" spc="-7">
                <a:cs typeface="Times New Roman"/>
              </a:rPr>
              <a:t>computers and </a:t>
            </a:r>
            <a:r>
              <a:rPr lang="en-US">
                <a:cs typeface="Times New Roman"/>
              </a:rPr>
              <a:t>human </a:t>
            </a:r>
            <a:r>
              <a:rPr lang="en-US" spc="7">
                <a:cs typeface="Times New Roman"/>
              </a:rPr>
              <a:t> </a:t>
            </a:r>
            <a:r>
              <a:rPr lang="en-US" spc="-7">
                <a:cs typeface="Times New Roman"/>
              </a:rPr>
              <a:t>language, in </a:t>
            </a:r>
            <a:r>
              <a:rPr lang="en-US">
                <a:cs typeface="Times New Roman"/>
              </a:rPr>
              <a:t>particular how </a:t>
            </a:r>
            <a:r>
              <a:rPr lang="en-US" spc="-7">
                <a:cs typeface="Times New Roman"/>
              </a:rPr>
              <a:t>to </a:t>
            </a:r>
            <a:r>
              <a:rPr lang="en-US">
                <a:cs typeface="Times New Roman"/>
              </a:rPr>
              <a:t>program </a:t>
            </a:r>
            <a:r>
              <a:rPr lang="en-US" spc="-7">
                <a:cs typeface="Times New Roman"/>
              </a:rPr>
              <a:t>computers to </a:t>
            </a:r>
            <a:r>
              <a:rPr lang="en-US">
                <a:cs typeface="Times New Roman"/>
              </a:rPr>
              <a:t>process </a:t>
            </a:r>
            <a:r>
              <a:rPr lang="en-US" spc="7">
                <a:cs typeface="Times New Roman"/>
              </a:rPr>
              <a:t> </a:t>
            </a:r>
            <a:r>
              <a:rPr lang="en-US" spc="-7">
                <a:cs typeface="Times New Roman"/>
              </a:rPr>
              <a:t>and</a:t>
            </a:r>
            <a:r>
              <a:rPr lang="en-US" spc="-13">
                <a:cs typeface="Times New Roman"/>
              </a:rPr>
              <a:t> </a:t>
            </a:r>
            <a:r>
              <a:rPr lang="en-US" spc="-7">
                <a:cs typeface="Times New Roman"/>
              </a:rPr>
              <a:t>analyze </a:t>
            </a:r>
            <a:r>
              <a:rPr lang="en-US" spc="-20">
                <a:cs typeface="Times New Roman"/>
              </a:rPr>
              <a:t>large</a:t>
            </a:r>
            <a:r>
              <a:rPr lang="en-US" spc="-7">
                <a:cs typeface="Times New Roman"/>
              </a:rPr>
              <a:t> amounts </a:t>
            </a:r>
            <a:r>
              <a:rPr lang="en-US">
                <a:cs typeface="Times New Roman"/>
              </a:rPr>
              <a:t>of</a:t>
            </a:r>
            <a:r>
              <a:rPr lang="en-US" spc="-7">
                <a:cs typeface="Times New Roman"/>
              </a:rPr>
              <a:t> </a:t>
            </a:r>
            <a:r>
              <a:rPr lang="en-US">
                <a:cs typeface="Times New Roman"/>
              </a:rPr>
              <a:t>natural </a:t>
            </a:r>
            <a:r>
              <a:rPr lang="en-US" spc="-7">
                <a:cs typeface="Times New Roman"/>
              </a:rPr>
              <a:t>language</a:t>
            </a:r>
            <a:r>
              <a:rPr lang="en-US" spc="-13">
                <a:cs typeface="Times New Roman"/>
              </a:rPr>
              <a:t> </a:t>
            </a:r>
            <a:r>
              <a:rPr lang="en-US">
                <a:cs typeface="Times New Roman"/>
              </a:rPr>
              <a:t>data.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D7377"/>
                </a:solidFill>
                <a:ea typeface="Calibri" pitchFamily="34" charset="-122"/>
                <a:cs typeface="Calibri" pitchFamily="34" charset="-120"/>
              </a:rPr>
              <a:t>Natural Language Processing (NLP)</a:t>
            </a:r>
            <a:r>
              <a:rPr lang="en-US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pc="-7">
                <a:cs typeface="Times New Roman"/>
              </a:rPr>
              <a:t>is</a:t>
            </a:r>
            <a:r>
              <a:rPr lang="en-US">
                <a:cs typeface="Times New Roman"/>
              </a:rPr>
              <a:t> a</a:t>
            </a:r>
            <a:r>
              <a:rPr lang="en-US" spc="7">
                <a:cs typeface="Times New Roman"/>
              </a:rPr>
              <a:t> </a:t>
            </a:r>
            <a:r>
              <a:rPr lang="en-US">
                <a:cs typeface="Times New Roman"/>
              </a:rPr>
              <a:t>field</a:t>
            </a:r>
            <a:r>
              <a:rPr lang="en-US" spc="7">
                <a:cs typeface="Times New Roman"/>
              </a:rPr>
              <a:t> </a:t>
            </a:r>
            <a:r>
              <a:rPr lang="en-US">
                <a:cs typeface="Times New Roman"/>
              </a:rPr>
              <a:t>of</a:t>
            </a:r>
            <a:r>
              <a:rPr lang="en-US" spc="7">
                <a:cs typeface="Times New Roman"/>
              </a:rPr>
              <a:t> </a:t>
            </a:r>
            <a:r>
              <a:rPr lang="en-US" spc="-7">
                <a:cs typeface="Times New Roman"/>
              </a:rPr>
              <a:t>artificial </a:t>
            </a:r>
            <a:r>
              <a:rPr lang="en-US">
                <a:cs typeface="Times New Roman"/>
              </a:rPr>
              <a:t> </a:t>
            </a:r>
            <a:r>
              <a:rPr lang="en-US" spc="-7">
                <a:cs typeface="Times New Roman"/>
              </a:rPr>
              <a:t>intelligence </a:t>
            </a:r>
            <a:r>
              <a:rPr lang="en-US">
                <a:cs typeface="Times New Roman"/>
              </a:rPr>
              <a:t>(AI) </a:t>
            </a:r>
            <a:r>
              <a:rPr lang="en-US" spc="-7">
                <a:cs typeface="Times New Roman"/>
              </a:rPr>
              <a:t>that enables computers to analyze and </a:t>
            </a:r>
            <a:r>
              <a:rPr lang="en-US">
                <a:cs typeface="Times New Roman"/>
              </a:rPr>
              <a:t>understand </a:t>
            </a:r>
            <a:r>
              <a:rPr lang="en-US" spc="7">
                <a:cs typeface="Times New Roman"/>
              </a:rPr>
              <a:t> </a:t>
            </a:r>
            <a:r>
              <a:rPr lang="en-US">
                <a:cs typeface="Times New Roman"/>
              </a:rPr>
              <a:t>human</a:t>
            </a:r>
            <a:r>
              <a:rPr lang="en-US" spc="-7">
                <a:cs typeface="Times New Roman"/>
              </a:rPr>
              <a:t> language, </a:t>
            </a:r>
            <a:r>
              <a:rPr lang="en-US">
                <a:cs typeface="Times New Roman"/>
              </a:rPr>
              <a:t>both</a:t>
            </a:r>
            <a:r>
              <a:rPr lang="en-US" spc="-7">
                <a:cs typeface="Times New Roman"/>
              </a:rPr>
              <a:t> written and spoken.</a:t>
            </a:r>
            <a:endParaRPr lang="en-US">
              <a:cs typeface="Times New Roman"/>
            </a:endParaRPr>
          </a:p>
          <a:p>
            <a:endParaRPr lang="en-US">
              <a:cs typeface="Times New Roman"/>
            </a:endParaRPr>
          </a:p>
          <a:p>
            <a:endParaRPr lang="en-US">
              <a:cs typeface="Times New Roman"/>
            </a:endParaRPr>
          </a:p>
          <a:p>
            <a:endParaRPr lang="en-IN">
              <a:cs typeface="Times New Roman"/>
            </a:endParaRPr>
          </a:p>
          <a:p>
            <a:pPr marL="0" indent="0">
              <a:buNone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953004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024F34-F395-CB29-5289-85490A55537F}"/>
              </a:ext>
            </a:extLst>
          </p:cNvPr>
          <p:cNvSpPr txBox="1"/>
          <p:nvPr/>
        </p:nvSpPr>
        <p:spPr>
          <a:xfrm>
            <a:off x="3167270" y="20514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C00000"/>
                </a:solidFill>
              </a:rPr>
              <a:t>Why study NLP?</a:t>
            </a:r>
            <a:endParaRPr lang="en-IN" sz="28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3DB89F4-87A8-CB19-6E61-F22D2D66B361}"/>
              </a:ext>
            </a:extLst>
          </p:cNvPr>
          <p:cNvSpPr txBox="1">
            <a:spLocks/>
          </p:cNvSpPr>
          <p:nvPr/>
        </p:nvSpPr>
        <p:spPr>
          <a:xfrm>
            <a:off x="318052" y="704094"/>
            <a:ext cx="11035748" cy="6153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/>
              <a:t>Text is the largest repository of human knowledge</a:t>
            </a:r>
          </a:p>
          <a:p>
            <a:pPr marL="0" indent="0">
              <a:buFont typeface="Arial" pitchFamily="34" charset="0"/>
              <a:buNone/>
            </a:pPr>
            <a:r>
              <a:rPr lang="en-US" sz="1800" b="1"/>
              <a:t> News article, web pages, scientific articles, patents, emails, government documents, Wikipedia articles, tweets, posts, comments.</a:t>
            </a:r>
          </a:p>
          <a:p>
            <a:r>
              <a:rPr lang="en-US" sz="1800" b="1"/>
              <a:t>Different types of languages</a:t>
            </a:r>
          </a:p>
          <a:p>
            <a:r>
              <a:rPr lang="en-IN" sz="1800" b="1"/>
              <a:t>Mostly data is in unstructured  form.</a:t>
            </a:r>
          </a:p>
          <a:p>
            <a:endParaRPr lang="en-IN" sz="1800" b="1"/>
          </a:p>
          <a:p>
            <a:endParaRPr lang="en-IN" sz="1800" b="1"/>
          </a:p>
          <a:p>
            <a:endParaRPr lang="en-IN" sz="1800" b="1"/>
          </a:p>
          <a:p>
            <a:endParaRPr lang="en-IN" sz="1800" b="1"/>
          </a:p>
          <a:p>
            <a:endParaRPr lang="en-IN" sz="1800" b="1"/>
          </a:p>
          <a:p>
            <a:endParaRPr lang="en-IN" sz="1800" b="1"/>
          </a:p>
          <a:p>
            <a:endParaRPr lang="en-IN" sz="1800" b="1"/>
          </a:p>
          <a:p>
            <a:endParaRPr lang="en-IN" sz="1800" b="1"/>
          </a:p>
          <a:p>
            <a:r>
              <a:rPr lang="en-IN" sz="1800" b="1"/>
              <a:t>Context of a word in any given language.</a:t>
            </a:r>
          </a:p>
          <a:p>
            <a:pPr marL="0" indent="0">
              <a:buNone/>
            </a:pPr>
            <a:endParaRPr lang="en-IN" sz="1800" b="1"/>
          </a:p>
          <a:p>
            <a:endParaRPr lang="en-US" sz="1800" b="1"/>
          </a:p>
          <a:p>
            <a:pPr marL="0" indent="0">
              <a:buFont typeface="Arial" pitchFamily="34" charset="0"/>
              <a:buNone/>
            </a:pPr>
            <a:endParaRPr lang="en-US" sz="1800" b="1"/>
          </a:p>
          <a:p>
            <a:pPr marL="0" indent="0">
              <a:buFont typeface="Arial" pitchFamily="34" charset="0"/>
              <a:buNone/>
            </a:pPr>
            <a:endParaRPr lang="en-US" sz="1800" b="1"/>
          </a:p>
          <a:p>
            <a:pPr marL="0" indent="0">
              <a:buFont typeface="Arial" pitchFamily="34" charset="0"/>
              <a:buNone/>
            </a:pPr>
            <a:endParaRPr lang="en-US" sz="1800" b="1"/>
          </a:p>
          <a:p>
            <a:pPr marL="0" indent="0">
              <a:buFont typeface="Arial" pitchFamily="34" charset="0"/>
              <a:buNone/>
            </a:pPr>
            <a:endParaRPr lang="en-US" sz="1800" b="1"/>
          </a:p>
          <a:p>
            <a:endParaRPr lang="en-IN" sz="18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E7B568-BE14-97CA-A803-6766BF25F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433" y="1754463"/>
            <a:ext cx="7094037" cy="44991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878B0F-9C3A-F143-4CFA-B460A97B78A1}"/>
              </a:ext>
            </a:extLst>
          </p:cNvPr>
          <p:cNvSpPr txBox="1"/>
          <p:nvPr/>
        </p:nvSpPr>
        <p:spPr>
          <a:xfrm>
            <a:off x="5257800" y="6371121"/>
            <a:ext cx="6457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itchFamily="34" charset="0"/>
              <a:buNone/>
            </a:pPr>
            <a:r>
              <a:rPr lang="en-US" sz="1800" b="1">
                <a:solidFill>
                  <a:srgbClr val="7030A0"/>
                </a:solidFill>
              </a:rPr>
              <a:t>Top 10 languages in the Internet in millions of users-June 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E38265-A8C0-CA1D-4C3E-44362858E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" y="2538153"/>
            <a:ext cx="4909741" cy="2366599"/>
          </a:xfrm>
          <a:prstGeom prst="rect">
            <a:avLst/>
          </a:prstGeom>
        </p:spPr>
      </p:pic>
      <p:sp>
        <p:nvSpPr>
          <p:cNvPr id="10" name="Text 20">
            <a:extLst>
              <a:ext uri="{FF2B5EF4-FFF2-40B4-BE49-F238E27FC236}">
                <a16:creationId xmlns:a16="http://schemas.microsoft.com/office/drawing/2014/main" id="{77E02DF2-2FF3-3F38-0235-050763892017}"/>
              </a:ext>
            </a:extLst>
          </p:cNvPr>
          <p:cNvSpPr/>
          <p:nvPr/>
        </p:nvSpPr>
        <p:spPr>
          <a:xfrm>
            <a:off x="165653" y="6440223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900"/>
              <a:t> </a:t>
            </a:r>
            <a:r>
              <a:rPr lang="en-IN" sz="900">
                <a:solidFill>
                  <a:srgbClr val="8A98A6"/>
                </a:solidFill>
                <a:latin typeface="Calibri" pitchFamily="34" charset="0"/>
                <a:cs typeface="Calibri" pitchFamily="34" charset="-120"/>
              </a:rPr>
              <a:t>CEPEC7032 </a:t>
            </a: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NLP  |  Module 1: Introduction to NLP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81306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7C1356-E38B-468C-8738-4A2E78BD53F8}"/>
              </a:ext>
            </a:extLst>
          </p:cNvPr>
          <p:cNvSpPr txBox="1"/>
          <p:nvPr/>
        </p:nvSpPr>
        <p:spPr>
          <a:xfrm>
            <a:off x="1318591" y="2111851"/>
            <a:ext cx="1003520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b="1">
                <a:solidFill>
                  <a:srgbClr val="002060"/>
                </a:solidFill>
              </a:rPr>
              <a:t>Fundamental and scientific goal</a:t>
            </a:r>
          </a:p>
          <a:p>
            <a:pPr lvl="1" eaLnBrk="1" hangingPunct="1"/>
            <a:r>
              <a:rPr lang="en-US" altLang="en-US" b="1"/>
              <a:t>Deep understanding of broad language and the way language operates.</a:t>
            </a:r>
          </a:p>
          <a:p>
            <a:pPr marL="457200" lvl="1" indent="0">
              <a:buNone/>
            </a:pPr>
            <a:endParaRPr lang="en-US" altLang="en-US" b="1"/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b="1">
                <a:solidFill>
                  <a:srgbClr val="002060"/>
                </a:solidFill>
              </a:rPr>
              <a:t>Engineering goal</a:t>
            </a:r>
          </a:p>
          <a:p>
            <a:pPr lvl="1"/>
            <a:r>
              <a:rPr lang="en-US" altLang="en-US" b="1"/>
              <a:t>Design, implement and test systems that process natural languages for practical implementations.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9973918-D810-115F-F5A5-E7C81182AA6E}"/>
              </a:ext>
            </a:extLst>
          </p:cNvPr>
          <p:cNvSpPr txBox="1">
            <a:spLocks/>
          </p:cNvSpPr>
          <p:nvPr/>
        </p:nvSpPr>
        <p:spPr>
          <a:xfrm>
            <a:off x="838200" y="577159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C00000"/>
                </a:solidFill>
              </a:rPr>
              <a:t>What is  NLP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5" name="Text 20">
            <a:extLst>
              <a:ext uri="{FF2B5EF4-FFF2-40B4-BE49-F238E27FC236}">
                <a16:creationId xmlns:a16="http://schemas.microsoft.com/office/drawing/2014/main" id="{64B3FFA9-FAB9-0B54-B5FA-D5B647866421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900"/>
              <a:t> </a:t>
            </a:r>
            <a:r>
              <a:rPr lang="en-IN" sz="900">
                <a:solidFill>
                  <a:srgbClr val="8A98A6"/>
                </a:solidFill>
                <a:latin typeface="Calibri" pitchFamily="34" charset="0"/>
                <a:cs typeface="Calibri" pitchFamily="34" charset="-120"/>
              </a:rPr>
              <a:t>CEPEC7032 </a:t>
            </a: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NLP  |  Module 1: Introduction to NLP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949556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NLP PIPELINE &amp; LEVELS OF ANALYSIS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Components of NLP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10268712" y="41148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10268712" y="411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F4F7F8"/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2880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288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2194560" y="1828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Understanding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concepts &amp; entities</a:t>
            </a:r>
            <a:endParaRPr lang="en-US" sz="1350"/>
          </a:p>
        </p:txBody>
      </p:sp>
      <p:sp>
        <p:nvSpPr>
          <p:cNvPr id="12" name="Text 10"/>
          <p:cNvSpPr/>
          <p:nvPr/>
        </p:nvSpPr>
        <p:spPr>
          <a:xfrm>
            <a:off x="868680" y="3108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emotions &amp; relations</a:t>
            </a:r>
            <a:endParaRPr lang="en-US" sz="1350"/>
          </a:p>
        </p:txBody>
      </p:sp>
      <p:sp>
        <p:nvSpPr>
          <p:cNvPr id="13" name="Text 11"/>
          <p:cNvSpPr/>
          <p:nvPr/>
        </p:nvSpPr>
        <p:spPr>
          <a:xfrm>
            <a:off x="868680" y="3611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input → meaning representation</a:t>
            </a:r>
            <a:endParaRPr lang="en-US" sz="1350"/>
          </a:p>
        </p:txBody>
      </p:sp>
      <p:sp>
        <p:nvSpPr>
          <p:cNvPr id="14" name="Text 12"/>
          <p:cNvSpPr/>
          <p:nvPr/>
        </p:nvSpPr>
        <p:spPr>
          <a:xfrm>
            <a:off x="868680" y="4114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Disambiguate words in context</a:t>
            </a:r>
            <a:endParaRPr lang="en-US" sz="1350"/>
          </a:p>
        </p:txBody>
      </p:sp>
      <p:sp>
        <p:nvSpPr>
          <p:cNvPr id="15" name="Text 13"/>
          <p:cNvSpPr/>
          <p:nvPr/>
        </p:nvSpPr>
        <p:spPr>
          <a:xfrm>
            <a:off x="868680" y="50749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reading a patient record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F4F7F8"/>
          </a:solidFill>
          <a:ln w="19050">
            <a:solidFill>
              <a:srgbClr val="E85D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182880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85D4E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8288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NLG</a:t>
            </a:r>
            <a:endParaRPr lang="en-US" sz="1800"/>
          </a:p>
        </p:txBody>
      </p:sp>
      <p:sp>
        <p:nvSpPr>
          <p:cNvPr id="19" name="Text 17"/>
          <p:cNvSpPr/>
          <p:nvPr/>
        </p:nvSpPr>
        <p:spPr>
          <a:xfrm>
            <a:off x="7863840" y="1828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Generation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6537960" y="2606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planning from a knowledge base</a:t>
            </a:r>
            <a:endParaRPr lang="en-US" sz="1350"/>
          </a:p>
        </p:txBody>
      </p:sp>
      <p:sp>
        <p:nvSpPr>
          <p:cNvPr id="21" name="Text 19"/>
          <p:cNvSpPr/>
          <p:nvPr/>
        </p:nvSpPr>
        <p:spPr>
          <a:xfrm>
            <a:off x="6537960" y="3108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planning &amp; word choice</a:t>
            </a:r>
            <a:endParaRPr lang="en-US" sz="1350"/>
          </a:p>
        </p:txBody>
      </p:sp>
      <p:sp>
        <p:nvSpPr>
          <p:cNvPr id="22" name="Text 20"/>
          <p:cNvSpPr/>
          <p:nvPr/>
        </p:nvSpPr>
        <p:spPr>
          <a:xfrm>
            <a:off x="6537960" y="3611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tone and structure</a:t>
            </a:r>
            <a:endParaRPr lang="en-US" sz="1350"/>
          </a:p>
        </p:txBody>
      </p:sp>
      <p:sp>
        <p:nvSpPr>
          <p:cNvPr id="23" name="Text 21"/>
          <p:cNvSpPr/>
          <p:nvPr/>
        </p:nvSpPr>
        <p:spPr>
          <a:xfrm>
            <a:off x="6537960" y="4114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realization → fluent text</a:t>
            </a:r>
            <a:endParaRPr lang="en-US" sz="1350"/>
          </a:p>
        </p:txBody>
      </p:sp>
      <p:sp>
        <p:nvSpPr>
          <p:cNvPr id="24" name="Text 22"/>
          <p:cNvSpPr/>
          <p:nvPr/>
        </p:nvSpPr>
        <p:spPr>
          <a:xfrm>
            <a:off x="6537960" y="50749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writing a discharge summary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NLP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3F2A28-90D5-3BEE-53D8-4062BAD1F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39" y="0"/>
            <a:ext cx="10676521" cy="6858000"/>
          </a:xfrm>
          <a:prstGeom prst="rect">
            <a:avLst/>
          </a:prstGeom>
        </p:spPr>
      </p:pic>
      <p:sp>
        <p:nvSpPr>
          <p:cNvPr id="4" name="Text 23">
            <a:extLst>
              <a:ext uri="{FF2B5EF4-FFF2-40B4-BE49-F238E27FC236}">
                <a16:creationId xmlns:a16="http://schemas.microsoft.com/office/drawing/2014/main" id="{EAF9FF3F-83C2-9989-2831-664DD0AF2FED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NLP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765698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NLP PIPELINE &amp; LEVELS OF ANALYSIS</a:t>
            </a:r>
            <a:endParaRPr lang="en-US" sz="1400"/>
          </a:p>
        </p:txBody>
      </p:sp>
      <p:sp>
        <p:nvSpPr>
          <p:cNvPr id="4" name="Shape 2"/>
          <p:cNvSpPr/>
          <p:nvPr/>
        </p:nvSpPr>
        <p:spPr>
          <a:xfrm>
            <a:off x="10268712" y="41148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10268712" y="411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48840"/>
            <a:ext cx="173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1551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658368" y="3337560"/>
            <a:ext cx="1514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basic units?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2282952" y="27432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2420112" y="2148840"/>
            <a:ext cx="173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2511552" y="2651760"/>
            <a:ext cx="1551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2529840" y="3337560"/>
            <a:ext cx="1514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base form?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4291584" y="2148840"/>
            <a:ext cx="173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4383024" y="2651760"/>
            <a:ext cx="1551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4401312" y="3337560"/>
            <a:ext cx="1514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words relate?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6025896" y="27432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6163056" y="2148840"/>
            <a:ext cx="173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/>
          </a:p>
        </p:txBody>
      </p:sp>
      <p:sp>
        <p:nvSpPr>
          <p:cNvPr id="25" name="Text 23"/>
          <p:cNvSpPr/>
          <p:nvPr/>
        </p:nvSpPr>
        <p:spPr>
          <a:xfrm>
            <a:off x="6254496" y="2651760"/>
            <a:ext cx="1551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6291072" y="3425687"/>
            <a:ext cx="1514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mean?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8034528" y="2148840"/>
            <a:ext cx="173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/>
          </a:p>
        </p:txBody>
      </p:sp>
      <p:sp>
        <p:nvSpPr>
          <p:cNvPr id="30" name="Text 28"/>
          <p:cNvSpPr/>
          <p:nvPr/>
        </p:nvSpPr>
        <p:spPr>
          <a:xfrm>
            <a:off x="8125968" y="2651760"/>
            <a:ext cx="1551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Pragmatic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8144256" y="3337560"/>
            <a:ext cx="1514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intended?</a:t>
            </a:r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9768840" y="27432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/>
          </a:p>
        </p:txBody>
      </p:sp>
      <p:sp>
        <p:nvSpPr>
          <p:cNvPr id="34" name="Text 32"/>
          <p:cNvSpPr/>
          <p:nvPr/>
        </p:nvSpPr>
        <p:spPr>
          <a:xfrm>
            <a:off x="9906000" y="2148840"/>
            <a:ext cx="173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/>
          </a:p>
        </p:txBody>
      </p:sp>
      <p:sp>
        <p:nvSpPr>
          <p:cNvPr id="35" name="Text 33"/>
          <p:cNvSpPr/>
          <p:nvPr/>
        </p:nvSpPr>
        <p:spPr>
          <a:xfrm>
            <a:off x="9997440" y="2651760"/>
            <a:ext cx="1551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/>
          </a:p>
        </p:txBody>
      </p:sp>
      <p:sp>
        <p:nvSpPr>
          <p:cNvPr id="36" name="Text 34"/>
          <p:cNvSpPr/>
          <p:nvPr/>
        </p:nvSpPr>
        <p:spPr>
          <a:xfrm>
            <a:off x="10015728" y="3337560"/>
            <a:ext cx="1514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do with it?</a:t>
            </a:r>
            <a:endParaRPr lang="en-US" sz="1050"/>
          </a:p>
        </p:txBody>
      </p:sp>
      <p:sp>
        <p:nvSpPr>
          <p:cNvPr id="37" name="Shape 35"/>
          <p:cNvSpPr/>
          <p:nvPr/>
        </p:nvSpPr>
        <p:spPr>
          <a:xfrm>
            <a:off x="548640" y="457200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F0F5F5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4572000"/>
            <a:ext cx="106344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Pipeline errors cascade: </a:t>
            </a:r>
            <a:r>
              <a:rPr lang="en-US" sz="13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tokenization fails, everything downstream fails.
Modern transformers (BERT, GPT) learn all stages together — but they are black boxes, harder to debug.</a:t>
            </a:r>
            <a:endParaRPr lang="en-US" sz="1300"/>
          </a:p>
        </p:txBody>
      </p:sp>
      <p:sp>
        <p:nvSpPr>
          <p:cNvPr id="40" name="Text 3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14F57A4-9CEE-BBE0-0AF8-5124C1ED8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34917"/>
            <a:ext cx="12192000" cy="4428246"/>
          </a:xfrm>
          <a:prstGeom prst="rect">
            <a:avLst/>
          </a:prstGeom>
        </p:spPr>
      </p:pic>
      <p:sp>
        <p:nvSpPr>
          <p:cNvPr id="45" name="Text 5"/>
          <p:cNvSpPr/>
          <p:nvPr/>
        </p:nvSpPr>
        <p:spPr>
          <a:xfrm>
            <a:off x="61722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exists because the previous stage's output is insufficient alone.</a:t>
            </a:r>
            <a:endParaRPr lang="en-US" sz="1400"/>
          </a:p>
        </p:txBody>
      </p:sp>
      <p:sp>
        <p:nvSpPr>
          <p:cNvPr id="46" name="Text 3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NLP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NLP PIPELINE &amp; LEVELS OF ANALYSIS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vs. Stages — Two Different Things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10268712" y="41148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10268712" y="411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seven categories underneath — but they answer different questions. </a:t>
            </a:r>
            <a:r>
              <a:rPr lang="en-US" sz="140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</a:t>
            </a:r>
            <a:r>
              <a:rPr lang="en-US" sz="14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describe language itself. </a:t>
            </a:r>
            <a:r>
              <a:rPr lang="en-US" sz="1400" b="1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r>
              <a:rPr lang="en-US" sz="14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describe what a system executes.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5394960" cy="3794760"/>
          </a:xfrm>
          <a:prstGeom prst="roundRect">
            <a:avLst>
              <a:gd name="adj" fmla="val 2410"/>
            </a:avLst>
          </a:prstGeom>
          <a:solidFill>
            <a:srgbClr val="F4F7F8"/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3957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957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2514600" y="23957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Theory</a:t>
            </a:r>
            <a:endParaRPr lang="en-US" sz="1350"/>
          </a:p>
        </p:txBody>
      </p:sp>
      <p:sp>
        <p:nvSpPr>
          <p:cNvPr id="12" name="Shape 10"/>
          <p:cNvSpPr/>
          <p:nvPr/>
        </p:nvSpPr>
        <p:spPr>
          <a:xfrm>
            <a:off x="822960" y="297180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0D7377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71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i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knowledge is this?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82296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a linguist would describe — no computer required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822960" y="40965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description of language structure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822960" y="45811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independent of any tool or algorithm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822960" y="506577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"grammar of grammar"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6217920" y="2148840"/>
            <a:ext cx="5394960" cy="3794760"/>
          </a:xfrm>
          <a:prstGeom prst="roundRect">
            <a:avLst>
              <a:gd name="adj" fmla="val 2410"/>
            </a:avLst>
          </a:prstGeom>
          <a:solidFill>
            <a:srgbClr val="F4F7F8"/>
          </a:solidFill>
          <a:ln w="19050">
            <a:solidFill>
              <a:srgbClr val="E85D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23957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85D4E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23957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8183880" y="23957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Pipeline</a:t>
            </a:r>
            <a:endParaRPr lang="en-US" sz="1350"/>
          </a:p>
        </p:txBody>
      </p:sp>
      <p:sp>
        <p:nvSpPr>
          <p:cNvPr id="22" name="Shape 20"/>
          <p:cNvSpPr/>
          <p:nvPr/>
        </p:nvSpPr>
        <p:spPr>
          <a:xfrm>
            <a:off x="6492240" y="297180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E85D4E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2971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i="1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run, in what order?</a:t>
            </a:r>
            <a:endParaRPr lang="en-US" sz="1250"/>
          </a:p>
        </p:txBody>
      </p:sp>
      <p:sp>
        <p:nvSpPr>
          <p:cNvPr id="24" name="Text 22"/>
          <p:cNvSpPr/>
          <p:nvPr/>
        </p:nvSpPr>
        <p:spPr>
          <a:xfrm>
            <a:off x="649224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 program actually executes, in sequence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6492240" y="40965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names a real technique / algorithm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6492240" y="45811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one stage feeds the next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6492240" y="506577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"assembly line" that builds an NLP system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  <p:sp>
        <p:nvSpPr>
          <p:cNvPr id="30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NLP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NLP PIPELINE &amp; LEVELS OF ANALYSIS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vs. Stages — Mapped Side by Side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10268712" y="41148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10268712" y="411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11091672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(theory)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3383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(pipeline)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6766560" y="15544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/ Tools Used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11091672" cy="512064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Phonological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Preprocessing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6766560" y="2011680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>
                <a:solidFill>
                  <a:srgbClr val="3A45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Regex, tokenizers, sentence breaking</a:t>
            </a:r>
            <a:endParaRPr lang="en-US" sz="1080"/>
          </a:p>
        </p:txBody>
      </p:sp>
      <p:sp>
        <p:nvSpPr>
          <p:cNvPr id="15" name="Shape 13"/>
          <p:cNvSpPr/>
          <p:nvPr/>
        </p:nvSpPr>
        <p:spPr>
          <a:xfrm>
            <a:off x="548640" y="2523744"/>
            <a:ext cx="11091672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52374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3383280" y="25237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Morphological processing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6766560" y="2523744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>
                <a:solidFill>
                  <a:srgbClr val="3A45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Porter Stemmer, Lemmatization, FST parsing</a:t>
            </a:r>
            <a:endParaRPr lang="en-US" sz="1080"/>
          </a:p>
        </p:txBody>
      </p:sp>
      <p:sp>
        <p:nvSpPr>
          <p:cNvPr id="19" name="Shape 17"/>
          <p:cNvSpPr/>
          <p:nvPr/>
        </p:nvSpPr>
        <p:spPr>
          <a:xfrm>
            <a:off x="548640" y="3035808"/>
            <a:ext cx="11091672" cy="512064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03580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3383280" y="303580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Lexical / statistical modeling</a:t>
            </a:r>
            <a:endParaRPr lang="en-US" sz="1150"/>
          </a:p>
        </p:txBody>
      </p:sp>
      <p:sp>
        <p:nvSpPr>
          <p:cNvPr id="22" name="Text 20"/>
          <p:cNvSpPr/>
          <p:nvPr/>
        </p:nvSpPr>
        <p:spPr>
          <a:xfrm>
            <a:off x="6766560" y="3035808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>
                <a:solidFill>
                  <a:srgbClr val="3A45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N-grams, Laplace smoothing, Good-Turing, Perplexity</a:t>
            </a:r>
            <a:endParaRPr lang="en-US" sz="1080"/>
          </a:p>
        </p:txBody>
      </p:sp>
      <p:sp>
        <p:nvSpPr>
          <p:cNvPr id="23" name="Shape 21"/>
          <p:cNvSpPr/>
          <p:nvPr/>
        </p:nvSpPr>
        <p:spPr>
          <a:xfrm>
            <a:off x="548640" y="3547872"/>
            <a:ext cx="11091672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547872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</a:t>
            </a:r>
            <a:endParaRPr lang="en-US" sz="1150"/>
          </a:p>
        </p:txBody>
      </p:sp>
      <p:sp>
        <p:nvSpPr>
          <p:cNvPr id="25" name="Text 23"/>
          <p:cNvSpPr/>
          <p:nvPr/>
        </p:nvSpPr>
        <p:spPr>
          <a:xfrm>
            <a:off x="3383280" y="354787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Syntactic processing</a:t>
            </a:r>
            <a:endParaRPr lang="en-US" sz="1150"/>
          </a:p>
        </p:txBody>
      </p:sp>
      <p:sp>
        <p:nvSpPr>
          <p:cNvPr id="26" name="Text 24"/>
          <p:cNvSpPr/>
          <p:nvPr/>
        </p:nvSpPr>
        <p:spPr>
          <a:xfrm>
            <a:off x="6766560" y="3547872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>
                <a:solidFill>
                  <a:srgbClr val="3A45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HMM Viterbi, MaxEnt, CRF, CYK, PCFG, Earley Parser</a:t>
            </a:r>
            <a:endParaRPr lang="en-US" sz="1080"/>
          </a:p>
        </p:txBody>
      </p:sp>
      <p:sp>
        <p:nvSpPr>
          <p:cNvPr id="27" name="Shape 25"/>
          <p:cNvSpPr/>
          <p:nvPr/>
        </p:nvSpPr>
        <p:spPr>
          <a:xfrm>
            <a:off x="548640" y="4059936"/>
            <a:ext cx="11091672" cy="512064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059936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150"/>
          </a:p>
        </p:txBody>
      </p:sp>
      <p:sp>
        <p:nvSpPr>
          <p:cNvPr id="29" name="Text 27"/>
          <p:cNvSpPr/>
          <p:nvPr/>
        </p:nvSpPr>
        <p:spPr>
          <a:xfrm>
            <a:off x="3383280" y="4059936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Semantic processing</a:t>
            </a:r>
            <a:endParaRPr lang="en-US" sz="1150"/>
          </a:p>
        </p:txBody>
      </p:sp>
      <p:sp>
        <p:nvSpPr>
          <p:cNvPr id="30" name="Text 28"/>
          <p:cNvSpPr/>
          <p:nvPr/>
        </p:nvSpPr>
        <p:spPr>
          <a:xfrm>
            <a:off x="6766560" y="4059936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>
                <a:solidFill>
                  <a:srgbClr val="3A45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Lesk's algorithm, Naïve Bayes WSD, Yarowsky, WordNet</a:t>
            </a:r>
            <a:endParaRPr lang="en-US" sz="1080"/>
          </a:p>
        </p:txBody>
      </p:sp>
      <p:sp>
        <p:nvSpPr>
          <p:cNvPr id="31" name="Shape 29"/>
          <p:cNvSpPr/>
          <p:nvPr/>
        </p:nvSpPr>
        <p:spPr>
          <a:xfrm>
            <a:off x="548640" y="4572000"/>
            <a:ext cx="11091672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572000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Discourse + Pragmatic</a:t>
            </a:r>
            <a:endParaRPr lang="en-US" sz="1150"/>
          </a:p>
        </p:txBody>
      </p:sp>
      <p:sp>
        <p:nvSpPr>
          <p:cNvPr id="33" name="Text 31"/>
          <p:cNvSpPr/>
          <p:nvPr/>
        </p:nvSpPr>
        <p:spPr>
          <a:xfrm>
            <a:off x="3383280" y="4572000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Discourse &amp; pragmatic processing</a:t>
            </a:r>
            <a:endParaRPr lang="en-US" sz="1150"/>
          </a:p>
        </p:txBody>
      </p:sp>
      <p:sp>
        <p:nvSpPr>
          <p:cNvPr id="34" name="Text 32"/>
          <p:cNvSpPr/>
          <p:nvPr/>
        </p:nvSpPr>
        <p:spPr>
          <a:xfrm>
            <a:off x="6766560" y="4572000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>
                <a:solidFill>
                  <a:srgbClr val="3A45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Hobbs algorithm, Centering algorithm (anaphora)</a:t>
            </a:r>
            <a:endParaRPr lang="en-US" sz="1080"/>
          </a:p>
        </p:txBody>
      </p:sp>
      <p:sp>
        <p:nvSpPr>
          <p:cNvPr id="35" name="Shape 33"/>
          <p:cNvSpPr/>
          <p:nvPr/>
        </p:nvSpPr>
        <p:spPr>
          <a:xfrm>
            <a:off x="548640" y="5084064"/>
            <a:ext cx="11091672" cy="512064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508406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(application)</a:t>
            </a:r>
            <a:endParaRPr lang="en-US" sz="1150"/>
          </a:p>
        </p:txBody>
      </p:sp>
      <p:sp>
        <p:nvSpPr>
          <p:cNvPr id="37" name="Text 35"/>
          <p:cNvSpPr/>
          <p:nvPr/>
        </p:nvSpPr>
        <p:spPr>
          <a:xfrm>
            <a:off x="3383280" y="508406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Application</a:t>
            </a:r>
            <a:endParaRPr lang="en-US" sz="1150"/>
          </a:p>
        </p:txBody>
      </p:sp>
      <p:sp>
        <p:nvSpPr>
          <p:cNvPr id="38" name="Text 36"/>
          <p:cNvSpPr/>
          <p:nvPr/>
        </p:nvSpPr>
        <p:spPr>
          <a:xfrm>
            <a:off x="6766560" y="5084064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>
                <a:solidFill>
                  <a:srgbClr val="3A45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 analysis, MT, QA, chatbots</a:t>
            </a:r>
            <a:endParaRPr lang="en-US" sz="1080"/>
          </a:p>
        </p:txBody>
      </p:sp>
      <p:sp>
        <p:nvSpPr>
          <p:cNvPr id="39" name="Shape 37"/>
          <p:cNvSpPr/>
          <p:nvPr/>
        </p:nvSpPr>
        <p:spPr>
          <a:xfrm>
            <a:off x="548640" y="5733288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1B2A4A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5733288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distinction: </a:t>
            </a:r>
            <a:r>
              <a:rPr lang="en-US" sz="125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answer "what kind of knowledge is this?" — Stages answer "what do I run, and in what order?"</a:t>
            </a:r>
            <a:endParaRPr lang="en-US" sz="1250"/>
          </a:p>
        </p:txBody>
      </p:sp>
      <p:sp>
        <p:nvSpPr>
          <p:cNvPr id="42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  <p:sp>
        <p:nvSpPr>
          <p:cNvPr id="43" name="Text 3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NLP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E060E-74F7-78A5-816F-DFBE728AA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spc="-265">
                <a:solidFill>
                  <a:srgbClr val="C00000"/>
                </a:solidFill>
              </a:rPr>
              <a:t>Stage</a:t>
            </a:r>
            <a:r>
              <a:rPr lang="en-IN" sz="4000" b="1" spc="-215">
                <a:solidFill>
                  <a:srgbClr val="C00000"/>
                </a:solidFill>
              </a:rPr>
              <a:t>s</a:t>
            </a:r>
            <a:r>
              <a:rPr lang="en-IN" sz="4000" b="1" spc="-105">
                <a:solidFill>
                  <a:srgbClr val="C00000"/>
                </a:solidFill>
              </a:rPr>
              <a:t> </a:t>
            </a:r>
            <a:r>
              <a:rPr lang="en-IN" sz="4000" b="1" spc="-280">
                <a:solidFill>
                  <a:srgbClr val="C00000"/>
                </a:solidFill>
              </a:rPr>
              <a:t>o</a:t>
            </a:r>
            <a:r>
              <a:rPr lang="en-IN" sz="4000" b="1" spc="-185">
                <a:solidFill>
                  <a:srgbClr val="C00000"/>
                </a:solidFill>
              </a:rPr>
              <a:t>f</a:t>
            </a:r>
            <a:r>
              <a:rPr lang="en-IN" sz="4000" b="1" spc="-114">
                <a:solidFill>
                  <a:srgbClr val="C00000"/>
                </a:solidFill>
              </a:rPr>
              <a:t> </a:t>
            </a:r>
            <a:r>
              <a:rPr lang="en-IN" sz="4000" b="1" spc="105">
                <a:solidFill>
                  <a:srgbClr val="C00000"/>
                </a:solidFill>
              </a:rPr>
              <a:t>NLP</a:t>
            </a:r>
            <a:endParaRPr lang="en-I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B0196-CE54-28CC-EC5A-96FE5F1C6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400" b="1"/>
              <a:t>Phonetics and phonology</a:t>
            </a:r>
          </a:p>
          <a:p>
            <a:pPr eaLnBrk="1" hangingPunct="1"/>
            <a:r>
              <a:rPr lang="en-US" altLang="en-US" sz="2400" b="1"/>
              <a:t>Morphology/ Word level analysis</a:t>
            </a:r>
          </a:p>
          <a:p>
            <a:pPr eaLnBrk="1" hangingPunct="1"/>
            <a:r>
              <a:rPr lang="en-US" altLang="en-US" sz="2400" b="1"/>
              <a:t>Lexical Analysis</a:t>
            </a:r>
          </a:p>
          <a:p>
            <a:pPr eaLnBrk="1" hangingPunct="1"/>
            <a:r>
              <a:rPr lang="en-US" altLang="en-US" sz="2400" b="1"/>
              <a:t>Syntactic Analysis</a:t>
            </a:r>
          </a:p>
          <a:p>
            <a:pPr eaLnBrk="1" hangingPunct="1"/>
            <a:r>
              <a:rPr lang="en-US" altLang="en-US" sz="2400" b="1"/>
              <a:t>Semantic Analysis</a:t>
            </a:r>
          </a:p>
          <a:p>
            <a:pPr eaLnBrk="1" hangingPunct="1"/>
            <a:r>
              <a:rPr lang="en-US" altLang="en-US" sz="2400" b="1"/>
              <a:t>Pragmatics</a:t>
            </a:r>
          </a:p>
          <a:p>
            <a:pPr eaLnBrk="1" hangingPunct="1"/>
            <a:r>
              <a:rPr lang="en-US" altLang="en-US" sz="2400" b="1"/>
              <a:t>Discourse</a:t>
            </a:r>
          </a:p>
          <a:p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3206961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8A895-BBB8-AF3F-9CE5-A54141B1C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913"/>
            <a:ext cx="10515600" cy="748058"/>
          </a:xfrm>
        </p:spPr>
        <p:txBody>
          <a:bodyPr/>
          <a:lstStyle/>
          <a:p>
            <a:pPr algn="ctr"/>
            <a:r>
              <a:rPr lang="en-US" altLang="en-US" b="1">
                <a:solidFill>
                  <a:srgbClr val="C00000"/>
                </a:solidFill>
              </a:rPr>
              <a:t>Phonetics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82764-7F05-A1B5-E8CF-577FD72EE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583" y="834888"/>
            <a:ext cx="11304104" cy="57912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400" b="1"/>
              <a:t>Processing of speech</a:t>
            </a:r>
          </a:p>
          <a:p>
            <a:pPr eaLnBrk="1" hangingPunct="1"/>
            <a:r>
              <a:rPr lang="en-US" altLang="en-US" sz="2400" b="1"/>
              <a:t>Challenges</a:t>
            </a:r>
          </a:p>
          <a:p>
            <a:pPr lvl="1" eaLnBrk="1" hangingPunct="1"/>
            <a:r>
              <a:rPr lang="en-US" altLang="en-US" b="1"/>
              <a:t>Homophones: </a:t>
            </a:r>
            <a:r>
              <a:rPr lang="en-US" altLang="en-US" b="1" i="1"/>
              <a:t>bank (finance) </a:t>
            </a:r>
            <a:r>
              <a:rPr lang="en-US" altLang="en-US" b="1"/>
              <a:t>vs. </a:t>
            </a:r>
            <a:r>
              <a:rPr lang="en-US" altLang="en-US" b="1" i="1"/>
              <a:t>bank (river bank)</a:t>
            </a:r>
            <a:r>
              <a:rPr lang="en-US" altLang="en-US" b="1"/>
              <a:t> 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en-US" b="1"/>
              <a:t>Near Homophones: </a:t>
            </a:r>
            <a:r>
              <a:rPr lang="en-US" altLang="en-US" b="1" i="1" err="1"/>
              <a:t>maatraa</a:t>
            </a:r>
            <a:r>
              <a:rPr lang="en-US" altLang="en-US" b="1" i="1"/>
              <a:t> </a:t>
            </a:r>
            <a:r>
              <a:rPr lang="en-US" altLang="en-US" b="1"/>
              <a:t>vs. </a:t>
            </a:r>
            <a:r>
              <a:rPr lang="en-US" altLang="en-US" b="1" i="1" err="1"/>
              <a:t>maatra</a:t>
            </a:r>
            <a:r>
              <a:rPr lang="en-US" altLang="en-US" b="1" i="1"/>
              <a:t> (</a:t>
            </a:r>
            <a:r>
              <a:rPr lang="en-US" altLang="en-US" b="1" i="1" err="1"/>
              <a:t>hin</a:t>
            </a:r>
            <a:r>
              <a:rPr lang="en-US" altLang="en-US" b="1" i="1"/>
              <a:t>)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en-US" b="1"/>
              <a:t>Word Boundary</a:t>
            </a:r>
          </a:p>
          <a:p>
            <a:pPr lvl="2" eaLnBrk="1" hangingPunct="1">
              <a:buClr>
                <a:schemeClr val="tx1"/>
              </a:buClr>
            </a:pPr>
            <a:r>
              <a:rPr lang="en-US" altLang="en-US" sz="2400" b="1" i="1" err="1"/>
              <a:t>aajaayenge</a:t>
            </a:r>
            <a:r>
              <a:rPr lang="en-US" altLang="en-US" sz="2400" b="1" i="1"/>
              <a:t> (aa </a:t>
            </a:r>
            <a:r>
              <a:rPr lang="en-US" altLang="en-US" sz="2400" b="1" i="1" err="1"/>
              <a:t>jaayenge</a:t>
            </a:r>
            <a:r>
              <a:rPr lang="en-US" altLang="en-US" sz="2400" b="1" i="1"/>
              <a:t> (will come)  </a:t>
            </a:r>
            <a:r>
              <a:rPr lang="en-US" altLang="en-US" sz="2400" b="1"/>
              <a:t>or </a:t>
            </a:r>
            <a:r>
              <a:rPr lang="en-US" altLang="en-US" sz="2400" b="1" i="1" err="1"/>
              <a:t>aaj</a:t>
            </a:r>
            <a:r>
              <a:rPr lang="en-US" altLang="en-US" sz="2400" b="1" i="1"/>
              <a:t> </a:t>
            </a:r>
            <a:r>
              <a:rPr lang="en-US" altLang="en-US" sz="2400" b="1" i="1" err="1"/>
              <a:t>aayenge</a:t>
            </a:r>
            <a:r>
              <a:rPr lang="en-US" altLang="en-US" sz="2400" b="1" i="1"/>
              <a:t> (will come today)</a:t>
            </a:r>
          </a:p>
          <a:p>
            <a:pPr lvl="2" eaLnBrk="1" hangingPunct="1">
              <a:buClr>
                <a:schemeClr val="tx1"/>
              </a:buClr>
            </a:pPr>
            <a:r>
              <a:rPr lang="en-US" altLang="en-US" sz="2400" b="1" i="1"/>
              <a:t>I got [</a:t>
            </a:r>
            <a:r>
              <a:rPr lang="en-US" altLang="en-US" sz="2400" b="1" i="1" err="1"/>
              <a:t>ua</a:t>
            </a:r>
            <a:r>
              <a:rPr lang="en-US" altLang="en-US" sz="2400" b="1" i="1"/>
              <a:t>]plate 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en-US" b="1"/>
              <a:t>Phrase boundary</a:t>
            </a:r>
          </a:p>
          <a:p>
            <a:pPr lvl="2" eaLnBrk="1" hangingPunct="1"/>
            <a:r>
              <a:rPr lang="en-US" altLang="en-US" sz="2400" b="1" i="1"/>
              <a:t>mtech1 students are especially exhorted to attend as such seminars are integral to one's post-graduate education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en-US" b="1"/>
              <a:t>Disfluency: </a:t>
            </a:r>
            <a:r>
              <a:rPr lang="en-US" altLang="en-US" b="1" i="1"/>
              <a:t>ah, um, ahem etc.</a:t>
            </a:r>
          </a:p>
          <a:p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350989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85521" y="4778067"/>
            <a:ext cx="288290" cy="167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rgbClr val="59595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8585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 MT"/>
                <a:ea typeface="+mn-ea"/>
              </a:rPr>
              <a:pPr marL="10858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 MT"/>
              <a:ea typeface="+mn-e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23244" y="276177"/>
            <a:ext cx="6650567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3200" b="1" spc="-7">
                <a:solidFill>
                  <a:srgbClr val="C00000"/>
                </a:solidFill>
              </a:rPr>
              <a:t>Lexica</a:t>
            </a:r>
            <a:r>
              <a:rPr sz="3200" b="1">
                <a:solidFill>
                  <a:srgbClr val="C00000"/>
                </a:solidFill>
              </a:rPr>
              <a:t>l</a:t>
            </a:r>
            <a:r>
              <a:rPr sz="3200" b="1" spc="-187">
                <a:solidFill>
                  <a:srgbClr val="C00000"/>
                </a:solidFill>
              </a:rPr>
              <a:t> </a:t>
            </a:r>
            <a:r>
              <a:rPr sz="3200" b="1" spc="-7">
                <a:solidFill>
                  <a:srgbClr val="C00000"/>
                </a:solidFill>
              </a:rPr>
              <a:t>Analysi</a:t>
            </a:r>
            <a:r>
              <a:rPr sz="3200" b="1">
                <a:solidFill>
                  <a:srgbClr val="C00000"/>
                </a:solidFill>
              </a:rPr>
              <a:t>s</a:t>
            </a:r>
            <a:r>
              <a:rPr sz="3200" b="1" spc="-7">
                <a:solidFill>
                  <a:srgbClr val="C00000"/>
                </a:solidFill>
              </a:rPr>
              <a:t> </a:t>
            </a:r>
            <a:r>
              <a:rPr sz="3200" b="1">
                <a:solidFill>
                  <a:srgbClr val="C00000"/>
                </a:solidFill>
              </a:rPr>
              <a:t>and </a:t>
            </a:r>
            <a:r>
              <a:rPr sz="3200" b="1" spc="-7">
                <a:solidFill>
                  <a:srgbClr val="C00000"/>
                </a:solidFill>
              </a:rPr>
              <a:t>Morphological</a:t>
            </a:r>
            <a:endParaRPr sz="3200" b="1">
              <a:solidFill>
                <a:srgbClr val="C0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2795" y="1691772"/>
            <a:ext cx="11069320" cy="3474455"/>
          </a:xfrm>
          <a:prstGeom prst="rect">
            <a:avLst/>
          </a:prstGeom>
        </p:spPr>
        <p:txBody>
          <a:bodyPr vert="horz" wrap="square" lIns="0" tIns="240453" rIns="0" bIns="0" rtlCol="0">
            <a:spAutoFit/>
          </a:bodyPr>
          <a:lstStyle/>
          <a:p>
            <a:pPr marL="546086" marR="0" lvl="0" indent="-530000" algn="l" defTabSz="914400" rtl="0" eaLnBrk="1" fontAlgn="auto" latinLnBrk="0" hangingPunct="1">
              <a:lnSpc>
                <a:spcPct val="100000"/>
              </a:lnSpc>
              <a:spcBef>
                <a:spcPts val="1893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546086" algn="l"/>
                <a:tab pos="546932" algn="l"/>
              </a:tabLst>
              <a:defRPr/>
            </a:pP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The</a:t>
            </a:r>
            <a:r>
              <a:rPr kumimoji="0" sz="2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first</a:t>
            </a:r>
            <a:r>
              <a:rPr kumimoji="0" sz="2400" b="1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phase</a:t>
            </a:r>
            <a:r>
              <a:rPr kumimoji="0" sz="2400" b="1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of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NLP</a:t>
            </a:r>
            <a:r>
              <a:rPr kumimoji="0" sz="2400" b="1" i="0" u="none" strike="noStrike" kern="1200" cap="none" spc="-12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is</a:t>
            </a:r>
            <a:r>
              <a:rPr kumimoji="0" sz="2400" b="1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the</a:t>
            </a:r>
            <a:r>
              <a:rPr kumimoji="0" sz="2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Lexical</a:t>
            </a:r>
            <a:r>
              <a:rPr kumimoji="0" sz="2400" b="1" i="0" u="none" strike="noStrike" kern="1200" cap="none" spc="-17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Analysis.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/>
            </a:endParaRPr>
          </a:p>
          <a:p>
            <a:pPr marL="546086" marR="0" lvl="0" indent="-530000" algn="l" defTabSz="914400" rtl="0" eaLnBrk="1" fontAlgn="auto" latinLnBrk="0" hangingPunct="1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546086" algn="l"/>
                <a:tab pos="546932" algn="l"/>
              </a:tabLst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It</a:t>
            </a:r>
            <a:r>
              <a:rPr kumimoji="0" sz="2400" b="1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involves</a:t>
            </a:r>
            <a:r>
              <a:rPr kumimoji="0" sz="2400" b="1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identifying</a:t>
            </a:r>
            <a:r>
              <a:rPr kumimoji="0" sz="2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and</a:t>
            </a:r>
            <a:r>
              <a:rPr kumimoji="0" sz="2400" b="1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analysing</a:t>
            </a:r>
            <a:r>
              <a:rPr kumimoji="0" sz="2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the</a:t>
            </a:r>
            <a:r>
              <a:rPr kumimoji="0" sz="2400" b="1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structure</a:t>
            </a:r>
            <a:r>
              <a:rPr kumimoji="0" sz="2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of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words.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/>
            </a:endParaRPr>
          </a:p>
          <a:p>
            <a:pPr marL="546086" marR="15240" lvl="0" indent="-5300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546086" algn="l"/>
                <a:tab pos="546932" algn="l"/>
              </a:tabLst>
              <a:defRPr/>
            </a:pP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Lexicon</a:t>
            </a:r>
            <a:r>
              <a:rPr kumimoji="0" sz="2400" b="1" i="0" u="none" strike="noStrike" kern="1200" cap="none" spc="8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of</a:t>
            </a:r>
            <a:r>
              <a:rPr kumimoji="0" sz="2400" b="1" i="0" u="none" strike="noStrike" kern="1200" cap="none" spc="9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a</a:t>
            </a:r>
            <a:r>
              <a:rPr kumimoji="0" sz="2400" b="1" i="0" u="none" strike="noStrike" kern="1200" cap="none" spc="8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language</a:t>
            </a:r>
            <a:r>
              <a:rPr kumimoji="0" sz="2400" b="1" i="0" u="none" strike="noStrike" kern="1200" cap="none" spc="8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means</a:t>
            </a:r>
            <a:r>
              <a:rPr kumimoji="0" sz="2400" b="1" i="0" u="none" strike="noStrike" kern="1200" cap="none" spc="8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the</a:t>
            </a:r>
            <a:r>
              <a:rPr kumimoji="0" sz="2400" b="1" i="0" u="none" strike="noStrike" kern="1200" cap="none" spc="8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collection</a:t>
            </a:r>
            <a:r>
              <a:rPr kumimoji="0" sz="2400" b="1" i="0" u="none" strike="noStrike" kern="1200" cap="none" spc="8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of</a:t>
            </a:r>
            <a:r>
              <a:rPr kumimoji="0" sz="2400" b="1" i="0" u="none" strike="noStrike" kern="1200" cap="none" spc="9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words</a:t>
            </a:r>
            <a:r>
              <a:rPr kumimoji="0" sz="2400" b="1" i="0" u="none" strike="noStrike" kern="1200" cap="none" spc="9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and</a:t>
            </a:r>
            <a:r>
              <a:rPr kumimoji="0" sz="2400" b="1" i="0" u="none" strike="noStrike" kern="1200" cap="none" spc="8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phrases</a:t>
            </a:r>
            <a:r>
              <a:rPr kumimoji="0" sz="2400" b="1" i="0" u="none" strike="noStrike" kern="1200" cap="none" spc="9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in</a:t>
            </a:r>
            <a:r>
              <a:rPr kumimoji="0" sz="2400" b="1" i="0" u="none" strike="noStrike" kern="1200" cap="none" spc="8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a </a:t>
            </a:r>
            <a:r>
              <a:rPr kumimoji="0" sz="2400" b="1" i="0" u="none" strike="noStrike" kern="1200" cap="none" spc="-7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language.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/>
            </a:endParaRPr>
          </a:p>
          <a:p>
            <a:pPr marL="546086" marR="6773" lvl="0" indent="-5300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546086" algn="l"/>
                <a:tab pos="546932" algn="l"/>
                <a:tab pos="1410511" algn="l"/>
                <a:tab pos="2462890" algn="l"/>
                <a:tab pos="3473786" algn="l"/>
                <a:tab pos="4131630" algn="l"/>
                <a:tab pos="5307621" algn="l"/>
                <a:tab pos="6212685" algn="l"/>
                <a:tab pos="6726598" algn="l"/>
                <a:tab pos="7095736" algn="l"/>
                <a:tab pos="8292893" algn="l"/>
                <a:tab pos="8807653" algn="l"/>
                <a:tab pos="10515337" algn="l"/>
              </a:tabLst>
              <a:defRPr/>
            </a:pP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Thi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s	phase	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scan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s	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th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e	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sourc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e	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cod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e	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a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s	a	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strea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m	of	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character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s	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and  converts</a:t>
            </a:r>
            <a:r>
              <a:rPr kumimoji="0" sz="2400" b="1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it into meaningful</a:t>
            </a:r>
            <a:r>
              <a:rPr kumimoji="0" sz="2400" b="1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lexemes.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/>
            </a:endParaRPr>
          </a:p>
          <a:p>
            <a:pPr marL="546086" marR="0" lvl="0" indent="-530000" algn="l" defTabSz="914400" rtl="0" eaLnBrk="1" fontAlgn="auto" latinLnBrk="0" hangingPunct="1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546086" algn="l"/>
                <a:tab pos="546932" algn="l"/>
              </a:tabLst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It</a:t>
            </a:r>
            <a:r>
              <a:rPr kumimoji="0" sz="2400" b="1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divides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the</a:t>
            </a:r>
            <a:r>
              <a:rPr kumimoji="0" sz="2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whole</a:t>
            </a:r>
            <a:r>
              <a:rPr kumimoji="0" sz="2400" b="1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text</a:t>
            </a:r>
            <a:r>
              <a:rPr kumimoji="0" sz="2400" b="1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into</a:t>
            </a:r>
            <a:r>
              <a:rPr kumimoji="0" sz="2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paragraphs,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sentences,</a:t>
            </a:r>
            <a:r>
              <a:rPr kumimoji="0" sz="2400" b="1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and</a:t>
            </a:r>
            <a:r>
              <a:rPr kumimoji="0" sz="2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words.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34597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E1510-1697-4292-9CEE-D9C6744EF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BE85D-DA82-4C7F-8B3C-ABAA2867D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FE2544-B814-45BD-839A-D62C0ADC3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75" y="510899"/>
            <a:ext cx="11317356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251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B609D-0561-FEEB-3A67-814731B03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965" y="166343"/>
            <a:ext cx="10515600" cy="62878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>
                <a:solidFill>
                  <a:srgbClr val="C00000"/>
                </a:solidFill>
              </a:rPr>
              <a:t>Morphology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ACBBE-3C69-D420-250E-E7B8CF763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165"/>
            <a:ext cx="10515600" cy="5684492"/>
          </a:xfrm>
        </p:spPr>
        <p:txBody>
          <a:bodyPr/>
          <a:lstStyle/>
          <a:p>
            <a:pPr eaLnBrk="1" hangingPunct="1"/>
            <a:r>
              <a:rPr lang="en-US" altLang="en-US" sz="2800" b="1"/>
              <a:t>Word formation rules from </a:t>
            </a:r>
            <a:r>
              <a:rPr lang="en-US" altLang="en-US" sz="2800" b="1" i="1"/>
              <a:t>root </a:t>
            </a:r>
            <a:r>
              <a:rPr lang="en-US" altLang="en-US" sz="2800" b="1"/>
              <a:t>words</a:t>
            </a:r>
          </a:p>
          <a:p>
            <a:pPr eaLnBrk="1" hangingPunct="1"/>
            <a:r>
              <a:rPr lang="en-US" altLang="en-US" sz="2800" b="1"/>
              <a:t>Nouns: Plural (</a:t>
            </a:r>
            <a:r>
              <a:rPr lang="en-US" altLang="en-US" sz="2800" b="1" i="1"/>
              <a:t>boy-boys); </a:t>
            </a:r>
            <a:r>
              <a:rPr lang="en-US" altLang="en-US" sz="2800" b="1"/>
              <a:t>Gender marking (czar-czarina)</a:t>
            </a:r>
          </a:p>
          <a:p>
            <a:pPr eaLnBrk="1" hangingPunct="1"/>
            <a:r>
              <a:rPr lang="en-US" altLang="en-US" sz="2800" b="1"/>
              <a:t>Verbs: Tense (</a:t>
            </a:r>
            <a:r>
              <a:rPr lang="en-US" altLang="en-US" sz="2800" b="1" i="1"/>
              <a:t>stretch-stretched); </a:t>
            </a:r>
            <a:r>
              <a:rPr lang="en-US" altLang="en-US" sz="2800" b="1"/>
              <a:t>Aspect (</a:t>
            </a:r>
            <a:r>
              <a:rPr lang="en-US" altLang="en-US" sz="2800" b="1" i="1"/>
              <a:t>e.g. perfective sit-had sat</a:t>
            </a:r>
            <a:r>
              <a:rPr lang="en-US" altLang="en-US" sz="2800" b="1"/>
              <a:t>); Modality (e.g. </a:t>
            </a:r>
            <a:r>
              <a:rPr lang="en-US" altLang="en-US" sz="2800" b="1" i="1"/>
              <a:t>request </a:t>
            </a:r>
            <a:r>
              <a:rPr lang="en-US" altLang="en-US" sz="2800" b="1" i="1" err="1"/>
              <a:t>khaanaa</a:t>
            </a:r>
            <a:r>
              <a:rPr lang="en-US" altLang="en-US" sz="2800" b="1" i="1">
                <a:sym typeface="Wingdings" panose="05000000000000000000" pitchFamily="2" charset="2"/>
              </a:rPr>
              <a:t></a:t>
            </a:r>
            <a:r>
              <a:rPr lang="en-US" altLang="en-US" sz="2800" b="1" i="1"/>
              <a:t> </a:t>
            </a:r>
            <a:r>
              <a:rPr lang="en-US" altLang="en-US" sz="2800" b="1" i="1" err="1"/>
              <a:t>khaaiie</a:t>
            </a:r>
            <a:r>
              <a:rPr lang="en-US" altLang="en-US" sz="2800" b="1" i="1"/>
              <a:t>)</a:t>
            </a:r>
          </a:p>
          <a:p>
            <a:pPr eaLnBrk="1" hangingPunct="1"/>
            <a:r>
              <a:rPr lang="en-US" altLang="en-US" sz="2800" b="1"/>
              <a:t>First crucial first step in NLP</a:t>
            </a:r>
          </a:p>
          <a:p>
            <a:pPr eaLnBrk="1" hangingPunct="1"/>
            <a:r>
              <a:rPr lang="en-US" altLang="en-US" sz="2800" b="1"/>
              <a:t>Languages rich in morphology: e.g., Dravidian, Hungarian, Turkish</a:t>
            </a:r>
          </a:p>
          <a:p>
            <a:pPr eaLnBrk="1" hangingPunct="1"/>
            <a:r>
              <a:rPr lang="en-US" altLang="en-US" sz="2800" b="1"/>
              <a:t>Languages poor in morphology: Chinese, English</a:t>
            </a:r>
          </a:p>
          <a:p>
            <a:pPr eaLnBrk="1" hangingPunct="1"/>
            <a:r>
              <a:rPr lang="en-US" altLang="en-US" sz="2800" b="1"/>
              <a:t>Languages with rich morphology have the advantage of easier processing at higher stages of processing</a:t>
            </a:r>
          </a:p>
          <a:p>
            <a:pPr eaLnBrk="1" hangingPunct="1"/>
            <a:r>
              <a:rPr lang="en-US" altLang="en-US" sz="2800" b="1"/>
              <a:t>A task of interest to computer science: </a:t>
            </a:r>
            <a:r>
              <a:rPr lang="en-US" altLang="en-US" sz="2800" b="1" i="1"/>
              <a:t>Finite State Machines for Word Morphology</a:t>
            </a:r>
            <a:endParaRPr lang="en-US" altLang="en-US" sz="2800" b="1"/>
          </a:p>
          <a:p>
            <a:pPr marL="0" indent="0">
              <a:buNone/>
            </a:pP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4033344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444BA-48BC-4380-9AF1-8AC785A03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2DDE6-9FFC-4E7C-AAED-895FF555B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61204D-2E9D-D496-DE59-65ECB2CB4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2" y="261937"/>
            <a:ext cx="11534775" cy="633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145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7F06-9D95-AD21-9709-03AFEC0BC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Morphology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F14F4-BF9F-86E2-53EB-A8440CECD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Breaking the word and obtaining suffix, features contained in word.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89051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C4706-70B6-C00C-3B18-8FAF43A7D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>
                <a:solidFill>
                  <a:srgbClr val="C00000"/>
                </a:solidFill>
              </a:rPr>
              <a:t>Lexical Analysis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8B858-F218-FF06-053C-4794FD9DB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b="1"/>
              <a:t>Essentially refers to dictionary access and obtaining the properties of the word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800" b="1" i="1"/>
              <a:t>		e.g. dog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800" b="1" i="1"/>
              <a:t>			noun (lexical property)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800" b="1" i="1"/>
              <a:t>			take-’s’-in-plural (morph property)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800" b="1" i="1"/>
              <a:t>			animate (semantic property)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800" b="1" i="1"/>
              <a:t>			4-legged (-do-)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800" b="1" i="1"/>
              <a:t>			carnivore (-do)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800" b="1"/>
              <a:t>Challenge:  </a:t>
            </a:r>
            <a:r>
              <a:rPr lang="en-US" altLang="en-US" sz="2800" b="1" i="1"/>
              <a:t>Lexical or word sense disambiguation </a:t>
            </a:r>
          </a:p>
          <a:p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1718810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E2355-C7D1-C334-AB21-6168B662B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530"/>
            <a:ext cx="10515600" cy="774562"/>
          </a:xfrm>
        </p:spPr>
        <p:txBody>
          <a:bodyPr/>
          <a:lstStyle/>
          <a:p>
            <a:pPr algn="ctr"/>
            <a:r>
              <a:rPr lang="en-US" altLang="en-US" b="1">
                <a:solidFill>
                  <a:srgbClr val="C00000"/>
                </a:solidFill>
              </a:rPr>
              <a:t>Lexical Disambiguation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23D75-B6D9-A67C-B302-ECF981092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583" y="808383"/>
            <a:ext cx="11343860" cy="5864087"/>
          </a:xfrm>
        </p:spPr>
        <p:txBody>
          <a:bodyPr vert="horz" lIns="91440" tIns="45720" rIns="91440" bIns="45720" rtlCol="0" anchor="t">
            <a:no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b="1"/>
              <a:t>A word follows one sense per discourse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First step: </a:t>
            </a:r>
            <a:r>
              <a:rPr lang="en-US" altLang="en-US" b="1" i="1"/>
              <a:t>part of Speech Disambiguation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b="1" i="1"/>
              <a:t>Dog</a:t>
            </a:r>
            <a:r>
              <a:rPr lang="en-US" altLang="en-US" sz="2800" b="1"/>
              <a:t> as a </a:t>
            </a:r>
            <a:r>
              <a:rPr lang="en-US" altLang="en-US" sz="2800" b="1" i="1"/>
              <a:t>noun </a:t>
            </a:r>
            <a:r>
              <a:rPr lang="en-US" altLang="en-US" sz="2800" b="1"/>
              <a:t>(animal)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b="1" i="1"/>
              <a:t>Dog </a:t>
            </a:r>
            <a:r>
              <a:rPr lang="en-US" altLang="en-US" sz="2800" b="1"/>
              <a:t>as a verb (</a:t>
            </a:r>
            <a:r>
              <a:rPr lang="en-US" altLang="en-US" sz="2800" b="1" i="1"/>
              <a:t>to pursue)</a:t>
            </a:r>
          </a:p>
          <a:p>
            <a:pPr marL="914400" lvl="2" indent="0">
              <a:buNone/>
            </a:pPr>
            <a:endParaRPr lang="en-US" altLang="en-US" sz="2800" b="1" i="1">
              <a:solidFill>
                <a:srgbClr val="000000"/>
              </a:solidFill>
              <a:latin typeface="Calibri" panose="020F0502020204030204"/>
              <a:ea typeface="Calibri"/>
              <a:cs typeface="Calibri" panose="020F0502020204030204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b="1"/>
              <a:t>Sense Disambiguation</a:t>
            </a:r>
            <a:endParaRPr lang="en-US"/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b="1" i="1"/>
              <a:t>Dog (</a:t>
            </a:r>
            <a:r>
              <a:rPr lang="en-US" altLang="en-US" sz="2800" b="1"/>
              <a:t>as </a:t>
            </a:r>
            <a:r>
              <a:rPr lang="en-US" altLang="en-US" sz="2800" b="1" i="1"/>
              <a:t>animal)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b="1" i="1"/>
              <a:t>Dog (</a:t>
            </a:r>
            <a:r>
              <a:rPr lang="en-US" altLang="en-US" sz="2800" b="1"/>
              <a:t>as </a:t>
            </a:r>
            <a:r>
              <a:rPr lang="en-US" altLang="en-US" sz="2800" b="1" i="1"/>
              <a:t>a very detestable person)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Needs word relationships in a context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b="1" i="1"/>
              <a:t>The chair emphasized the need for formal education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b="1"/>
              <a:t>Satellite Channel Ad: </a:t>
            </a:r>
            <a:r>
              <a:rPr lang="en-US" altLang="en-US" sz="2800" b="1" i="1"/>
              <a:t>Watch what you want, when you want </a:t>
            </a:r>
            <a:r>
              <a:rPr lang="en-US" altLang="en-US" sz="2800" b="1"/>
              <a:t>(two senses of watch)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b="1"/>
              <a:t>Ground breaking ceremony/research</a:t>
            </a:r>
          </a:p>
          <a:p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27840001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C26E1-0FA2-CAD6-CE60-99D70ACCC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sz="4400" b="1">
                <a:solidFill>
                  <a:srgbClr val="C00000"/>
                </a:solidFill>
              </a:rPr>
              <a:t>Technological developments bring in new terms, additional meanings/nuances for existing terms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FAFAC-7DFE-2490-71FB-E90A5A135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3714"/>
          </a:xfrm>
        </p:spPr>
        <p:txBody>
          <a:bodyPr>
            <a:normAutofit lnSpcReduction="10000"/>
          </a:bodyPr>
          <a:lstStyle/>
          <a:p>
            <a:pPr lvl="1" eaLnBrk="1" hangingPunct="1">
              <a:lnSpc>
                <a:spcPct val="90000"/>
              </a:lnSpc>
            </a:pPr>
            <a:r>
              <a:rPr lang="en-US" altLang="en-US" sz="2800" b="1" u="sng"/>
              <a:t>Justify </a:t>
            </a:r>
            <a:r>
              <a:rPr lang="en-US" altLang="en-US" sz="2800" b="1"/>
              <a:t>as in </a:t>
            </a:r>
            <a:r>
              <a:rPr lang="en-US" altLang="en-US" sz="2800" b="1" i="1"/>
              <a:t>justify the right margin </a:t>
            </a:r>
            <a:r>
              <a:rPr lang="en-US" altLang="en-US" sz="2800" b="1"/>
              <a:t>(word processing context)</a:t>
            </a:r>
            <a:endParaRPr lang="en-US" altLang="en-US" sz="2800" b="1" i="1"/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b="1" i="1" u="sng"/>
              <a:t>Xeroxed</a:t>
            </a:r>
            <a:r>
              <a:rPr lang="en-US" altLang="en-US" sz="2800" b="1" i="1"/>
              <a:t>: </a:t>
            </a:r>
            <a:r>
              <a:rPr lang="en-US" altLang="en-US" sz="2800" b="1"/>
              <a:t>a new verb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b="1" i="1" u="sng"/>
              <a:t>Digital Trace</a:t>
            </a:r>
            <a:r>
              <a:rPr lang="en-US" altLang="en-US" sz="2800" b="1" i="1"/>
              <a:t>: </a:t>
            </a:r>
            <a:r>
              <a:rPr lang="en-US" altLang="en-US" sz="2800" b="1"/>
              <a:t>a new expression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b="1" i="1" u="sng" err="1"/>
              <a:t>Communifaking</a:t>
            </a:r>
            <a:r>
              <a:rPr lang="en-US" altLang="en-US" sz="2800" b="1" i="1"/>
              <a:t>: </a:t>
            </a:r>
            <a:r>
              <a:rPr lang="en-US" altLang="en-US" sz="2800" b="1"/>
              <a:t>pretending to talk on mobile when you are actually not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b="1" i="1" u="sng" err="1"/>
              <a:t>Discomgooglation</a:t>
            </a:r>
            <a:r>
              <a:rPr lang="en-US" altLang="en-US" sz="2800" b="1" i="1"/>
              <a:t>: </a:t>
            </a:r>
            <a:r>
              <a:rPr lang="en-US" altLang="en-US" sz="2800" b="1"/>
              <a:t>anxiety/discomfort at not being able to access internet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b="1" i="1" u="sng"/>
              <a:t>Helicopter Parenting</a:t>
            </a:r>
            <a:r>
              <a:rPr lang="en-US" altLang="en-US" sz="2800" b="1"/>
              <a:t>: over parenting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b="1" i="1" u="sng"/>
              <a:t>Plane LI- FI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b="1" i="1" u="sng" err="1"/>
              <a:t>Crowdturfing</a:t>
            </a:r>
            <a:endParaRPr lang="en-US" altLang="en-US" sz="2800" b="1" i="1" u="sng"/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b="1" i="1" u="sng"/>
              <a:t>TYPO-TEXTO,SPEAKO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en-US" sz="2800" b="1" i="1">
                <a:solidFill>
                  <a:srgbClr val="002060"/>
                </a:solidFill>
              </a:rPr>
              <a:t>***We add new words or existing words get new meaning.</a:t>
            </a:r>
          </a:p>
          <a:p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146858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85521" y="4778067"/>
            <a:ext cx="288290" cy="167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rgbClr val="59595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8585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 MT"/>
                <a:ea typeface="+mn-ea"/>
              </a:rPr>
              <a:pPr marL="10858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 MT"/>
              <a:ea typeface="+mn-e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2968" y="287180"/>
            <a:ext cx="5292513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b="1" spc="-7">
                <a:solidFill>
                  <a:srgbClr val="C00000"/>
                </a:solidFill>
              </a:rPr>
              <a:t>Syntacti</a:t>
            </a:r>
            <a:r>
              <a:rPr sz="3200" b="1">
                <a:solidFill>
                  <a:srgbClr val="C00000"/>
                </a:solidFill>
              </a:rPr>
              <a:t>c</a:t>
            </a:r>
            <a:r>
              <a:rPr sz="3200" b="1" spc="-180">
                <a:solidFill>
                  <a:srgbClr val="C00000"/>
                </a:solidFill>
              </a:rPr>
              <a:t> </a:t>
            </a:r>
            <a:r>
              <a:rPr sz="3200" b="1" spc="-7">
                <a:solidFill>
                  <a:srgbClr val="C00000"/>
                </a:solidFill>
              </a:rPr>
              <a:t>Analysi</a:t>
            </a:r>
            <a:r>
              <a:rPr sz="3200" b="1">
                <a:solidFill>
                  <a:srgbClr val="C00000"/>
                </a:solidFill>
              </a:rPr>
              <a:t>s</a:t>
            </a:r>
            <a:r>
              <a:rPr sz="3200" b="1" spc="-7">
                <a:solidFill>
                  <a:srgbClr val="C00000"/>
                </a:solidFill>
              </a:rPr>
              <a:t> </a:t>
            </a:r>
            <a:r>
              <a:rPr sz="3200" b="1">
                <a:solidFill>
                  <a:srgbClr val="C00000"/>
                </a:solidFill>
              </a:rPr>
              <a:t>(Parsing)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2795" y="886275"/>
            <a:ext cx="11070167" cy="516248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46086" marR="43178" lvl="0" indent="-530000" algn="l" defTabSz="914400" rtl="0" eaLnBrk="1" fontAlgn="auto" latinLnBrk="0" hangingPunct="1">
              <a:lnSpc>
                <a:spcPct val="114999"/>
              </a:lnSpc>
              <a:spcBef>
                <a:spcPts val="133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546086" algn="l"/>
                <a:tab pos="546932" algn="l"/>
              </a:tabLst>
              <a:defRPr/>
            </a:pP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Syntactic</a:t>
            </a:r>
            <a:r>
              <a:rPr kumimoji="0" sz="2933" b="0" i="0" u="none" strike="noStrike" kern="1200" cap="none" spc="-1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Analysis</a:t>
            </a:r>
            <a:r>
              <a:rPr kumimoji="0" sz="2933" b="0" i="0" u="none" strike="noStrike" kern="1200" cap="none" spc="4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</a:t>
            </a:r>
            <a:r>
              <a:rPr kumimoji="0" sz="2933" b="0" i="0" u="none" strike="noStrike" kern="1200" cap="none" spc="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used</a:t>
            </a:r>
            <a:r>
              <a:rPr kumimoji="0" sz="2933" b="0" i="0" u="none" strike="noStrike" kern="1200" cap="none" spc="5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</a:t>
            </a:r>
            <a:r>
              <a:rPr kumimoji="0" sz="2933" b="0" i="0" u="none" strike="noStrike" kern="1200" cap="none" spc="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check</a:t>
            </a:r>
            <a:r>
              <a:rPr kumimoji="0" sz="2933" b="0" i="0" u="none" strike="noStrike" kern="1200" cap="none" spc="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grammar,</a:t>
            </a:r>
            <a:r>
              <a:rPr kumimoji="0" sz="2933" b="0" i="0" u="none" strike="noStrike" kern="1200" cap="none" spc="4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word</a:t>
            </a:r>
            <a:r>
              <a:rPr kumimoji="0" sz="2933" b="0" i="0" u="none" strike="noStrike" kern="1200" cap="none" spc="4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arrangements,</a:t>
            </a:r>
            <a:r>
              <a:rPr kumimoji="0" sz="2933" b="0" i="0" u="none" strike="noStrike" kern="1200" cap="none" spc="4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and </a:t>
            </a:r>
            <a:r>
              <a:rPr kumimoji="0" sz="2933" b="0" i="0" u="none" strike="noStrike" kern="1200" cap="none" spc="-7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shows</a:t>
            </a:r>
            <a:r>
              <a:rPr kumimoji="0" sz="2933" b="0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relationship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among</a:t>
            </a:r>
            <a:r>
              <a:rPr kumimoji="0" sz="2933" b="0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words.</a:t>
            </a:r>
            <a:endParaRPr kumimoji="0" sz="29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546086" marR="6773" lvl="0" indent="-530000" algn="l" defTabSz="914400" rtl="0" eaLnBrk="1" fontAlgn="auto" latinLnBrk="0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546086" algn="l"/>
                <a:tab pos="546932" algn="l"/>
              </a:tabLst>
              <a:defRPr/>
            </a:pP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Deals</a:t>
            </a:r>
            <a:r>
              <a:rPr kumimoji="0" sz="2933" b="0" i="0" u="none" strike="noStrike" kern="1200" cap="none" spc="48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with</a:t>
            </a:r>
            <a:r>
              <a:rPr kumimoji="0" sz="2933" b="0" i="0" u="none" strike="noStrike" kern="1200" cap="none" spc="48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analysing</a:t>
            </a:r>
            <a:r>
              <a:rPr kumimoji="0" sz="2933" b="0" i="0" u="none" strike="noStrike" kern="1200" cap="none" spc="48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sz="2933" b="0" i="0" u="none" strike="noStrike" kern="1200" cap="none" spc="48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words</a:t>
            </a:r>
            <a:r>
              <a:rPr kumimoji="0" sz="2933" b="0" i="0" u="none" strike="noStrike" kern="1200" cap="none" spc="48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sz="2933" b="0" i="0" u="none" strike="noStrike" kern="1200" cap="none" spc="48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sz="2933" b="0" i="0" u="none" strike="noStrike" kern="1200" cap="none" spc="48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sentence</a:t>
            </a:r>
            <a:r>
              <a:rPr kumimoji="0" sz="2933" b="0" i="0" u="none" strike="noStrike" kern="1200" cap="none" spc="48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so</a:t>
            </a:r>
            <a:r>
              <a:rPr kumimoji="0" sz="2933" b="0" i="0" u="none" strike="noStrike" kern="1200" cap="none" spc="48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as</a:t>
            </a:r>
            <a:r>
              <a:rPr kumimoji="0" sz="2933" b="0" i="0" u="none" strike="noStrike" kern="1200" cap="none" spc="48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</a:t>
            </a:r>
            <a:r>
              <a:rPr kumimoji="0" sz="2933" b="0" i="0" u="none" strike="noStrike" kern="1200" cap="none" spc="48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uncover</a:t>
            </a:r>
            <a:r>
              <a:rPr kumimoji="0" sz="2933" b="0" i="0" u="none" strike="noStrike" kern="1200" cap="none" spc="48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sz="2933" b="0" i="0" u="none" strike="noStrike" kern="1200" cap="none" spc="-7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grammatical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structure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sz="2933" b="0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sentence.</a:t>
            </a:r>
            <a:endParaRPr kumimoji="0" sz="29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546086" marR="0" lvl="0" indent="-530000" algn="l" defTabSz="914400" rtl="0" eaLnBrk="1" fontAlgn="auto" latinLnBrk="0" hangingPunct="1">
              <a:lnSpc>
                <a:spcPct val="100000"/>
              </a:lnSpc>
              <a:spcBef>
                <a:spcPts val="527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546086" algn="l"/>
                <a:tab pos="546932" algn="l"/>
              </a:tabLst>
              <a:defRPr/>
            </a:pP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E.g..</a:t>
            </a:r>
            <a:r>
              <a:rPr kumimoji="0" sz="2933" b="0" i="0" u="none" strike="noStrike" kern="120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"Colourless</a:t>
            </a:r>
            <a:r>
              <a:rPr kumimoji="0" sz="2933" b="0" i="0" u="none" strike="noStrike" kern="1200" cap="none" spc="-3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green</a:t>
            </a:r>
            <a:r>
              <a:rPr kumimoji="0" sz="2933" b="0" i="0" u="none" strike="noStrike" kern="1200" cap="none" spc="-2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idea."</a:t>
            </a:r>
            <a:endParaRPr kumimoji="0" sz="29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546086" marR="8466" lvl="0" indent="-530000" algn="just" defTabSz="914400" rtl="0" eaLnBrk="1" fontAlgn="auto" latinLnBrk="0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546932" algn="l"/>
              </a:tabLst>
              <a:defRPr/>
            </a:pP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This would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be rejected by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Syntactic analysis as colourless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here; </a:t>
            </a:r>
            <a:r>
              <a:rPr kumimoji="0" sz="2933" b="0" i="0" u="none" strike="noStrike" kern="1200" cap="none" spc="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green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doesn't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make any</a:t>
            </a:r>
            <a:r>
              <a:rPr kumimoji="0" sz="2933" b="0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sense.</a:t>
            </a:r>
            <a:endParaRPr kumimoji="0" sz="29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546086" marR="8466" lvl="0" indent="-530000" algn="just" defTabSz="914400" rtl="0" eaLnBrk="1" fontAlgn="auto" latinLnBrk="0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546932" algn="l"/>
              </a:tabLst>
              <a:defRPr/>
            </a:pP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Syntactic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parsing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involves the analysis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words in the sentence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for </a:t>
            </a:r>
            <a:r>
              <a:rPr kumimoji="0" sz="2933" b="0" i="0" u="none" strike="noStrike" kern="1200" cap="none" spc="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grammar</a:t>
            </a:r>
            <a:r>
              <a:rPr kumimoji="0" sz="2933" b="0" i="0" u="none" strike="noStrike" kern="1200" cap="none" spc="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and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their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arrangement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a</a:t>
            </a:r>
            <a:r>
              <a:rPr kumimoji="0" sz="2933" b="0" i="0" u="none" strike="noStrike" kern="1200" cap="none" spc="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manner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that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shows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sz="2933" b="0" i="0" u="none" strike="noStrike" kern="1200" cap="none" spc="-7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relationships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among the words.</a:t>
            </a:r>
            <a:endParaRPr kumimoji="0" sz="29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BB9CA-70B5-C907-F695-42553EE17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E89D8-6906-1D5C-D4BB-BF89E4C5D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C8112-23EE-926F-07E7-D8A02D351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" y="0"/>
            <a:ext cx="117252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3815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E5A290C-B9AE-8EDB-B11E-F5203F6E8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3447"/>
            <a:ext cx="6858000" cy="49221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C2D693-E0B9-F93C-72DB-9CB77B538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3185491"/>
            <a:ext cx="6934200" cy="367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4152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08CA3-C21F-0894-CE3A-19040F25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104"/>
            <a:ext cx="10515600" cy="1105866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4400" b="1">
                <a:solidFill>
                  <a:srgbClr val="C00000"/>
                </a:solidFill>
              </a:rPr>
              <a:t>Challenges in Syntactic Processing: Structural Ambiguity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42639-9371-0A52-A5DB-AB619B876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8" y="1545396"/>
            <a:ext cx="11237843" cy="5312604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400" b="1"/>
              <a:t>Scope</a:t>
            </a:r>
            <a:endParaRPr lang="en-US" altLang="en-US" sz="2400" b="1" i="1"/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en-US" sz="2400" b="1" i="1"/>
              <a:t>1.The old men and women were taken to safe locations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en-US" sz="2400" b="1" i="1"/>
              <a:t>(old men and women) </a:t>
            </a:r>
            <a:r>
              <a:rPr lang="en-US" altLang="en-US" sz="2400" b="1"/>
              <a:t>vs. </a:t>
            </a:r>
            <a:r>
              <a:rPr lang="en-US" altLang="en-US" sz="2400" b="1" i="1"/>
              <a:t>((old men) and women)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en-US" sz="2400" b="1" i="1"/>
              <a:t>2. No smoking areas will allow </a:t>
            </a:r>
            <a:r>
              <a:rPr lang="en-US" altLang="en-US" sz="2400" b="1" i="1" err="1"/>
              <a:t>Hookas</a:t>
            </a:r>
            <a:r>
              <a:rPr lang="en-US" altLang="en-US" sz="2400" b="1" i="1"/>
              <a:t> inside</a:t>
            </a:r>
            <a:endParaRPr lang="en-US" altLang="en-US" sz="2400" b="1"/>
          </a:p>
          <a:p>
            <a:pPr eaLnBrk="1" hangingPunct="1">
              <a:lnSpc>
                <a:spcPct val="80000"/>
              </a:lnSpc>
            </a:pPr>
            <a:r>
              <a:rPr lang="en-US" altLang="en-US" sz="2400" b="1"/>
              <a:t>Preposition Phrase Attachment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400" b="1" i="1"/>
              <a:t>I saw the boy with a telescope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en-US" sz="2400" b="1"/>
              <a:t>    (who has the </a:t>
            </a:r>
            <a:r>
              <a:rPr lang="en-US" altLang="en-US" sz="2400" b="1" i="1"/>
              <a:t>telescope?</a:t>
            </a:r>
            <a:r>
              <a:rPr lang="en-US" altLang="en-US" sz="2400" b="1"/>
              <a:t>)</a:t>
            </a:r>
          </a:p>
          <a:p>
            <a:pPr lvl="2">
              <a:lnSpc>
                <a:spcPct val="80000"/>
              </a:lnSpc>
            </a:pPr>
            <a:r>
              <a:rPr lang="en-US" altLang="en-US" sz="2400" b="1"/>
              <a:t>Very ubiquitous: newspaper headline “</a:t>
            </a:r>
            <a:r>
              <a:rPr lang="en-US" altLang="en-US" sz="2400" b="1" i="1"/>
              <a:t>20 years later, BMC pays father 20 lakhs for causing son’s death”</a:t>
            </a:r>
            <a:endParaRPr lang="en-US" altLang="en-US" sz="2400" b="1"/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en-US" sz="2400" b="1"/>
              <a:t>  </a:t>
            </a:r>
            <a:r>
              <a:rPr lang="en-US" altLang="en-US" sz="2400" b="1" i="1"/>
              <a:t>  </a:t>
            </a:r>
          </a:p>
          <a:p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34444526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9AD13-506F-8D7E-4B57-9A486036B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>
                <a:solidFill>
                  <a:srgbClr val="C00000"/>
                </a:solidFill>
              </a:rPr>
              <a:t>Structural Ambiguity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09473-6549-CBB3-9A04-E6B52CE75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5382"/>
            <a:ext cx="10515600" cy="4351338"/>
          </a:xfrm>
        </p:spPr>
        <p:txBody>
          <a:bodyPr>
            <a:noAutofit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endParaRPr lang="en-US" altLang="en-US" b="1"/>
          </a:p>
          <a:p>
            <a:pPr eaLnBrk="1" hangingPunct="1">
              <a:lnSpc>
                <a:spcPct val="90000"/>
              </a:lnSpc>
            </a:pPr>
            <a:r>
              <a:rPr lang="en-US" altLang="en-US" b="1"/>
              <a:t>An actual sentence in the newspaper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b="1" i="1"/>
              <a:t>The camera man shot the man with the gun when he was near Tendulkar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b="1"/>
              <a:t>(P.G. Wodehouse, </a:t>
            </a:r>
            <a:r>
              <a:rPr lang="en-US" altLang="en-US" b="1" i="1"/>
              <a:t>Ring in Jeeves) Jill had rubbed ointment on Mike the Irish Terrier, taken a look at the goldfish belonging to the cook, which had caused anxiety in the kitchen by refusing its ant’s eggs… </a:t>
            </a:r>
            <a:endParaRPr lang="en-US" altLang="en-US" b="1"/>
          </a:p>
          <a:p>
            <a:pPr eaLnBrk="1" hangingPunct="1">
              <a:lnSpc>
                <a:spcPct val="90000"/>
              </a:lnSpc>
            </a:pPr>
            <a:r>
              <a:rPr lang="en-US" altLang="en-US" b="1"/>
              <a:t>(Times of India, 26/2/08) </a:t>
            </a:r>
            <a:r>
              <a:rPr lang="en-US" altLang="en-US" b="1" i="1"/>
              <a:t>Aid for kins of cops killed in terrorist attacks</a:t>
            </a:r>
          </a:p>
          <a:p>
            <a:pPr marL="0" indent="0">
              <a:buNone/>
            </a:pPr>
            <a:endParaRPr lang="en-IN" b="1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3370BD8-BD01-43D4-0B5F-8D977B8ACD4F}"/>
                  </a:ext>
                </a:extLst>
              </p14:cNvPr>
              <p14:cNvContentPartPr/>
              <p14:nvPr/>
            </p14:nvContentPartPr>
            <p14:xfrm>
              <a:off x="2994355" y="1073322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3370BD8-BD01-43D4-0B5F-8D977B8ACD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85355" y="106432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23328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85521" y="4778067"/>
            <a:ext cx="288290" cy="167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rgbClr val="59595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8585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 MT"/>
                <a:ea typeface="+mn-ea"/>
              </a:rPr>
              <a:pPr marL="10858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 MT"/>
              <a:ea typeface="+mn-e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2967" y="680480"/>
            <a:ext cx="3589020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b="1" spc="-7">
                <a:solidFill>
                  <a:srgbClr val="C00000"/>
                </a:solidFill>
              </a:rPr>
              <a:t>Semanti</a:t>
            </a:r>
            <a:r>
              <a:rPr sz="3200" b="1">
                <a:solidFill>
                  <a:srgbClr val="C00000"/>
                </a:solidFill>
              </a:rPr>
              <a:t>c</a:t>
            </a:r>
            <a:r>
              <a:rPr sz="3200" b="1" spc="-180">
                <a:solidFill>
                  <a:srgbClr val="C00000"/>
                </a:solidFill>
              </a:rPr>
              <a:t> </a:t>
            </a:r>
            <a:r>
              <a:rPr sz="3200" b="1" spc="-7">
                <a:solidFill>
                  <a:srgbClr val="C00000"/>
                </a:solidFill>
              </a:rPr>
              <a:t>Analysis</a:t>
            </a:r>
            <a:endParaRPr sz="3200" b="1">
              <a:solidFill>
                <a:srgbClr val="C00000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49785" y="1704660"/>
            <a:ext cx="10892430" cy="4869581"/>
          </a:xfrm>
          <a:prstGeom prst="rect">
            <a:avLst/>
          </a:prstGeom>
        </p:spPr>
        <p:txBody>
          <a:bodyPr vert="horz" wrap="square" lIns="0" tIns="240453" rIns="0" bIns="0" rtlCol="0">
            <a:spAutoFit/>
          </a:bodyPr>
          <a:lstStyle/>
          <a:p>
            <a:pPr marL="614663" indent="-530000">
              <a:lnSpc>
                <a:spcPct val="100000"/>
              </a:lnSpc>
              <a:spcBef>
                <a:spcPts val="1893"/>
              </a:spcBef>
              <a:buFont typeface="Arial MT"/>
              <a:buChar char="●"/>
              <a:tabLst>
                <a:tab pos="614663" algn="l"/>
                <a:tab pos="615511" algn="l"/>
              </a:tabLst>
            </a:pPr>
            <a:r>
              <a:rPr spc="-7"/>
              <a:t>Semantic</a:t>
            </a:r>
            <a:r>
              <a:rPr spc="-20"/>
              <a:t> </a:t>
            </a:r>
            <a:r>
              <a:rPr spc="-7"/>
              <a:t>analysis</a:t>
            </a:r>
            <a:r>
              <a:rPr spc="-20"/>
              <a:t> </a:t>
            </a:r>
            <a:r>
              <a:rPr spc="-7"/>
              <a:t>is</a:t>
            </a:r>
            <a:r>
              <a:rPr spc="-13"/>
              <a:t> </a:t>
            </a:r>
            <a:r>
              <a:rPr spc="-7"/>
              <a:t>concerned</a:t>
            </a:r>
            <a:r>
              <a:rPr spc="-20"/>
              <a:t> </a:t>
            </a:r>
            <a:r>
              <a:rPr spc="-7"/>
              <a:t>with</a:t>
            </a:r>
            <a:r>
              <a:rPr spc="-13"/>
              <a:t> </a:t>
            </a:r>
            <a:r>
              <a:rPr spc="-7"/>
              <a:t>the</a:t>
            </a:r>
            <a:r>
              <a:rPr spc="-20"/>
              <a:t> </a:t>
            </a:r>
            <a:r>
              <a:rPr spc="-7"/>
              <a:t>meaning</a:t>
            </a:r>
            <a:r>
              <a:rPr spc="-13"/>
              <a:t> </a:t>
            </a:r>
            <a:r>
              <a:t>representation.</a:t>
            </a:r>
          </a:p>
          <a:p>
            <a:pPr marL="614663" marR="12700" indent="-530000">
              <a:lnSpc>
                <a:spcPct val="150000"/>
              </a:lnSpc>
              <a:buFont typeface="Arial MT"/>
              <a:buChar char="●"/>
              <a:tabLst>
                <a:tab pos="614663" algn="l"/>
                <a:tab pos="615511" algn="l"/>
                <a:tab pos="1052380" algn="l"/>
                <a:tab pos="2293561" algn="l"/>
                <a:tab pos="3621103" algn="l"/>
                <a:tab pos="4203595" algn="l"/>
                <a:tab pos="4866517" algn="l"/>
                <a:tab pos="5940911" algn="l"/>
                <a:tab pos="7429314" algn="l"/>
                <a:tab pos="7950001" algn="l"/>
                <a:tab pos="9163244" algn="l"/>
                <a:tab pos="10583914" algn="l"/>
              </a:tabLst>
            </a:pPr>
            <a:r>
              <a:t>It	</a:t>
            </a:r>
            <a:r>
              <a:rPr spc="-7"/>
              <a:t>mainl</a:t>
            </a:r>
            <a:r>
              <a:t>y	focuses	on	</a:t>
            </a:r>
            <a:r>
              <a:rPr spc="-7"/>
              <a:t>th</a:t>
            </a:r>
            <a:r>
              <a:t>e	</a:t>
            </a:r>
            <a:r>
              <a:rPr spc="-7"/>
              <a:t>litera</a:t>
            </a:r>
            <a:r>
              <a:t>l	</a:t>
            </a:r>
            <a:r>
              <a:rPr spc="-7"/>
              <a:t>meanin</a:t>
            </a:r>
            <a:r>
              <a:t>g	of	</a:t>
            </a:r>
            <a:r>
              <a:rPr spc="-7"/>
              <a:t>words</a:t>
            </a:r>
            <a:r>
              <a:t>,	phrases,	</a:t>
            </a:r>
            <a:r>
              <a:rPr spc="-7"/>
              <a:t>and  sentences.</a:t>
            </a:r>
          </a:p>
          <a:p>
            <a:pPr marL="614663" marR="6773" indent="-530000">
              <a:lnSpc>
                <a:spcPct val="150000"/>
              </a:lnSpc>
              <a:buFont typeface="Arial MT"/>
              <a:buChar char="●"/>
              <a:tabLst>
                <a:tab pos="614663" algn="l"/>
                <a:tab pos="615511" algn="l"/>
              </a:tabLst>
            </a:pPr>
            <a:r>
              <a:rPr spc="-7"/>
              <a:t>Determines</a:t>
            </a:r>
            <a:r>
              <a:rPr spc="400"/>
              <a:t> </a:t>
            </a:r>
            <a:r>
              <a:rPr spc="-7"/>
              <a:t>the</a:t>
            </a:r>
            <a:r>
              <a:rPr spc="393"/>
              <a:t> </a:t>
            </a:r>
            <a:r>
              <a:t>possible</a:t>
            </a:r>
            <a:r>
              <a:rPr spc="407"/>
              <a:t> </a:t>
            </a:r>
            <a:r>
              <a:rPr spc="-7"/>
              <a:t>meanings</a:t>
            </a:r>
            <a:r>
              <a:rPr spc="393"/>
              <a:t> </a:t>
            </a:r>
            <a:r>
              <a:t>of</a:t>
            </a:r>
            <a:r>
              <a:rPr spc="407"/>
              <a:t> </a:t>
            </a:r>
            <a:r>
              <a:t>a</a:t>
            </a:r>
            <a:r>
              <a:rPr spc="393"/>
              <a:t> </a:t>
            </a:r>
            <a:r>
              <a:rPr spc="-7"/>
              <a:t>sentence</a:t>
            </a:r>
            <a:r>
              <a:rPr spc="400"/>
              <a:t> </a:t>
            </a:r>
            <a:r>
              <a:t>by</a:t>
            </a:r>
            <a:r>
              <a:rPr spc="407"/>
              <a:t> </a:t>
            </a:r>
            <a:r>
              <a:t>focusing</a:t>
            </a:r>
            <a:r>
              <a:rPr spc="400"/>
              <a:t> </a:t>
            </a:r>
            <a:r>
              <a:t>on</a:t>
            </a:r>
            <a:r>
              <a:rPr spc="407"/>
              <a:t> </a:t>
            </a:r>
            <a:r>
              <a:rPr spc="-7"/>
              <a:t>the </a:t>
            </a:r>
            <a:r>
              <a:rPr spc="-713"/>
              <a:t> </a:t>
            </a:r>
            <a:r>
              <a:rPr spc="-7"/>
              <a:t>interactions</a:t>
            </a:r>
            <a:r>
              <a:rPr spc="-13"/>
              <a:t> </a:t>
            </a:r>
            <a:r>
              <a:rPr spc="-7"/>
              <a:t>among word-level</a:t>
            </a:r>
            <a:r>
              <a:rPr spc="-13"/>
              <a:t> </a:t>
            </a:r>
            <a:r>
              <a:rPr spc="-7"/>
              <a:t>meanings in</a:t>
            </a:r>
            <a:r>
              <a:rPr spc="-13"/>
              <a:t> </a:t>
            </a:r>
            <a:r>
              <a:rPr spc="-7"/>
              <a:t>the sentence.</a:t>
            </a:r>
            <a:endParaRPr lang="en-US" spc="-7"/>
          </a:p>
          <a:p>
            <a:pPr marL="614663" marR="6773" indent="-530000">
              <a:lnSpc>
                <a:spcPct val="150000"/>
              </a:lnSpc>
              <a:buFont typeface="Arial MT"/>
              <a:buChar char="●"/>
              <a:tabLst>
                <a:tab pos="614663" algn="l"/>
                <a:tab pos="615511" algn="l"/>
              </a:tabLst>
            </a:pPr>
            <a:r>
              <a:rPr lang="en-IN" spc="-7"/>
              <a:t>Knowledge representation in terms of: Predicate calculus/Semantic nets/ Frames/ Conceptual dependencies and scripts</a:t>
            </a:r>
            <a:endParaRPr spc="-7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9DAA4-1900-44FA-A084-316037D9C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C40A3-BA24-495A-B91D-54EA44E10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D95D55-B434-95B9-7563-D6FE06604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112"/>
            <a:ext cx="12192000" cy="658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5858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F113A-820A-B75F-DD9A-455EEDEE2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D2AE7-DAE3-60E8-383C-AA72D9386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466BA2-A8BC-864E-CC79-959CA4525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825" y="1484244"/>
            <a:ext cx="737235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1841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85521" y="4778067"/>
            <a:ext cx="288290" cy="167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rgbClr val="59595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8585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 MT"/>
                <a:ea typeface="+mn-ea"/>
              </a:rPr>
              <a:pPr marL="10858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 MT"/>
              <a:ea typeface="+mn-e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2967" y="680480"/>
            <a:ext cx="4197773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b="1" spc="-7">
                <a:solidFill>
                  <a:srgbClr val="C00000"/>
                </a:solidFill>
              </a:rPr>
              <a:t>Discourse</a:t>
            </a:r>
            <a:r>
              <a:rPr sz="3200" b="1" spc="-60">
                <a:solidFill>
                  <a:srgbClr val="C00000"/>
                </a:solidFill>
              </a:rPr>
              <a:t> </a:t>
            </a:r>
            <a:r>
              <a:rPr sz="3200" b="1" spc="-7">
                <a:solidFill>
                  <a:srgbClr val="C00000"/>
                </a:solidFill>
              </a:rPr>
              <a:t>Integration</a:t>
            </a:r>
            <a:endParaRPr sz="3200" b="1">
              <a:solidFill>
                <a:srgbClr val="C00000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62257" y="1642597"/>
            <a:ext cx="11724943" cy="280491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14663" marR="6773" indent="-530000">
              <a:lnSpc>
                <a:spcPct val="150000"/>
              </a:lnSpc>
              <a:spcBef>
                <a:spcPts val="133"/>
              </a:spcBef>
              <a:buFont typeface="Arial MT"/>
              <a:buChar char="●"/>
              <a:tabLst>
                <a:tab pos="614663" algn="l"/>
                <a:tab pos="615511" algn="l"/>
              </a:tabLst>
            </a:pPr>
            <a:r>
              <a:rPr b="1" spc="-7"/>
              <a:t>Discourse</a:t>
            </a:r>
            <a:r>
              <a:rPr b="1" spc="53"/>
              <a:t> </a:t>
            </a:r>
            <a:r>
              <a:rPr b="1"/>
              <a:t>Integration</a:t>
            </a:r>
            <a:r>
              <a:rPr b="1" spc="60"/>
              <a:t> </a:t>
            </a:r>
            <a:r>
              <a:rPr b="1"/>
              <a:t>depends</a:t>
            </a:r>
            <a:r>
              <a:rPr b="1" spc="67"/>
              <a:t> </a:t>
            </a:r>
            <a:r>
              <a:rPr b="1"/>
              <a:t>upon</a:t>
            </a:r>
            <a:r>
              <a:rPr b="1" spc="60"/>
              <a:t> </a:t>
            </a:r>
            <a:r>
              <a:rPr b="1" spc="-7"/>
              <a:t>the</a:t>
            </a:r>
            <a:r>
              <a:rPr b="1" spc="53"/>
              <a:t> </a:t>
            </a:r>
            <a:r>
              <a:rPr b="1" spc="-7"/>
              <a:t>sentences</a:t>
            </a:r>
            <a:r>
              <a:rPr b="1" spc="60"/>
              <a:t> </a:t>
            </a:r>
            <a:r>
              <a:rPr b="1" spc="-7"/>
              <a:t>that</a:t>
            </a:r>
            <a:r>
              <a:rPr b="1" spc="53"/>
              <a:t> </a:t>
            </a:r>
            <a:r>
              <a:rPr b="1"/>
              <a:t>proceeds</a:t>
            </a:r>
            <a:r>
              <a:rPr b="1" spc="60"/>
              <a:t> </a:t>
            </a:r>
            <a:r>
              <a:rPr b="1" spc="-7"/>
              <a:t>it</a:t>
            </a:r>
            <a:r>
              <a:rPr b="1" spc="60"/>
              <a:t> </a:t>
            </a:r>
            <a:r>
              <a:rPr b="1" spc="-7"/>
              <a:t>and </a:t>
            </a:r>
            <a:endParaRPr lang="en-US" b="1" spc="-7"/>
          </a:p>
          <a:p>
            <a:pPr marL="84663" marR="6773" indent="0">
              <a:lnSpc>
                <a:spcPct val="150000"/>
              </a:lnSpc>
              <a:spcBef>
                <a:spcPts val="133"/>
              </a:spcBef>
              <a:buNone/>
              <a:tabLst>
                <a:tab pos="614663" algn="l"/>
                <a:tab pos="615511" algn="l"/>
              </a:tabLst>
            </a:pPr>
            <a:r>
              <a:rPr b="1" spc="-713"/>
              <a:t> </a:t>
            </a:r>
            <a:r>
              <a:rPr b="1" spc="-7"/>
              <a:t>also</a:t>
            </a:r>
            <a:r>
              <a:rPr b="1" spc="-13"/>
              <a:t> </a:t>
            </a:r>
            <a:r>
              <a:rPr b="1" spc="-7"/>
              <a:t>invokes the</a:t>
            </a:r>
            <a:r>
              <a:rPr b="1" spc="-13"/>
              <a:t> </a:t>
            </a:r>
            <a:r>
              <a:rPr b="1" spc="-7"/>
              <a:t>meaning </a:t>
            </a:r>
            <a:r>
              <a:rPr b="1"/>
              <a:t>of </a:t>
            </a:r>
            <a:r>
              <a:rPr b="1" spc="-7"/>
              <a:t>the</a:t>
            </a:r>
            <a:r>
              <a:rPr b="1" spc="-13"/>
              <a:t> </a:t>
            </a:r>
            <a:r>
              <a:rPr b="1" spc="-7"/>
              <a:t>sentences that</a:t>
            </a:r>
            <a:r>
              <a:rPr b="1" spc="-13"/>
              <a:t> </a:t>
            </a:r>
            <a:r>
              <a:rPr b="1"/>
              <a:t>follow </a:t>
            </a:r>
            <a:r>
              <a:rPr b="1" spc="-7"/>
              <a:t>it.</a:t>
            </a:r>
          </a:p>
          <a:p>
            <a:pPr marL="614663" marR="16933" indent="-530000">
              <a:lnSpc>
                <a:spcPct val="150000"/>
              </a:lnSpc>
              <a:buFont typeface="Arial MT"/>
              <a:buChar char="●"/>
              <a:tabLst>
                <a:tab pos="614663" algn="l"/>
                <a:tab pos="615511" algn="l"/>
              </a:tabLst>
            </a:pPr>
            <a:r>
              <a:rPr b="1" spc="-7"/>
              <a:t>Focuses</a:t>
            </a:r>
            <a:r>
              <a:rPr b="1" spc="160"/>
              <a:t> </a:t>
            </a:r>
            <a:r>
              <a:rPr b="1"/>
              <a:t>on</a:t>
            </a:r>
            <a:r>
              <a:rPr b="1" spc="160"/>
              <a:t> </a:t>
            </a:r>
            <a:r>
              <a:rPr b="1" spc="-7"/>
              <a:t>the</a:t>
            </a:r>
            <a:r>
              <a:rPr b="1" spc="152"/>
              <a:t> </a:t>
            </a:r>
            <a:r>
              <a:rPr b="1"/>
              <a:t>properties</a:t>
            </a:r>
            <a:r>
              <a:rPr b="1" spc="160"/>
              <a:t> </a:t>
            </a:r>
            <a:r>
              <a:rPr b="1"/>
              <a:t>of</a:t>
            </a:r>
            <a:r>
              <a:rPr b="1" spc="160"/>
              <a:t> </a:t>
            </a:r>
            <a:r>
              <a:rPr b="1" spc="-7"/>
              <a:t>the</a:t>
            </a:r>
            <a:r>
              <a:rPr b="1" spc="152"/>
              <a:t> </a:t>
            </a:r>
            <a:r>
              <a:rPr b="1" spc="-7"/>
              <a:t>text</a:t>
            </a:r>
            <a:r>
              <a:rPr b="1" spc="152"/>
              <a:t> </a:t>
            </a:r>
            <a:r>
              <a:rPr b="1" spc="-7"/>
              <a:t>as</a:t>
            </a:r>
            <a:r>
              <a:rPr b="1" spc="152"/>
              <a:t> </a:t>
            </a:r>
            <a:r>
              <a:rPr b="1"/>
              <a:t>a</a:t>
            </a:r>
            <a:r>
              <a:rPr b="1" spc="152"/>
              <a:t> </a:t>
            </a:r>
            <a:r>
              <a:rPr b="1" spc="-7"/>
              <a:t>whole</a:t>
            </a:r>
            <a:r>
              <a:rPr b="1" spc="160"/>
              <a:t> </a:t>
            </a:r>
            <a:r>
              <a:rPr b="1" spc="-7"/>
              <a:t>that</a:t>
            </a:r>
            <a:r>
              <a:rPr b="1" spc="152"/>
              <a:t> </a:t>
            </a:r>
            <a:r>
              <a:rPr b="1" spc="-7"/>
              <a:t>convey</a:t>
            </a:r>
            <a:r>
              <a:rPr b="1" spc="152"/>
              <a:t> </a:t>
            </a:r>
            <a:r>
              <a:rPr b="1" spc="-7"/>
              <a:t>meaning </a:t>
            </a:r>
            <a:r>
              <a:rPr b="1" spc="-713"/>
              <a:t> </a:t>
            </a:r>
            <a:r>
              <a:rPr b="1"/>
              <a:t>by</a:t>
            </a:r>
            <a:r>
              <a:rPr b="1" spc="-7"/>
              <a:t> </a:t>
            </a:r>
            <a:endParaRPr lang="en-US" b="1" spc="-7"/>
          </a:p>
          <a:p>
            <a:pPr marL="84663" marR="16933" indent="0">
              <a:lnSpc>
                <a:spcPct val="150000"/>
              </a:lnSpc>
              <a:buNone/>
              <a:tabLst>
                <a:tab pos="614663" algn="l"/>
                <a:tab pos="615511" algn="l"/>
              </a:tabLst>
            </a:pPr>
            <a:r>
              <a:rPr b="1" spc="-7"/>
              <a:t>making</a:t>
            </a:r>
            <a:r>
              <a:rPr b="1" spc="-13"/>
              <a:t> </a:t>
            </a:r>
            <a:r>
              <a:rPr b="1" spc="-7"/>
              <a:t>connections </a:t>
            </a:r>
            <a:r>
              <a:rPr b="1"/>
              <a:t>between</a:t>
            </a:r>
            <a:r>
              <a:rPr b="1" spc="-7"/>
              <a:t> component sentences.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685521" y="4778067"/>
            <a:ext cx="288290" cy="167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rgbClr val="59595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8585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 MT"/>
                <a:ea typeface="+mn-ea"/>
              </a:rPr>
              <a:pPr marL="10858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 MT"/>
              <a:ea typeface="+mn-e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2795" y="506244"/>
            <a:ext cx="11074400" cy="4003446"/>
          </a:xfrm>
          <a:prstGeom prst="rect">
            <a:avLst/>
          </a:prstGeom>
        </p:spPr>
        <p:txBody>
          <a:bodyPr vert="horz" wrap="square" lIns="0" tIns="240453" rIns="0" bIns="0" rtlCol="0">
            <a:spAutoFit/>
          </a:bodyPr>
          <a:lstStyle/>
          <a:p>
            <a:pPr marL="546086" marR="0" lvl="0" indent="-530000" algn="l" defTabSz="914400" rtl="0" eaLnBrk="1" fontAlgn="auto" latinLnBrk="0" hangingPunct="1">
              <a:lnSpc>
                <a:spcPct val="100000"/>
              </a:lnSpc>
              <a:spcBef>
                <a:spcPts val="1893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546086" algn="l"/>
                <a:tab pos="546932" algn="l"/>
              </a:tabLst>
              <a:defRPr/>
            </a:pP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It</a:t>
            </a:r>
            <a:r>
              <a:rPr kumimoji="0" sz="2933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means</a:t>
            </a:r>
            <a:r>
              <a:rPr kumimoji="0" sz="2933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a</a:t>
            </a:r>
            <a:r>
              <a:rPr kumimoji="0" sz="2933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sense</a:t>
            </a:r>
            <a:r>
              <a:rPr kumimoji="0" sz="2933" b="1" i="0" u="none" strike="noStrike" kern="1200" cap="none" spc="-2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of</a:t>
            </a:r>
            <a:r>
              <a:rPr kumimoji="0" sz="2933" b="1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the</a:t>
            </a:r>
            <a:r>
              <a:rPr kumimoji="0" sz="2933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context.</a:t>
            </a:r>
            <a:endParaRPr kumimoji="0" sz="2933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/>
            </a:endParaRPr>
          </a:p>
          <a:p>
            <a:pPr marL="546086" marR="6773" lvl="0" indent="-5300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546086" algn="l"/>
                <a:tab pos="546932" algn="l"/>
                <a:tab pos="1368179" algn="l"/>
                <a:tab pos="2892141" algn="l"/>
                <a:tab pos="3447540" algn="l"/>
                <a:tab pos="4228994" algn="l"/>
                <a:tab pos="5362653" algn="l"/>
                <a:tab pos="6889154" algn="l"/>
                <a:tab pos="8043979" algn="l"/>
                <a:tab pos="9510369" algn="l"/>
                <a:tab pos="10500097" algn="l"/>
              </a:tabLst>
              <a:defRPr/>
            </a:pP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Th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e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meanin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g	of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an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y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singl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e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sentenc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e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whic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h	depends	upon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that  sentences.</a:t>
            </a:r>
            <a:endParaRPr kumimoji="0" sz="2933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/>
            </a:endParaRPr>
          </a:p>
          <a:p>
            <a:pPr marL="546086" marR="0" lvl="0" indent="-530000" algn="l" defTabSz="914400" rtl="0" eaLnBrk="1" fontAlgn="auto" latinLnBrk="0" hangingPunct="1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546086" algn="l"/>
                <a:tab pos="546932" algn="l"/>
              </a:tabLst>
              <a:defRPr/>
            </a:pP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It</a:t>
            </a:r>
            <a:r>
              <a:rPr kumimoji="0" sz="2933" b="1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also</a:t>
            </a:r>
            <a:r>
              <a:rPr kumimoji="0" sz="2933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considers</a:t>
            </a:r>
            <a:r>
              <a:rPr kumimoji="0" sz="2933" b="1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the</a:t>
            </a:r>
            <a:r>
              <a:rPr kumimoji="0" sz="2933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meaning</a:t>
            </a:r>
            <a:r>
              <a:rPr kumimoji="0" sz="2933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of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the</a:t>
            </a:r>
            <a:r>
              <a:rPr kumimoji="0" sz="2933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following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sentence.</a:t>
            </a:r>
            <a:endParaRPr kumimoji="0" sz="2933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/>
            </a:endParaRPr>
          </a:p>
          <a:p>
            <a:pPr marL="546086" marR="13546" lvl="0" indent="-5300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546086" algn="l"/>
                <a:tab pos="546932" algn="l"/>
                <a:tab pos="1280127" algn="l"/>
                <a:tab pos="2846422" algn="l"/>
                <a:tab pos="3516119" algn="l"/>
                <a:tab pos="4497381" algn="l"/>
                <a:tab pos="5576007" algn="l"/>
                <a:tab pos="6080608" algn="l"/>
                <a:tab pos="6750305" algn="l"/>
                <a:tab pos="8248020" algn="l"/>
                <a:tab pos="9050640" algn="l"/>
                <a:tab pos="10341775" algn="l"/>
              </a:tabLst>
              <a:defRPr/>
            </a:pP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Fo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r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example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,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th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e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wor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d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"that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"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i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n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th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e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sentenc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e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"H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e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wante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d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that"  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depends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upon 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the</a:t>
            </a:r>
            <a:r>
              <a:rPr kumimoji="0" sz="2933" b="1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prior discourse 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context.</a:t>
            </a:r>
            <a:endParaRPr kumimoji="0" sz="2933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52D53-A6EF-4C71-BB07-A72098D9F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8636B-A3C3-4AEE-A1E9-74DC5E148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0D00A4-0AF9-4226-B7E0-11700AFA0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466" y="852127"/>
            <a:ext cx="10517068" cy="564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7125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662" y="183804"/>
            <a:ext cx="4269740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50799">
              <a:lnSpc>
                <a:spcPct val="100000"/>
              </a:lnSpc>
              <a:spcBef>
                <a:spcPts val="133"/>
              </a:spcBef>
            </a:pPr>
            <a:r>
              <a:rPr sz="3200" b="1">
                <a:solidFill>
                  <a:srgbClr val="C00000"/>
                </a:solidFill>
              </a:rPr>
              <a:t> </a:t>
            </a:r>
            <a:r>
              <a:rPr sz="3200" b="1" spc="-7">
                <a:solidFill>
                  <a:srgbClr val="C00000"/>
                </a:solidFill>
              </a:rPr>
              <a:t>Pragmati</a:t>
            </a:r>
            <a:r>
              <a:rPr sz="3200" b="1">
                <a:solidFill>
                  <a:srgbClr val="C00000"/>
                </a:solidFill>
              </a:rPr>
              <a:t>c</a:t>
            </a:r>
            <a:r>
              <a:rPr sz="3200" b="1" spc="-187">
                <a:solidFill>
                  <a:srgbClr val="C00000"/>
                </a:solidFill>
              </a:rPr>
              <a:t> </a:t>
            </a:r>
            <a:r>
              <a:rPr sz="3200" b="1" spc="-7">
                <a:solidFill>
                  <a:srgbClr val="C00000"/>
                </a:solidFill>
              </a:rPr>
              <a:t>Analysis</a:t>
            </a:r>
            <a:endParaRPr sz="3200" b="1">
              <a:solidFill>
                <a:srgbClr val="C00000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685521" y="4778067"/>
            <a:ext cx="288290" cy="167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rgbClr val="59595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8585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 MT"/>
                <a:ea typeface="+mn-ea"/>
              </a:rPr>
              <a:pPr marL="10858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 MT"/>
              <a:ea typeface="+mn-e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970" y="693345"/>
            <a:ext cx="11910060" cy="4643429"/>
          </a:xfrm>
          <a:prstGeom prst="rect">
            <a:avLst/>
          </a:prstGeom>
        </p:spPr>
        <p:txBody>
          <a:bodyPr vert="horz" wrap="square" lIns="0" tIns="16933" rIns="0" bIns="0" rtlCol="0" anchor="t">
            <a:spAutoFit/>
          </a:bodyPr>
          <a:lstStyle/>
          <a:p>
            <a:pPr marL="545465" marR="23495" lvl="0" indent="-529590" algn="l" defTabSz="914400" rtl="0" eaLnBrk="1" fontAlgn="auto" latinLnBrk="0" hangingPunct="1">
              <a:lnSpc>
                <a:spcPct val="114999"/>
              </a:lnSpc>
              <a:spcBef>
                <a:spcPts val="133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546086" algn="l"/>
                <a:tab pos="546932" algn="l"/>
                <a:tab pos="2051422" algn="l"/>
                <a:tab pos="2898914" algn="l"/>
                <a:tab pos="3847157" algn="l"/>
                <a:tab pos="5331327" algn="l"/>
                <a:tab pos="5785129" algn="l"/>
                <a:tab pos="6632621" algn="l"/>
                <a:tab pos="7415768" algn="l"/>
                <a:tab pos="8322525" algn="l"/>
                <a:tab pos="9666998" algn="l"/>
                <a:tab pos="11047030" algn="l"/>
              </a:tabLst>
              <a:defRPr/>
            </a:pP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Explain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s	how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extr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a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meanin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g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i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s	read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int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o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text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s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withou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actuall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y	being  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encoded</a:t>
            </a:r>
            <a:r>
              <a:rPr kumimoji="0" sz="2933" b="1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in them.</a:t>
            </a:r>
            <a:endParaRPr lang="en-US" sz="2933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Times New Roman"/>
            </a:endParaRPr>
          </a:p>
          <a:p>
            <a:pPr marL="545465" marR="10160" lvl="0" indent="-529590" algn="l" defTabSz="914400" rtl="0" eaLnBrk="1" fontAlgn="auto" latinLnBrk="0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546086" algn="l"/>
                <a:tab pos="546932" algn="l"/>
                <a:tab pos="1429138" algn="l"/>
                <a:tab pos="2852349" algn="l"/>
                <a:tab pos="3900496" algn="l"/>
                <a:tab pos="4991822" algn="l"/>
                <a:tab pos="6942493" algn="l"/>
                <a:tab pos="8567206" algn="l"/>
                <a:tab pos="9243676" algn="l"/>
                <a:tab pos="11577877" algn="l"/>
              </a:tabLst>
              <a:defRPr/>
            </a:pP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Thi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s	requires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muc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h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worl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d	knowledge,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includin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g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th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e	understanding	of  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intentions,</a:t>
            </a:r>
            <a:r>
              <a:rPr kumimoji="0" sz="2933" b="1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plans, 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and 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goals.</a:t>
            </a:r>
            <a:endParaRPr sz="2933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Times New Roman"/>
            </a:endParaRPr>
          </a:p>
          <a:p>
            <a:pPr marL="546086" marR="0" lvl="0" indent="-530000" algn="l" defTabSz="914400" rtl="0" eaLnBrk="1" fontAlgn="auto" latinLnBrk="0" hangingPunct="1">
              <a:lnSpc>
                <a:spcPct val="100000"/>
              </a:lnSpc>
              <a:spcBef>
                <a:spcPts val="527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546086" algn="l"/>
                <a:tab pos="546932" algn="l"/>
              </a:tabLst>
              <a:defRPr/>
            </a:pP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Consider</a:t>
            </a:r>
            <a:r>
              <a:rPr kumimoji="0" sz="2933" b="1" i="0" u="none" strike="noStrike" kern="1200" cap="none" spc="-3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the</a:t>
            </a:r>
            <a:r>
              <a:rPr kumimoji="0" sz="2933" b="1" i="0" u="none" strike="noStrike" kern="1200" cap="none" spc="-2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following</a:t>
            </a:r>
            <a:r>
              <a:rPr kumimoji="0" sz="2933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two</a:t>
            </a:r>
            <a:r>
              <a:rPr kumimoji="0" sz="2933" b="1" i="0" u="none" strike="noStrike" kern="1200" cap="none" spc="-2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sentences:</a:t>
            </a:r>
            <a:endParaRPr kumimoji="0" sz="2933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/>
            </a:endParaRPr>
          </a:p>
          <a:p>
            <a:pPr marL="1155671" marR="6773" lvl="1" indent="-584185" algn="l" defTabSz="914400" rtl="0" eaLnBrk="1" fontAlgn="auto" latinLnBrk="0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1155671" algn="l"/>
                <a:tab pos="1156518" algn="l"/>
              </a:tabLst>
              <a:defRPr/>
            </a:pP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The</a:t>
            </a:r>
            <a:r>
              <a:rPr kumimoji="0" sz="2933" b="1" i="0" u="none" strike="noStrike" kern="1200" cap="none" spc="14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city</a:t>
            </a:r>
            <a:r>
              <a:rPr kumimoji="0" sz="2933" b="1" i="0" u="none" strike="noStrike" kern="1200" cap="none" spc="14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police</a:t>
            </a:r>
            <a:r>
              <a:rPr kumimoji="0" sz="2933" b="1" i="0" u="none" strike="noStrike" kern="1200" cap="none" spc="16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refused</a:t>
            </a:r>
            <a:r>
              <a:rPr kumimoji="0" sz="2933" b="1" i="0" u="none" strike="noStrike" kern="1200" cap="none" spc="152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the</a:t>
            </a:r>
            <a:r>
              <a:rPr kumimoji="0" sz="2933" b="1" i="0" u="none" strike="noStrike" kern="1200" cap="none" spc="152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demonstrators</a:t>
            </a:r>
            <a:r>
              <a:rPr kumimoji="0" sz="2933" b="1" i="0" u="none" strike="noStrike" kern="1200" cap="none" spc="152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a</a:t>
            </a:r>
            <a:r>
              <a:rPr kumimoji="0" sz="2933" b="1" i="0" u="none" strike="noStrike" kern="1200" cap="none" spc="14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permit</a:t>
            </a:r>
            <a:r>
              <a:rPr kumimoji="0" sz="2933" b="1" i="0" u="none" strike="noStrike" kern="1200" cap="none" spc="16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because</a:t>
            </a:r>
            <a:r>
              <a:rPr kumimoji="0" sz="2933" b="1" i="0" u="none" strike="noStrike" kern="1200" cap="none" spc="152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they</a:t>
            </a:r>
            <a:r>
              <a:rPr kumimoji="0" sz="2933" b="1" i="0" u="none" strike="noStrike" kern="1200" cap="none" spc="152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feared </a:t>
            </a:r>
            <a:r>
              <a:rPr kumimoji="0" sz="2933" b="1" i="0" u="none" strike="noStrike" kern="1200" cap="none" spc="-7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violence.</a:t>
            </a:r>
          </a:p>
          <a:p>
            <a:pPr marL="1155065" marR="8255" lvl="1" indent="-583565" algn="l" defTabSz="914400" rtl="0" eaLnBrk="1" fontAlgn="auto" latinLnBrk="0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1155671" algn="l"/>
                <a:tab pos="1156518" algn="l"/>
                <a:tab pos="1963371" algn="l"/>
                <a:tab pos="2749905" algn="l"/>
                <a:tab pos="3891183" algn="l"/>
                <a:tab pos="5217875" algn="l"/>
                <a:tab pos="5901966" algn="l"/>
                <a:tab pos="8242941" algn="l"/>
                <a:tab pos="8638324" algn="l"/>
                <a:tab pos="9841407" algn="l"/>
                <a:tab pos="11251072" algn="l"/>
              </a:tabLst>
              <a:defRPr/>
            </a:pP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Th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e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cit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y	police	refused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th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e	demonstrators	a	permit	because	</a:t>
            </a:r>
            <a:r>
              <a:rPr kumimoji="0" sz="2933" b="1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they  advocated</a:t>
            </a:r>
            <a:r>
              <a:rPr kumimoji="0" sz="2933" b="1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 </a:t>
            </a: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/>
              </a:rPr>
              <a:t>revolution.</a:t>
            </a:r>
            <a:endParaRPr sz="2933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685521" y="4778067"/>
            <a:ext cx="288290" cy="167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rgbClr val="59595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8585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 MT"/>
                <a:ea typeface="+mn-ea"/>
              </a:rPr>
              <a:pPr marL="10858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 MT"/>
              <a:ea typeface="+mn-e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2795" y="208078"/>
            <a:ext cx="11350413" cy="4675361"/>
          </a:xfrm>
          <a:prstGeom prst="rect">
            <a:avLst/>
          </a:prstGeom>
        </p:spPr>
        <p:txBody>
          <a:bodyPr vert="horz" wrap="square" lIns="0" tIns="240453" rIns="0" bIns="0" rtlCol="0">
            <a:spAutoFit/>
          </a:bodyPr>
          <a:lstStyle/>
          <a:p>
            <a:pPr marL="546086" marR="0" lvl="0" indent="-530000" algn="l" defTabSz="914400" rtl="0" eaLnBrk="1" fontAlgn="auto" latinLnBrk="0" hangingPunct="1">
              <a:lnSpc>
                <a:spcPct val="100000"/>
              </a:lnSpc>
              <a:spcBef>
                <a:spcPts val="1893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546086" algn="l"/>
                <a:tab pos="546932" algn="l"/>
              </a:tabLst>
              <a:defRPr/>
            </a:pP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sz="2933" b="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meaning</a:t>
            </a:r>
            <a:r>
              <a:rPr kumimoji="0" sz="2933" b="0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“they”</a:t>
            </a:r>
            <a:r>
              <a:rPr kumimoji="0" sz="2933" b="0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</a:t>
            </a:r>
            <a:r>
              <a:rPr kumimoji="0" sz="2933" b="0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sz="2933" b="0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2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sentences</a:t>
            </a:r>
            <a:r>
              <a:rPr kumimoji="0" sz="2933" b="0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</a:t>
            </a:r>
            <a:r>
              <a:rPr kumimoji="0" sz="2933" b="0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different.</a:t>
            </a:r>
            <a:endParaRPr kumimoji="0" sz="29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546086" marR="6773" lvl="0" indent="-5300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546086" algn="l"/>
                <a:tab pos="546932" algn="l"/>
              </a:tabLst>
              <a:defRPr/>
            </a:pP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</a:t>
            </a:r>
            <a:r>
              <a:rPr kumimoji="0" sz="2933" b="0" i="0" u="none" strike="noStrike" kern="1200" cap="none" spc="48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order</a:t>
            </a:r>
            <a:r>
              <a:rPr kumimoji="0" sz="2933" b="0" i="0" u="none" strike="noStrike" kern="1200" cap="none" spc="48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</a:t>
            </a:r>
            <a:r>
              <a:rPr kumimoji="0" sz="2933" b="0" i="0" u="none" strike="noStrike" kern="1200" cap="none" spc="48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figure</a:t>
            </a:r>
            <a:r>
              <a:rPr kumimoji="0" sz="2933" b="0" i="0" u="none" strike="noStrike" kern="1200" cap="none" spc="48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out</a:t>
            </a:r>
            <a:r>
              <a:rPr kumimoji="0" sz="2933" b="0" i="0" u="none" strike="noStrike" kern="1200" cap="none" spc="48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sz="2933" b="0" i="0" u="none" strike="noStrike" kern="1200" cap="none" spc="48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difference,</a:t>
            </a:r>
            <a:r>
              <a:rPr kumimoji="0" sz="2933" b="0" i="0" u="none" strike="noStrike" kern="1200" cap="none" spc="48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world</a:t>
            </a:r>
            <a:r>
              <a:rPr kumimoji="0" sz="2933" b="0" i="0" u="none" strike="noStrike" kern="1200" cap="none" spc="48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knowledge</a:t>
            </a:r>
            <a:r>
              <a:rPr kumimoji="0" sz="2933" b="0" i="0" u="none" strike="noStrike" kern="1200" cap="none" spc="48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</a:t>
            </a:r>
            <a:r>
              <a:rPr kumimoji="0" sz="2933" b="0" i="0" u="none" strike="noStrike" kern="1200" cap="none" spc="48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knowledge </a:t>
            </a:r>
            <a:r>
              <a:rPr kumimoji="0" sz="2933" b="0" i="0" u="none" strike="noStrike" kern="1200" cap="none" spc="-7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bases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and inference</a:t>
            </a:r>
            <a:r>
              <a:rPr kumimoji="0" sz="2933" b="0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modules should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be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utilized.</a:t>
            </a:r>
          </a:p>
          <a:p>
            <a:pPr marL="546086" marR="18626" lvl="0" indent="-5300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546086" algn="l"/>
                <a:tab pos="546932" algn="l"/>
                <a:tab pos="2271550" algn="l"/>
                <a:tab pos="3682061" algn="l"/>
                <a:tab pos="4683643" algn="l"/>
                <a:tab pos="5664905" algn="l"/>
                <a:tab pos="6169506" algn="l"/>
                <a:tab pos="7646902" algn="l"/>
                <a:tab pos="8398723" algn="l"/>
                <a:tab pos="9892206" algn="l"/>
                <a:tab pos="10947972" algn="l"/>
              </a:tabLst>
              <a:defRPr/>
            </a:pP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Pragmati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	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analysi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	helps	users	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	discover	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thi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	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intende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	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sz="2933" b="0" i="0" u="none" strike="noStrike" kern="1200" cap="none" spc="-6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fect	by 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applying</a:t>
            </a:r>
            <a:r>
              <a:rPr kumimoji="0" sz="2933" b="0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sz="2933" b="0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set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rules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that characterize</a:t>
            </a:r>
            <a:r>
              <a:rPr kumimoji="0" sz="2933" b="0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cooperative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dialogues.</a:t>
            </a:r>
          </a:p>
          <a:p>
            <a:pPr marL="546086" marR="14393" lvl="0" indent="-5300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546086" algn="l"/>
                <a:tab pos="546932" algn="l"/>
              </a:tabLst>
              <a:defRPr/>
            </a:pP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E.g.,</a:t>
            </a:r>
            <a:r>
              <a:rPr kumimoji="0" sz="2933" b="0" i="0" u="none" strike="noStrike" kern="1200" cap="none" spc="20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"close</a:t>
            </a:r>
            <a:r>
              <a:rPr kumimoji="0" sz="2933" b="0" i="0" u="none" strike="noStrike" kern="1200" cap="none" spc="2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sz="2933" b="0" i="0" u="none" strike="noStrike" kern="1200" cap="none" spc="2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window?"</a:t>
            </a:r>
            <a:r>
              <a:rPr kumimoji="0" sz="2933" b="0" i="0" u="none" strike="noStrike" kern="1200" cap="none" spc="2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should</a:t>
            </a:r>
            <a:r>
              <a:rPr kumimoji="0" sz="2933" b="0" i="0" u="none" strike="noStrike" kern="1200" cap="none" spc="2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be</a:t>
            </a:r>
            <a:r>
              <a:rPr kumimoji="0" sz="2933" b="0" i="0" u="none" strike="noStrike" kern="1200" cap="none" spc="2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interpreted</a:t>
            </a:r>
            <a:r>
              <a:rPr kumimoji="0" sz="2933" b="0" i="0" u="none" strike="noStrike" kern="1200" cap="none" spc="2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as</a:t>
            </a:r>
            <a:r>
              <a:rPr kumimoji="0" sz="2933" b="0" i="0" u="none" strike="noStrike" kern="1200" cap="none" spc="2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sz="2933" b="0" i="0" u="none" strike="noStrike" kern="1200" cap="none" spc="2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request</a:t>
            </a:r>
            <a:r>
              <a:rPr kumimoji="0" sz="2933" b="0" i="0" u="none" strike="noStrike" kern="1200" cap="none" spc="2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instead</a:t>
            </a:r>
            <a:r>
              <a:rPr kumimoji="0" sz="2933" b="0" i="0" u="none" strike="noStrike" kern="1200" cap="none" spc="2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 </a:t>
            </a:r>
            <a:r>
              <a:rPr kumimoji="0" sz="2933" b="0" i="0" u="none" strike="noStrike" kern="1200" cap="none" spc="-7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</a:t>
            </a:r>
            <a:r>
              <a:rPr kumimoji="0" sz="2933" b="0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933" b="0" i="0" u="none" strike="noStrike" kern="1200" cap="none" spc="-3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order.</a:t>
            </a:r>
            <a:endParaRPr kumimoji="0" sz="29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AD051-AC1D-4152-B14E-22338F38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D8C11-CAA7-4A24-B43F-798863A4A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99A1B3-C73B-4F6B-B9C5-4D98B5D16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78" y="365126"/>
            <a:ext cx="11635409" cy="559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010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67B1F-027B-434B-90B1-A6FA5F9C2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Knowledge in language processing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A3710-8EC7-4069-BE4F-24159A915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583" y="1865381"/>
            <a:ext cx="11396870" cy="462749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/>
              <a:t>Engaging in complex language behavior requires various kinds of knowledge of language:</a:t>
            </a:r>
          </a:p>
          <a:p>
            <a:pPr algn="just"/>
            <a:r>
              <a:rPr lang="en-US" b="1"/>
              <a:t>Phonetics and Phonology — knowledge about linguistic sounds </a:t>
            </a:r>
          </a:p>
          <a:p>
            <a:pPr marL="0" indent="0" algn="just">
              <a:buNone/>
            </a:pPr>
            <a:r>
              <a:rPr lang="en-US" b="1"/>
              <a:t>• Morphology — knowledge of the meaningful components of words </a:t>
            </a:r>
          </a:p>
          <a:p>
            <a:pPr marL="0" indent="0" algn="just">
              <a:buNone/>
            </a:pPr>
            <a:r>
              <a:rPr lang="en-US" b="1"/>
              <a:t>• Syntax — knowledge of the structural relationships between words </a:t>
            </a:r>
          </a:p>
          <a:p>
            <a:pPr marL="0" indent="0" algn="just">
              <a:buNone/>
            </a:pPr>
            <a:r>
              <a:rPr lang="en-US" b="1"/>
              <a:t>• Semantics — knowledge of meaning </a:t>
            </a:r>
          </a:p>
          <a:p>
            <a:pPr marL="0" indent="0" algn="just">
              <a:buNone/>
            </a:pPr>
            <a:r>
              <a:rPr lang="en-US" b="1"/>
              <a:t>• Pragmatics — knowledge of the relationship of meaning to the goals and intentions of the speaker. </a:t>
            </a:r>
          </a:p>
          <a:p>
            <a:pPr marL="0" indent="0" algn="just">
              <a:buNone/>
            </a:pPr>
            <a:r>
              <a:rPr lang="en-US" b="1"/>
              <a:t>• Discourse — knowledge about linguistic units larger than a single utterance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8709985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NLP PIPELINE &amp; LEVELS OF ANALYSIS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 Action — One Sentence, Six Stages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10268712" y="41148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10268712" y="411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banks near the river are closed today."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11091672" cy="621792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148840"/>
            <a:ext cx="1828800" cy="62179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4884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/>
          </a:p>
        </p:txBody>
      </p:sp>
      <p:sp>
        <p:nvSpPr>
          <p:cNvPr id="12" name="Text 10"/>
          <p:cNvSpPr/>
          <p:nvPr/>
        </p:nvSpPr>
        <p:spPr>
          <a:xfrm>
            <a:off x="2560320" y="2148840"/>
            <a:ext cx="9079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["The","banks","near","the","river","are","closed","today","."]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548640" y="2770632"/>
            <a:ext cx="11091672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770632"/>
            <a:ext cx="1828800" cy="62179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7063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</a:t>
            </a:r>
            <a:endParaRPr lang="en-US" sz="1250"/>
          </a:p>
        </p:txBody>
      </p:sp>
      <p:sp>
        <p:nvSpPr>
          <p:cNvPr id="16" name="Text 14"/>
          <p:cNvSpPr/>
          <p:nvPr/>
        </p:nvSpPr>
        <p:spPr>
          <a:xfrm>
            <a:off x="2560320" y="2770632"/>
            <a:ext cx="9079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bank+s (plural noun)  |  close+d (past participle)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548640" y="3392424"/>
            <a:ext cx="11091672" cy="621792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392424"/>
            <a:ext cx="1828800" cy="62179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392424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</a:t>
            </a:r>
            <a:endParaRPr lang="en-US" sz="1250"/>
          </a:p>
        </p:txBody>
      </p:sp>
      <p:sp>
        <p:nvSpPr>
          <p:cNvPr id="20" name="Text 18"/>
          <p:cNvSpPr/>
          <p:nvPr/>
        </p:nvSpPr>
        <p:spPr>
          <a:xfrm>
            <a:off x="2560320" y="3392424"/>
            <a:ext cx="9079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Subject: "The banks"  |  Verb: "are closed"  |  Modifier: "near the river"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548640" y="4014216"/>
            <a:ext cx="11091672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014216"/>
            <a:ext cx="1828800" cy="62179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1421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250"/>
          </a:p>
        </p:txBody>
      </p:sp>
      <p:sp>
        <p:nvSpPr>
          <p:cNvPr id="24" name="Text 22"/>
          <p:cNvSpPr/>
          <p:nvPr/>
        </p:nvSpPr>
        <p:spPr>
          <a:xfrm>
            <a:off x="2560320" y="4014216"/>
            <a:ext cx="9079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"banks" = financial institution OR river bank? → Ambiguous without context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548640" y="4636008"/>
            <a:ext cx="11091672" cy="621792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636008"/>
            <a:ext cx="1828800" cy="62179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636008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Pragmatic</a:t>
            </a:r>
            <a:endParaRPr lang="en-US" sz="1250"/>
          </a:p>
        </p:txBody>
      </p:sp>
      <p:sp>
        <p:nvSpPr>
          <p:cNvPr id="28" name="Text 26"/>
          <p:cNvSpPr/>
          <p:nvPr/>
        </p:nvSpPr>
        <p:spPr>
          <a:xfrm>
            <a:off x="2560320" y="4636008"/>
            <a:ext cx="9079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this an announcement? A warning? Depends on who is speaking and to whom.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548640" y="5257800"/>
            <a:ext cx="11091672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5257800"/>
            <a:ext cx="1828800" cy="62179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2578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50"/>
          </a:p>
        </p:txBody>
      </p:sp>
      <p:sp>
        <p:nvSpPr>
          <p:cNvPr id="32" name="Text 30"/>
          <p:cNvSpPr/>
          <p:nvPr/>
        </p:nvSpPr>
        <p:spPr>
          <a:xfrm>
            <a:off x="2560320" y="5257800"/>
            <a:ext cx="9079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 → Negative ("closed")  |  NER → "river" = Location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NLP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NLP PIPELINE &amp; LEVELS OF ANALYSIS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Demo — Colab Notebook 1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10268712" y="41148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10268712" y="411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91672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10543032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nltk, spacy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pipeline as hf_pipeline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"The banks near the river are closed today."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1: Preprocessing — Tokenization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 = nltk.word_tokenize(text)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print('Tokens:', tokens)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3: Syntactic — POS Tagging + Dependencies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nlp = spacy.load('en_core_web_sm')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 = nlp(text)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token in doc: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print(token.text, token.pos_, token.dep_)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6: Application — Sentiment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 = hf_pipeline('sentiment-analysis')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print(sentiment(text))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0F5F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57607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Run on Google Colab — observe each stage's output on the same sentence</a:t>
            </a:r>
            <a:endParaRPr lang="en-US" sz="125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NLP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NLP PIPELINE &amp; LEVELS OF ANALYSIS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— Discuss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10268712" y="41148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85D4E"/>
          </a:solidFill>
          <a:ln/>
        </p:spPr>
      </p:sp>
      <p:sp>
        <p:nvSpPr>
          <p:cNvPr id="5" name="Text 3"/>
          <p:cNvSpPr/>
          <p:nvPr/>
        </p:nvSpPr>
        <p:spPr>
          <a:xfrm>
            <a:off x="10268712" y="411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5D4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1143000" y="1536192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skip Syntactic and go straight to Semantic?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1143000" y="1965960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50" i="1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transformers do — but they learn syntax implicitly. Classical systems couldn't. Black box vs. interpretable.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48640" y="26334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5D4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1143000" y="2615184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Tokenization fails?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1143000" y="3044952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50" i="1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downstream fails. Pipeline errors cascade — the biggest risk in production NLP systems.</a:t>
            </a:r>
            <a:endParaRPr lang="en-US" sz="1250"/>
          </a:p>
        </p:txBody>
      </p:sp>
      <p:sp>
        <p:nvSpPr>
          <p:cNvPr id="15" name="Shape 13"/>
          <p:cNvSpPr/>
          <p:nvPr/>
        </p:nvSpPr>
        <p:spPr>
          <a:xfrm>
            <a:off x="548640" y="37124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5D4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1143000" y="3694176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full pipeline used right now?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1143000" y="4123944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50" i="1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· Resume screeners · Legal document analysis · Gmail Smart Reply · Alexa/Siri</a:t>
            </a:r>
            <a:endParaRPr lang="en-US" sz="1250"/>
          </a:p>
        </p:txBody>
      </p:sp>
      <p:sp>
        <p:nvSpPr>
          <p:cNvPr id="19" name="Shape 17"/>
          <p:cNvSpPr/>
          <p:nvPr/>
        </p:nvSpPr>
        <p:spPr>
          <a:xfrm>
            <a:off x="548640" y="47914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5D4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791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1143000" y="4773168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to pipeline architecture?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1143000" y="5202936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50" i="1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neural models (BERT, GPT-4) — learn all stages together. Higher accuracy, harder to debug, needs massive data.</a:t>
            </a:r>
            <a:endParaRPr lang="en-US" sz="125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NLP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AMBIGUITY &amp; CHALLENGES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Ambiguity — Why NLP is Hard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10268712" y="41148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10268712" y="411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resolve ambiguity effortlessly using context, world knowledge, and intent. Machines have none of these by default.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2108606" cy="3566160"/>
          </a:xfrm>
          <a:prstGeom prst="roundRect">
            <a:avLst>
              <a:gd name="adj" fmla="val 3469"/>
            </a:avLst>
          </a:prstGeom>
          <a:solidFill>
            <a:srgbClr val="F4F7F8"/>
          </a:solidFill>
          <a:ln w="15240">
            <a:solidFill>
              <a:srgbClr val="0D73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57400"/>
            <a:ext cx="2108606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57400"/>
            <a:ext cx="21086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685800" y="2697480"/>
            <a:ext cx="183428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word, multiple meanings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685800" y="3794760"/>
            <a:ext cx="183428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went to the bank." → river or financial bank?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2794406" y="2057400"/>
            <a:ext cx="2108606" cy="3566160"/>
          </a:xfrm>
          <a:prstGeom prst="roundRect">
            <a:avLst>
              <a:gd name="adj" fmla="val 3469"/>
            </a:avLst>
          </a:prstGeom>
          <a:solidFill>
            <a:srgbClr val="F4F7F8"/>
          </a:solidFill>
          <a:ln w="15240">
            <a:solidFill>
              <a:srgbClr val="14BD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94406" y="2057400"/>
            <a:ext cx="2108606" cy="45720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15" name="Text 13"/>
          <p:cNvSpPr/>
          <p:nvPr/>
        </p:nvSpPr>
        <p:spPr>
          <a:xfrm>
            <a:off x="2794406" y="2057400"/>
            <a:ext cx="21086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2931566" y="2697480"/>
            <a:ext cx="183428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structure, multiple parse trees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2931566" y="3794760"/>
            <a:ext cx="183428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saw the man with the telescope." → who has it?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5040173" y="2057400"/>
            <a:ext cx="2108606" cy="3566160"/>
          </a:xfrm>
          <a:prstGeom prst="roundRect">
            <a:avLst>
              <a:gd name="adj" fmla="val 3469"/>
            </a:avLst>
          </a:prstGeom>
          <a:solidFill>
            <a:srgbClr val="F4F7F8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40173" y="2057400"/>
            <a:ext cx="2108606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5040173" y="2057400"/>
            <a:ext cx="21086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5177333" y="2697480"/>
            <a:ext cx="183428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sentence, multiple scope readings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5177333" y="3794760"/>
            <a:ext cx="183428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student solved a problem." → same or different?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7285939" y="2057400"/>
            <a:ext cx="2108606" cy="3566160"/>
          </a:xfrm>
          <a:prstGeom prst="roundRect">
            <a:avLst>
              <a:gd name="adj" fmla="val 3469"/>
            </a:avLst>
          </a:prstGeom>
          <a:solidFill>
            <a:srgbClr val="F4F7F8"/>
          </a:solidFill>
          <a:ln w="15240">
            <a:solidFill>
              <a:srgbClr val="E85D4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85939" y="2057400"/>
            <a:ext cx="2108606" cy="457200"/>
          </a:xfrm>
          <a:prstGeom prst="rect">
            <a:avLst/>
          </a:prstGeom>
          <a:solidFill>
            <a:srgbClr val="E85D4E"/>
          </a:solidFill>
          <a:ln/>
        </p:spPr>
      </p:sp>
      <p:sp>
        <p:nvSpPr>
          <p:cNvPr id="25" name="Text 23"/>
          <p:cNvSpPr/>
          <p:nvPr/>
        </p:nvSpPr>
        <p:spPr>
          <a:xfrm>
            <a:off x="7285939" y="2057400"/>
            <a:ext cx="21086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Pragmatic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7423099" y="2697480"/>
            <a:ext cx="183428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 meaning ≠ intended meaning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7423099" y="3794760"/>
            <a:ext cx="183428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pass the salt?" → a request, not a question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9531706" y="2057400"/>
            <a:ext cx="2108606" cy="3566160"/>
          </a:xfrm>
          <a:prstGeom prst="roundRect">
            <a:avLst>
              <a:gd name="adj" fmla="val 3469"/>
            </a:avLst>
          </a:prstGeom>
          <a:solidFill>
            <a:srgbClr val="F4F7F8"/>
          </a:solidFill>
          <a:ln w="15240">
            <a:solidFill>
              <a:srgbClr val="6B4C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31706" y="2057400"/>
            <a:ext cx="2108606" cy="457200"/>
          </a:xfrm>
          <a:prstGeom prst="rect">
            <a:avLst/>
          </a:prstGeom>
          <a:solidFill>
            <a:srgbClr val="6B4C9A"/>
          </a:solidFill>
          <a:ln/>
        </p:spPr>
      </p:sp>
      <p:sp>
        <p:nvSpPr>
          <p:cNvPr id="30" name="Text 28"/>
          <p:cNvSpPr/>
          <p:nvPr/>
        </p:nvSpPr>
        <p:spPr>
          <a:xfrm>
            <a:off x="9531706" y="2057400"/>
            <a:ext cx="21086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Anaphoric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9668866" y="2697480"/>
            <a:ext cx="183428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 with multiple referents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9668866" y="3794760"/>
            <a:ext cx="183428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"Margaret invited Susan. She gave her lunch." → who?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NLP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AF6F3-48C3-B69E-6B4A-2FADCC8E5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Ambiguities and its types in NLP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F7F70-61D8-CB96-2D15-22A93146E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0218"/>
          </a:xfrm>
        </p:spPr>
        <p:txBody>
          <a:bodyPr/>
          <a:lstStyle/>
          <a:p>
            <a:pPr algn="just"/>
            <a:r>
              <a:rPr lang="en-IN" b="1"/>
              <a:t>Multiple meaning or interpretation of a word, sentence or phrase.</a:t>
            </a:r>
          </a:p>
          <a:p>
            <a:pPr algn="just"/>
            <a:r>
              <a:rPr lang="en-IN" b="1"/>
              <a:t>We can say that it is any case where a surface form might have multiple interpretations.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b="1"/>
              <a:t>Types of ambiguity:</a:t>
            </a:r>
          </a:p>
          <a:p>
            <a:pPr marL="514350" indent="-514350" algn="just">
              <a:buAutoNum type="arabicPeriod"/>
            </a:pPr>
            <a:r>
              <a:rPr lang="en-IN" b="1"/>
              <a:t>Lexical ambiguity</a:t>
            </a:r>
          </a:p>
          <a:p>
            <a:pPr marL="514350" indent="-514350" algn="just">
              <a:buAutoNum type="arabicPeriod"/>
            </a:pPr>
            <a:r>
              <a:rPr lang="en-IN" b="1"/>
              <a:t>Syntactic ambiguity</a:t>
            </a:r>
          </a:p>
          <a:p>
            <a:pPr marL="514350" indent="-514350" algn="just">
              <a:buAutoNum type="arabicPeriod"/>
            </a:pPr>
            <a:r>
              <a:rPr lang="en-IN" b="1"/>
              <a:t>Semantic ambiguity</a:t>
            </a:r>
          </a:p>
          <a:p>
            <a:pPr marL="514350" indent="-514350" algn="just">
              <a:buAutoNum type="arabicPeriod"/>
            </a:pPr>
            <a:r>
              <a:rPr lang="en-IN" b="1"/>
              <a:t>Anaphoric ambiguity</a:t>
            </a:r>
          </a:p>
          <a:p>
            <a:pPr marL="514350" indent="-514350" algn="just">
              <a:buAutoNum type="arabicPeriod"/>
            </a:pPr>
            <a:r>
              <a:rPr lang="en-IN" b="1"/>
              <a:t>Pragmatic ambiguity</a:t>
            </a:r>
          </a:p>
        </p:txBody>
      </p:sp>
    </p:spTree>
    <p:extLst>
      <p:ext uri="{BB962C8B-B14F-4D97-AF65-F5344CB8AC3E}">
        <p14:creationId xmlns:p14="http://schemas.microsoft.com/office/powerpoint/2010/main" val="41362085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83BE-B37F-5745-8559-66EB3A753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Morphological/Lexical/word category ambiguity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8A8CE-2574-6086-4E11-ACEE10468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/>
              <a:t>Ambiguity of a single word is called as lexical ambiguity.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7864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3D0E73A-23D4-44B1-7BD1-693025EA8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209550"/>
            <a:ext cx="11544300" cy="64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7227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E2355-C7D1-C334-AB21-6168B662B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530"/>
            <a:ext cx="10515600" cy="774562"/>
          </a:xfrm>
        </p:spPr>
        <p:txBody>
          <a:bodyPr/>
          <a:lstStyle/>
          <a:p>
            <a:pPr algn="ctr"/>
            <a:r>
              <a:rPr lang="en-US" altLang="en-US" b="1">
                <a:solidFill>
                  <a:srgbClr val="C00000"/>
                </a:solidFill>
              </a:rPr>
              <a:t>Lexical Disambiguation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23D75-B6D9-A67C-B302-ECF981092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583" y="960092"/>
            <a:ext cx="11343860" cy="5652743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First step: </a:t>
            </a:r>
            <a:r>
              <a:rPr lang="en-US" altLang="en-US" b="1" i="1" u="sng"/>
              <a:t>part of Speech Disambiguation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b="1" i="1"/>
              <a:t>Dog</a:t>
            </a:r>
            <a:r>
              <a:rPr lang="en-US" altLang="en-US" sz="2800" b="1"/>
              <a:t> as a </a:t>
            </a:r>
            <a:r>
              <a:rPr lang="en-US" altLang="en-US" sz="2800" b="1" i="1"/>
              <a:t>noun </a:t>
            </a:r>
            <a:r>
              <a:rPr lang="en-US" altLang="en-US" sz="2800" b="1"/>
              <a:t>(animal)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b="1" i="1"/>
              <a:t>Dog </a:t>
            </a:r>
            <a:r>
              <a:rPr lang="en-US" altLang="en-US" sz="2800" b="1"/>
              <a:t>as a verb (</a:t>
            </a:r>
            <a:r>
              <a:rPr lang="en-US" altLang="en-US" sz="2800" b="1" i="1"/>
              <a:t>to pursue)</a:t>
            </a:r>
          </a:p>
          <a:p>
            <a:pPr marL="914400" lvl="2" indent="0" eaLnBrk="1" hangingPunct="1">
              <a:lnSpc>
                <a:spcPct val="90000"/>
              </a:lnSpc>
              <a:buNone/>
            </a:pPr>
            <a:r>
              <a:rPr lang="en-US" altLang="en-US" sz="2800" b="1" i="1" err="1"/>
              <a:t>eg.</a:t>
            </a:r>
            <a:r>
              <a:rPr lang="en-US" sz="2400" b="0" i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b="0" i="0">
                <a:effectLst/>
              </a:rPr>
              <a:t>A shadowy figure was dogging their every move</a:t>
            </a:r>
            <a:endParaRPr lang="en-US" altLang="en-US" sz="2800" b="1" i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 u="sng"/>
              <a:t>Sense Disambiguation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b="1" i="1"/>
              <a:t>Dog (</a:t>
            </a:r>
            <a:r>
              <a:rPr lang="en-US" altLang="en-US" sz="2800" b="1"/>
              <a:t>as </a:t>
            </a:r>
            <a:r>
              <a:rPr lang="en-US" altLang="en-US" sz="2800" b="1" i="1"/>
              <a:t>animal)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b="1" i="1"/>
              <a:t>Dog (</a:t>
            </a:r>
            <a:r>
              <a:rPr lang="en-US" altLang="en-US" sz="2800" b="1"/>
              <a:t>as </a:t>
            </a:r>
            <a:r>
              <a:rPr lang="en-US" altLang="en-US" sz="2800" b="1" i="1"/>
              <a:t>a very detestable person)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 u="sng"/>
              <a:t>Needs word relationships in a context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b="1" i="1"/>
              <a:t>The chair emphasized the need for formal education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b="1"/>
              <a:t>Satellite Channel Ad: </a:t>
            </a:r>
            <a:r>
              <a:rPr lang="en-US" altLang="en-US" sz="2800" b="1" i="1"/>
              <a:t>Watch what you want, when you want </a:t>
            </a:r>
            <a:r>
              <a:rPr lang="en-US" altLang="en-US" sz="2800" b="1"/>
              <a:t>(two senses of watch)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b="1"/>
              <a:t>Ground breaking ceremony/research</a:t>
            </a:r>
          </a:p>
          <a:p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17143614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D1AEF-64E5-A308-2B68-30F563DD2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020"/>
            <a:ext cx="10515600" cy="838033"/>
          </a:xfrm>
        </p:spPr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Syntactic ambiguity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312C5-8ADC-5607-EF9E-E37D96BBE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0053"/>
            <a:ext cx="10515600" cy="5076910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b="1"/>
              <a:t>Syntactic ambiguity occurs when sentence is parsed in different ways.</a:t>
            </a:r>
          </a:p>
          <a:p>
            <a:pPr marL="514350" indent="-514350" algn="just">
              <a:buAutoNum type="arabicPeriod"/>
            </a:pPr>
            <a:r>
              <a:rPr lang="en-IN" b="1"/>
              <a:t>In this, ambiguity is present in </a:t>
            </a:r>
            <a:r>
              <a:rPr lang="en-IN" b="1" u="sng"/>
              <a:t>sentence structure</a:t>
            </a:r>
            <a:r>
              <a:rPr lang="en-IN" b="1"/>
              <a:t>. It specifies the possible arrangements of words in given sentence.</a:t>
            </a:r>
          </a:p>
          <a:p>
            <a:pPr marL="514350" indent="-514350" algn="just">
              <a:buAutoNum type="arabicPeriod"/>
            </a:pPr>
            <a:r>
              <a:rPr lang="en-IN" b="1"/>
              <a:t>If </a:t>
            </a:r>
            <a:r>
              <a:rPr lang="en-IN" b="1" u="sng"/>
              <a:t>grammar rules </a:t>
            </a:r>
            <a:r>
              <a:rPr lang="en-IN" b="1"/>
              <a:t>are itself ambiguous, then ambiguity will be in sentence structure so handling this ambiguity and finding correct grammar is an important task.</a:t>
            </a:r>
          </a:p>
          <a:p>
            <a:pPr algn="just"/>
            <a:r>
              <a:rPr lang="en-IN" b="1"/>
              <a:t>Example :</a:t>
            </a:r>
          </a:p>
          <a:p>
            <a:pPr marL="0" indent="0" algn="just">
              <a:buNone/>
            </a:pPr>
            <a:r>
              <a:rPr lang="en-IN" b="1">
                <a:solidFill>
                  <a:srgbClr val="002060"/>
                </a:solidFill>
              </a:rPr>
              <a:t> The man saw the boy with the telescope.</a:t>
            </a:r>
          </a:p>
          <a:p>
            <a:pPr marL="0" indent="0" algn="just">
              <a:buNone/>
            </a:pPr>
            <a:r>
              <a:rPr lang="en-IN" b="1"/>
              <a:t>I1: The man saw the boy carrying the telescope.</a:t>
            </a:r>
          </a:p>
          <a:p>
            <a:pPr marL="0" indent="0" algn="just">
              <a:buNone/>
            </a:pPr>
            <a:r>
              <a:rPr lang="en-IN" b="1"/>
              <a:t>I2: The man saw the boy through the telescope.</a:t>
            </a:r>
          </a:p>
          <a:p>
            <a:pPr marL="0" indent="0" algn="just">
              <a:buNone/>
            </a:pP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28356136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08CA3-C21F-0894-CE3A-19040F25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104"/>
            <a:ext cx="10515600" cy="1105866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4400" b="1">
                <a:solidFill>
                  <a:srgbClr val="C00000"/>
                </a:solidFill>
              </a:rPr>
              <a:t>Challenges in Syntactic Processing: Structural Ambiguity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42639-9371-0A52-A5DB-AB619B876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8" y="1545396"/>
            <a:ext cx="11237843" cy="5312604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400" b="1" u="sng"/>
              <a:t>Scope</a:t>
            </a:r>
            <a:endParaRPr lang="en-US" altLang="en-US" sz="2400" b="1" i="1" u="sng"/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en-US" sz="2400" b="1" i="1"/>
              <a:t>1.The old men and women were taken to safe locations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en-US" sz="2400" b="1" i="1"/>
              <a:t>(old men and women) </a:t>
            </a:r>
            <a:r>
              <a:rPr lang="en-US" altLang="en-US" sz="2400" b="1"/>
              <a:t>vs. </a:t>
            </a:r>
            <a:r>
              <a:rPr lang="en-US" altLang="en-US" sz="2400" b="1" i="1"/>
              <a:t>((old men) and women)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en-US" sz="2400" b="1" i="1"/>
              <a:t>2. No smoking areas will allow </a:t>
            </a:r>
            <a:r>
              <a:rPr lang="en-US" altLang="en-US" sz="2400" b="1" i="1" err="1"/>
              <a:t>Hookas</a:t>
            </a:r>
            <a:r>
              <a:rPr lang="en-US" altLang="en-US" sz="2400" b="1" i="1"/>
              <a:t> inside</a:t>
            </a:r>
            <a:endParaRPr lang="en-US" altLang="en-US" sz="2400" b="1"/>
          </a:p>
          <a:p>
            <a:pPr eaLnBrk="1" hangingPunct="1">
              <a:lnSpc>
                <a:spcPct val="80000"/>
              </a:lnSpc>
            </a:pPr>
            <a:r>
              <a:rPr lang="en-US" altLang="en-US" sz="2400" b="1" u="sng"/>
              <a:t>Preposition Phrase Attachment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400" b="1" i="1"/>
              <a:t>I saw the boy with a telescope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en-US" sz="2400" b="1"/>
              <a:t>    (who has the </a:t>
            </a:r>
            <a:r>
              <a:rPr lang="en-US" altLang="en-US" sz="2400" b="1" i="1"/>
              <a:t>telescope?</a:t>
            </a:r>
            <a:r>
              <a:rPr lang="en-US" altLang="en-US" sz="2400" b="1"/>
              <a:t>)</a:t>
            </a:r>
          </a:p>
          <a:p>
            <a:pPr lvl="2">
              <a:lnSpc>
                <a:spcPct val="80000"/>
              </a:lnSpc>
            </a:pPr>
            <a:r>
              <a:rPr lang="en-US" altLang="en-US" sz="2400" b="1"/>
              <a:t>Very ubiquitous: newspaper headline “</a:t>
            </a:r>
            <a:r>
              <a:rPr lang="en-US" altLang="en-US" sz="2400" b="1" i="1"/>
              <a:t>20 years later, BMC pays father 20 lakhs for causing son’s death”</a:t>
            </a:r>
            <a:endParaRPr lang="en-US" altLang="en-US" sz="2400" b="1"/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en-US" sz="2400" b="1"/>
              <a:t>  </a:t>
            </a:r>
            <a:r>
              <a:rPr lang="en-US" altLang="en-US" sz="2400" b="1" i="1"/>
              <a:t>  </a:t>
            </a:r>
          </a:p>
          <a:p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925849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CD242-89B0-8BB6-AC0E-D5DEB3CF9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775" y="159026"/>
            <a:ext cx="11926956" cy="669897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i="0">
                <a:solidFill>
                  <a:srgbClr val="002060"/>
                </a:solidFill>
                <a:effectLst/>
              </a:rPr>
              <a:t>Example 2:</a:t>
            </a:r>
          </a:p>
          <a:p>
            <a:pPr algn="just"/>
            <a:r>
              <a:rPr lang="en-US" b="1" i="0" u="sng">
                <a:solidFill>
                  <a:srgbClr val="000000"/>
                </a:solidFill>
                <a:effectLst/>
              </a:rPr>
              <a:t>Phrase attachment</a:t>
            </a:r>
            <a:r>
              <a:rPr lang="en-US" b="1" i="0">
                <a:solidFill>
                  <a:srgbClr val="000000"/>
                </a:solidFill>
                <a:effectLst/>
              </a:rPr>
              <a:t>:</a:t>
            </a:r>
          </a:p>
          <a:p>
            <a:pPr marL="0" indent="0" algn="just">
              <a:buNone/>
            </a:pPr>
            <a:r>
              <a:rPr lang="en-US" b="1" i="0">
                <a:solidFill>
                  <a:srgbClr val="000000"/>
                </a:solidFill>
                <a:effectLst/>
              </a:rPr>
              <a:t>"Mary ate a salad with spinach from California for lunch on Tuesday."</a:t>
            </a:r>
            <a:br>
              <a:rPr lang="en-US" b="1"/>
            </a:br>
            <a:r>
              <a:rPr lang="en-US" b="1"/>
              <a:t>-&gt;</a:t>
            </a:r>
            <a:r>
              <a:rPr lang="en-US" b="1" i="0">
                <a:solidFill>
                  <a:srgbClr val="000000"/>
                </a:solidFill>
                <a:effectLst/>
              </a:rPr>
              <a:t>"with spinach" can attach to "salad" or "ate"</a:t>
            </a:r>
            <a:br>
              <a:rPr lang="en-US" b="1"/>
            </a:br>
            <a:r>
              <a:rPr lang="en-US" b="1"/>
              <a:t>-&gt;</a:t>
            </a:r>
            <a:r>
              <a:rPr lang="en-US" b="1" i="0">
                <a:solidFill>
                  <a:srgbClr val="000000"/>
                </a:solidFill>
                <a:effectLst/>
              </a:rPr>
              <a:t>"from California" can attach to "spinach", "salad", or "ate".</a:t>
            </a:r>
            <a:br>
              <a:rPr lang="en-US" b="1"/>
            </a:br>
            <a:r>
              <a:rPr lang="en-US" b="1"/>
              <a:t>-&gt;</a:t>
            </a:r>
            <a:r>
              <a:rPr lang="en-US" b="1" i="0">
                <a:solidFill>
                  <a:srgbClr val="000000"/>
                </a:solidFill>
                <a:effectLst/>
              </a:rPr>
              <a:t>"for lunch" can attach to "California", "spinach", "salad", or "ate"</a:t>
            </a:r>
            <a:br>
              <a:rPr lang="en-US" b="1"/>
            </a:br>
            <a:r>
              <a:rPr lang="en-US" b="1">
                <a:solidFill>
                  <a:srgbClr val="000000"/>
                </a:solidFill>
              </a:rPr>
              <a:t>-&gt;</a:t>
            </a:r>
            <a:r>
              <a:rPr lang="en-US" b="1" i="0">
                <a:solidFill>
                  <a:srgbClr val="000000"/>
                </a:solidFill>
                <a:effectLst/>
              </a:rPr>
              <a:t>"on Tuesday" can attach to "lunch", "California", "spinach", "salad" or "ate".</a:t>
            </a:r>
            <a:br>
              <a:rPr lang="en-US" b="1"/>
            </a:br>
            <a:r>
              <a:rPr lang="en-US" b="1" i="0">
                <a:solidFill>
                  <a:srgbClr val="000000"/>
                </a:solidFill>
                <a:effectLst/>
              </a:rPr>
              <a:t>(Crossovers are not allowed, so you cannot both attach "on Tuesday" to "spinach" and attach "for lunch" to “salad”. Nonetheless there are 42 possible different parse trees.)</a:t>
            </a:r>
          </a:p>
          <a:p>
            <a:pPr algn="just"/>
            <a:r>
              <a:rPr lang="en-US" b="1">
                <a:solidFill>
                  <a:srgbClr val="002060"/>
                </a:solidFill>
              </a:rPr>
              <a:t>Example 3:</a:t>
            </a:r>
          </a:p>
          <a:p>
            <a:pPr algn="just"/>
            <a:r>
              <a:rPr lang="en-US" b="1" i="0" u="sng">
                <a:solidFill>
                  <a:srgbClr val="000000"/>
                </a:solidFill>
                <a:effectLst/>
              </a:rPr>
              <a:t>Conjunction:</a:t>
            </a:r>
          </a:p>
          <a:p>
            <a:pPr marL="0" indent="0" algn="just">
              <a:buNone/>
            </a:pPr>
            <a:r>
              <a:rPr lang="en-US" b="1" i="0">
                <a:solidFill>
                  <a:srgbClr val="000000"/>
                </a:solidFill>
                <a:effectLst/>
              </a:rPr>
              <a:t>"Mary ate a salad with spinach from California for lunch on Tuesday and Wednesday."</a:t>
            </a:r>
            <a:br>
              <a:rPr lang="en-US" b="1"/>
            </a:br>
            <a:r>
              <a:rPr lang="en-US" b="1" i="0">
                <a:solidFill>
                  <a:srgbClr val="000000"/>
                </a:solidFill>
                <a:effectLst/>
              </a:rPr>
              <a:t>"Wednesday" can be conjoined with salad, spinach, California, lunch, or Tuesday.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38282149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FCFC4-5B7C-4364-8B10-3523BDAEE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6D864-8066-45D9-8C21-0F5CF297A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1CEF48-869D-9F8E-B2CA-2C4301304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" y="0"/>
            <a:ext cx="117252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9565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347B8-026E-A392-6998-FFC445518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Semantic ambiguity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AA225-4CC4-82E9-F289-D9D44DA46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i="0">
                <a:solidFill>
                  <a:srgbClr val="000000"/>
                </a:solidFill>
                <a:effectLst/>
              </a:rPr>
              <a:t>Even after the syntax and the meanings of the individual words have been resolved, there are two ways of reading the sentence.</a:t>
            </a:r>
            <a:endParaRPr lang="en-US" b="1">
              <a:solidFill>
                <a:srgbClr val="000000"/>
              </a:solidFill>
            </a:endParaRPr>
          </a:p>
          <a:p>
            <a:pPr algn="just"/>
            <a:r>
              <a:rPr lang="en-US" b="1">
                <a:solidFill>
                  <a:srgbClr val="000000"/>
                </a:solidFill>
              </a:rPr>
              <a:t>Semantic </a:t>
            </a:r>
            <a:r>
              <a:rPr lang="en-US" b="1" i="0">
                <a:solidFill>
                  <a:srgbClr val="000000"/>
                </a:solidFill>
                <a:effectLst/>
              </a:rPr>
              <a:t>ambiguity occurs when the meaning of the words themselves can be misinterpreted. In other words, semantic ambiguity happens when a sentence contains an ambiguous word or phrase. 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42649247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D5FA2-E7E5-4310-984E-DCEB678F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AC421-4B5F-4C54-AA39-0D91EDD38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A7493A-0DA8-CF65-4AB4-E9AE816DD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" y="42862"/>
            <a:ext cx="11725275" cy="677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0631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E1C8D-8810-D122-B397-0C15BB6D3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409"/>
            <a:ext cx="10515600" cy="761310"/>
          </a:xfrm>
        </p:spPr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Anaphoric ambiguity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F0DA6-E4C3-79E6-92F4-5C2CA6527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104" y="966720"/>
            <a:ext cx="10959548" cy="5685872"/>
          </a:xfrm>
        </p:spPr>
        <p:txBody>
          <a:bodyPr>
            <a:normAutofit/>
          </a:bodyPr>
          <a:lstStyle/>
          <a:p>
            <a:pPr algn="just"/>
            <a:r>
              <a:rPr lang="en-US" b="1" i="0">
                <a:solidFill>
                  <a:srgbClr val="000000"/>
                </a:solidFill>
                <a:effectLst/>
              </a:rPr>
              <a:t>A phrase or word refers to something previously mentioned, but there is more than one possibility.</a:t>
            </a:r>
          </a:p>
          <a:p>
            <a:pPr algn="just"/>
            <a:r>
              <a:rPr lang="en-US" b="1">
                <a:solidFill>
                  <a:srgbClr val="000000"/>
                </a:solidFill>
              </a:rPr>
              <a:t>Examples:</a:t>
            </a:r>
          </a:p>
          <a:p>
            <a:pPr marL="514350" indent="-514350" algn="just">
              <a:buAutoNum type="arabicPeriod"/>
            </a:pPr>
            <a:r>
              <a:rPr lang="en-US" b="1" i="0">
                <a:solidFill>
                  <a:srgbClr val="000000"/>
                </a:solidFill>
                <a:effectLst/>
              </a:rPr>
              <a:t>"Margaret invited Susan for a visit, and she gave her a good lunch." (she = Margaret; her = Susan)</a:t>
            </a:r>
          </a:p>
          <a:p>
            <a:pPr marL="514350" indent="-514350" algn="just">
              <a:buAutoNum type="arabicPeriod"/>
            </a:pPr>
            <a:r>
              <a:rPr lang="en-US" b="1" i="0">
                <a:solidFill>
                  <a:srgbClr val="000000"/>
                </a:solidFill>
                <a:effectLst/>
              </a:rPr>
              <a:t>"Margaret invited Susan for a visit, but she told her she had to go to work" (she = Susan; her = Margaret.)</a:t>
            </a:r>
          </a:p>
          <a:p>
            <a:pPr marL="514350" indent="-514350" algn="just">
              <a:buAutoNum type="arabicPeriod"/>
            </a:pPr>
            <a:r>
              <a:rPr lang="en-US" b="1" i="0">
                <a:solidFill>
                  <a:srgbClr val="000000"/>
                </a:solidFill>
                <a:effectLst/>
              </a:rPr>
              <a:t>"On the train to Boston, George chatted with another passenger. The man turned out to be a professional hockey player." (The man = another passenger).</a:t>
            </a:r>
          </a:p>
          <a:p>
            <a:pPr marL="514350" indent="-514350" algn="just">
              <a:buAutoNum type="arabicPeriod"/>
            </a:pPr>
            <a:r>
              <a:rPr lang="en-US" b="1" i="0">
                <a:solidFill>
                  <a:srgbClr val="000000"/>
                </a:solidFill>
                <a:effectLst/>
              </a:rPr>
              <a:t>"I went to the hospital, and they told me to go home and rest." (They = the hospital staff.)</a:t>
            </a:r>
          </a:p>
          <a:p>
            <a:pPr marL="0" indent="0" algn="just">
              <a:buNone/>
            </a:pP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871512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C027D-6F6A-44D6-BDEC-C4D5BCC0C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Anaphoric ambiguity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2D3A9-9F77-4966-A844-AA90014F6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0705"/>
          </a:xfrm>
        </p:spPr>
        <p:txBody>
          <a:bodyPr>
            <a:normAutofit/>
          </a:bodyPr>
          <a:lstStyle/>
          <a:p>
            <a:pPr algn="just"/>
            <a:r>
              <a:rPr lang="en-US" b="1" i="0" u="sng">
                <a:solidFill>
                  <a:srgbClr val="000000"/>
                </a:solidFill>
                <a:effectLst/>
              </a:rPr>
              <a:t>Non-literal speech</a:t>
            </a:r>
            <a:endParaRPr lang="en-US" b="1" i="0">
              <a:solidFill>
                <a:srgbClr val="000000"/>
              </a:solidFill>
              <a:effectLst/>
            </a:endParaRPr>
          </a:p>
          <a:p>
            <a:pPr marL="514350" indent="-514350" algn="just">
              <a:buAutoNum type="arabicPeriod"/>
            </a:pPr>
            <a:r>
              <a:rPr lang="en-US" b="1" i="0">
                <a:solidFill>
                  <a:srgbClr val="000000"/>
                </a:solidFill>
                <a:effectLst/>
              </a:rPr>
              <a:t>"The White House announced today that ..." ("White House" = the President's staff) </a:t>
            </a:r>
          </a:p>
          <a:p>
            <a:pPr marL="514350" indent="-514350" algn="just">
              <a:buAutoNum type="arabicPeriod"/>
            </a:pPr>
            <a:r>
              <a:rPr lang="en-US" b="1" i="0">
                <a:solidFill>
                  <a:srgbClr val="000000"/>
                </a:solidFill>
                <a:effectLst/>
              </a:rPr>
              <a:t>"The price of tomatoes in Des Moines has gone through the roof" (= increased greatly) -:Metaphor.</a:t>
            </a:r>
          </a:p>
          <a:p>
            <a:pPr algn="just"/>
            <a:r>
              <a:rPr lang="en-US" b="1" i="0" u="sng">
                <a:solidFill>
                  <a:srgbClr val="000000"/>
                </a:solidFill>
                <a:effectLst/>
              </a:rPr>
              <a:t>Ellipsis</a:t>
            </a:r>
          </a:p>
          <a:p>
            <a:pPr algn="just"/>
            <a:r>
              <a:rPr lang="en-US" b="1" i="0">
                <a:solidFill>
                  <a:srgbClr val="000000"/>
                </a:solidFill>
                <a:effectLst/>
              </a:rPr>
              <a:t>The omission of words that are needed for grammatical completion, and are "understood". </a:t>
            </a:r>
          </a:p>
          <a:p>
            <a:pPr algn="just"/>
            <a:r>
              <a:rPr lang="en-US" b="1" i="0">
                <a:solidFill>
                  <a:srgbClr val="000000"/>
                </a:solidFill>
                <a:effectLst/>
              </a:rPr>
              <a:t>E.g. "I am allergic to tomatoes. Also fish." Understood as "I am also allergic to fish" rather than "Also, fish are allergic to tomatoes."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42360340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F2A28-1DB6-03E2-5751-9A4259077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Pragmatic ambiguity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71FF7-1747-1FC1-5522-915BF3CA2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>
                <a:solidFill>
                  <a:srgbClr val="000000"/>
                </a:solidFill>
              </a:rPr>
              <a:t>Pragmatic </a:t>
            </a:r>
            <a:r>
              <a:rPr lang="en-US" b="1" i="0">
                <a:solidFill>
                  <a:srgbClr val="000000"/>
                </a:solidFill>
                <a:effectLst/>
              </a:rPr>
              <a:t>ambiguity refers to the situation where the context of a phrase gives it multiple interpretations. In simple words, we can say that pragmatic ambiguity arises when the statement is not specific.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11403954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FF5D4-DEFA-42DF-935C-A8F64241B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9226B-CCAF-4231-92C2-9A93071BB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9E868D-A409-5035-48AD-13B675469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257175"/>
            <a:ext cx="11658600" cy="63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90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AMBIGUITY &amp; CHALLENGES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Demo — Where SpaCy Succeeds and Fails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10268712" y="41148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10268712" y="411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11091672" cy="3794760"/>
          </a:xfrm>
          <a:prstGeom prst="roundRect">
            <a:avLst>
              <a:gd name="adj" fmla="val 1928"/>
            </a:avLst>
          </a:prstGeom>
          <a:solidFill>
            <a:srgbClr val="1E1E2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45920"/>
            <a:ext cx="10543032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spacy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nlp = spacy.load('en_core_web_sm')</a:t>
            </a:r>
            <a:endParaRPr lang="en-US" sz="1250"/>
          </a:p>
          <a:p>
            <a:pPr marL="0" indent="0">
              <a:buNone/>
            </a:pP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sents = ["I went to the bank to deposit money.",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"I sat by the river bank fishing."]</a:t>
            </a:r>
            <a:endParaRPr lang="en-US" sz="1250"/>
          </a:p>
          <a:p>
            <a:pPr marL="0" indent="0">
              <a:buNone/>
            </a:pP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sent in sents: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 = nlp(sent)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token in doc: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token.text.lower() == 'bank':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print(sent[:30], '→ POS:', token.pos_,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'| Entity:', token.ent_type_ or 'None')</a:t>
            </a:r>
            <a:endParaRPr lang="en-US" sz="1250"/>
          </a:p>
          <a:p>
            <a:pPr marL="0" indent="0">
              <a:buNone/>
            </a:pP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Pragmatic failure — sentiment on a polite request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pipeline as hf_pipeline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 = hf_pipeline('sentiment-analysis')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print(sentiment('Can you pass the salt?'))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confident sentiment label (e.g. NEGATIVE, 0.77) despite this being a request, not an opinion — exact label varies by model version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548640" y="54406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0F5F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5440680"/>
            <a:ext cx="10634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observation: SpaCy gets 'bank' right when context is strong, fails when weak. The sentiment model forces a confident positive/negative label onto a request — pragmatics is invisible to it either way.</a:t>
            </a:r>
            <a:endParaRPr lang="en-US" sz="125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NLP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AMBIGUITY &amp; CHALLENGES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Challenges: Indian Languages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10268712" y="41148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10268712" y="411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NLP tools are trained on English. Indian languages present fundamentally different challenges.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1091672" cy="566928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965960"/>
            <a:ext cx="2651760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6596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richness</a:t>
            </a:r>
            <a:endParaRPr lang="en-US" sz="125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8257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Marathi: जातो (going, masc.) vs जाते (going, fem.) — gender encoded in the verb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548640" y="2532888"/>
            <a:ext cx="1109167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532888"/>
            <a:ext cx="2651760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53288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word order</a:t>
            </a:r>
            <a:endParaRPr lang="en-US" sz="1250"/>
          </a:p>
        </p:txBody>
      </p:sp>
      <p:sp>
        <p:nvSpPr>
          <p:cNvPr id="15" name="Text 13"/>
          <p:cNvSpPr/>
          <p:nvPr/>
        </p:nvSpPr>
        <p:spPr>
          <a:xfrm>
            <a:off x="3383280" y="2532888"/>
            <a:ext cx="8257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"राम ने सीता को देखा" and "सीता को राम ने देखा" mean the same thing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548640" y="3099816"/>
            <a:ext cx="11091672" cy="566928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099816"/>
            <a:ext cx="2651760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9981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Code-mixing</a:t>
            </a:r>
            <a:endParaRPr lang="en-US" sz="1250"/>
          </a:p>
        </p:txBody>
      </p:sp>
      <p:sp>
        <p:nvSpPr>
          <p:cNvPr id="19" name="Text 17"/>
          <p:cNvSpPr/>
          <p:nvPr/>
        </p:nvSpPr>
        <p:spPr>
          <a:xfrm>
            <a:off x="3383280" y="3099816"/>
            <a:ext cx="8257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"Main kal office gaya and will submit the report" — both languages, one sentence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548640" y="3666744"/>
            <a:ext cx="1109167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666744"/>
            <a:ext cx="2651760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66674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diversity</a:t>
            </a:r>
            <a:endParaRPr lang="en-US" sz="1250"/>
          </a:p>
        </p:txBody>
      </p:sp>
      <p:sp>
        <p:nvSpPr>
          <p:cNvPr id="23" name="Text 21"/>
          <p:cNvSpPr/>
          <p:nvPr/>
        </p:nvSpPr>
        <p:spPr>
          <a:xfrm>
            <a:off x="3383280" y="3666744"/>
            <a:ext cx="8257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scheduled languages, 12+ scripts — Hindi, Marathi, Tamil, Telugu, Kannada, etc.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548640" y="4233672"/>
            <a:ext cx="11091672" cy="566928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233672"/>
            <a:ext cx="2651760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23367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annotated resources</a:t>
            </a:r>
            <a:endParaRPr lang="en-US" sz="1250"/>
          </a:p>
        </p:txBody>
      </p:sp>
      <p:sp>
        <p:nvSpPr>
          <p:cNvPr id="27" name="Text 25"/>
          <p:cNvSpPr/>
          <p:nvPr/>
        </p:nvSpPr>
        <p:spPr>
          <a:xfrm>
            <a:off x="3383280" y="4233672"/>
            <a:ext cx="8257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English: millions of labelled sentences. Marathi: tens of thousands — ~100× less data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>
          <a:xfrm>
            <a:off x="548640" y="493776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937760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opportunity: Any NLP product for Indian users must handle these. Most English models fail. → Open research + business gap.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NLP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5A2DA-EDB4-42A9-9F1A-81959EBD1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478" y="0"/>
            <a:ext cx="10515600" cy="55659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Challenges in NLP 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E5002-681D-4DE7-93DD-8EF013991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817" y="450574"/>
            <a:ext cx="11396870" cy="6407426"/>
          </a:xfrm>
        </p:spPr>
        <p:txBody>
          <a:bodyPr>
            <a:normAutofit fontScale="84000" lnSpcReduction="15000"/>
          </a:bodyPr>
          <a:lstStyle/>
          <a:p>
            <a:r>
              <a:rPr lang="en-US" b="1"/>
              <a:t>DATA &amp; AVAILABILITY</a:t>
            </a:r>
          </a:p>
          <a:p>
            <a:r>
              <a:rPr lang="en-US" b="1"/>
              <a:t>Availability of Natural languages</a:t>
            </a:r>
          </a:p>
          <a:p>
            <a:r>
              <a:rPr lang="en-US" b="1"/>
              <a:t>Availability of different sources of data</a:t>
            </a:r>
          </a:p>
          <a:p>
            <a:r>
              <a:rPr lang="en-US" b="1"/>
              <a:t>Unstructured form of data</a:t>
            </a:r>
          </a:p>
          <a:p>
            <a:r>
              <a:rPr lang="en-US" b="1"/>
              <a:t>AMBIGUITY (WORD &amp; PHRASE LEVEL)</a:t>
            </a:r>
          </a:p>
          <a:p>
            <a:r>
              <a:rPr lang="en-US" b="1"/>
              <a:t>Ambiguity</a:t>
            </a:r>
          </a:p>
          <a:p>
            <a:r>
              <a:rPr lang="en-US" b="1"/>
              <a:t>Homophones</a:t>
            </a:r>
          </a:p>
          <a:p>
            <a:r>
              <a:rPr lang="en-US" b="1"/>
              <a:t>Word boundary</a:t>
            </a:r>
          </a:p>
          <a:p>
            <a:r>
              <a:rPr lang="en-US" b="1"/>
              <a:t>Phrase boundary</a:t>
            </a:r>
          </a:p>
          <a:p>
            <a:r>
              <a:rPr lang="en-US" b="1"/>
              <a:t>Part of speech disambiguation</a:t>
            </a:r>
          </a:p>
          <a:p>
            <a:r>
              <a:rPr lang="en-US" b="1"/>
              <a:t>Sense disambiguation</a:t>
            </a:r>
          </a:p>
          <a:p>
            <a:r>
              <a:rPr lang="en-US" b="1"/>
              <a:t>Preposition phrase attachment</a:t>
            </a:r>
          </a:p>
          <a:p>
            <a:r>
              <a:rPr lang="en-US" b="1"/>
              <a:t>Scope: noun, adjectives</a:t>
            </a:r>
          </a:p>
        </p:txBody>
      </p:sp>
    </p:spTree>
    <p:extLst>
      <p:ext uri="{BB962C8B-B14F-4D97-AF65-F5344CB8AC3E}">
        <p14:creationId xmlns:p14="http://schemas.microsoft.com/office/powerpoint/2010/main" val="20071275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5A2DA-EDB4-42A9-9F1A-81959EBD1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478" y="0"/>
            <a:ext cx="10515600" cy="854075"/>
          </a:xfrm>
        </p:spPr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Challenges in NLP 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E5002-681D-4DE7-93DD-8EF013991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817" y="854074"/>
            <a:ext cx="11396870" cy="5838273"/>
          </a:xfrm>
        </p:spPr>
        <p:txBody>
          <a:bodyPr>
            <a:normAutofit fontScale="72000" lnSpcReduction="30000"/>
          </a:bodyPr>
          <a:lstStyle/>
          <a:p>
            <a:r>
              <a:rPr lang="en-US" b="1"/>
              <a:t>VOCABULARY DRIFT</a:t>
            </a:r>
          </a:p>
          <a:p>
            <a:r>
              <a:rPr lang="en-US" b="1"/>
              <a:t>Addition of new words due to technical development</a:t>
            </a:r>
          </a:p>
          <a:p>
            <a:r>
              <a:rPr lang="en-US" b="1"/>
              <a:t>Idioms</a:t>
            </a:r>
          </a:p>
          <a:p>
            <a:r>
              <a:rPr lang="en-US" b="1"/>
              <a:t>Neologisms</a:t>
            </a:r>
          </a:p>
          <a:p>
            <a:r>
              <a:rPr lang="en-US" b="1"/>
              <a:t>WORLD KNOWLEDGE</a:t>
            </a:r>
          </a:p>
          <a:p>
            <a:r>
              <a:rPr lang="en-US" b="1"/>
              <a:t>World knowledge</a:t>
            </a:r>
          </a:p>
          <a:p>
            <a:r>
              <a:rPr lang="en-US" b="1"/>
              <a:t>INFORMAL / NON-STANDARD TEXT</a:t>
            </a:r>
          </a:p>
          <a:p>
            <a:r>
              <a:rPr lang="en-US" b="1"/>
              <a:t>Non standard English words</a:t>
            </a:r>
          </a:p>
          <a:p>
            <a:r>
              <a:rPr lang="en-US" b="1"/>
              <a:t>Segmentation issues</a:t>
            </a:r>
          </a:p>
          <a:p>
            <a:r>
              <a:rPr lang="en-US" b="1"/>
              <a:t>Tricky entity names</a:t>
            </a:r>
          </a:p>
          <a:p>
            <a:r>
              <a:rPr lang="en-US" b="1"/>
              <a:t>Elongated words</a:t>
            </a:r>
          </a:p>
          <a:p>
            <a:r>
              <a:rPr lang="en-US" b="1"/>
              <a:t>Shortcuts</a:t>
            </a:r>
          </a:p>
          <a:p>
            <a:r>
              <a:rPr lang="en-US" b="1"/>
              <a:t>Emojis</a:t>
            </a:r>
          </a:p>
          <a:p>
            <a:r>
              <a:rPr lang="en-US" b="1"/>
              <a:t>Mixed use of languages</a:t>
            </a:r>
          </a:p>
          <a:p>
            <a:r>
              <a:rPr lang="en-US" b="1"/>
              <a:t>Ellipsis</a:t>
            </a:r>
          </a:p>
          <a:p>
            <a:r>
              <a:rPr lang="en-US" b="1"/>
              <a:t>Punctuational ambiguity</a:t>
            </a:r>
          </a:p>
        </p:txBody>
      </p:sp>
    </p:spTree>
    <p:extLst>
      <p:ext uri="{BB962C8B-B14F-4D97-AF65-F5344CB8AC3E}">
        <p14:creationId xmlns:p14="http://schemas.microsoft.com/office/powerpoint/2010/main" val="35862975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296CC-A794-4BC6-BE2C-94531CB06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B8C21-0D2D-4079-98BE-A19D91520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8F7CC3-FB06-6BC8-43F1-26B70E1AD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" y="0"/>
            <a:ext cx="117252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8435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AMBIGUITY &amp; CHALLENGES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— Discuss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10268712" y="41148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85D4E"/>
          </a:solidFill>
          <a:ln/>
        </p:spPr>
      </p:sp>
      <p:sp>
        <p:nvSpPr>
          <p:cNvPr id="5" name="Text 3"/>
          <p:cNvSpPr/>
          <p:nvPr/>
        </p:nvSpPr>
        <p:spPr>
          <a:xfrm>
            <a:off x="10268712" y="411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5D4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1143000" y="1536192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ambiguity type is hardest for machines?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1143000" y="1965960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50" i="1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Pragmatic — requires world knowledge and intent, not just text patterns. Even GPT-4 fails on subtle cases.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48640" y="26334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5D4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1143000" y="2615184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modern LLMs handle ambiguity?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1143000" y="3044952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50" i="1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massive training data — they learn which meaning is statistically more common in context. Pattern matching, not true understanding.</a:t>
            </a:r>
            <a:endParaRPr lang="en-US" sz="1250"/>
          </a:p>
        </p:txBody>
      </p:sp>
      <p:sp>
        <p:nvSpPr>
          <p:cNvPr id="15" name="Shape 13"/>
          <p:cNvSpPr/>
          <p:nvPr/>
        </p:nvSpPr>
        <p:spPr>
          <a:xfrm>
            <a:off x="548640" y="37124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5D4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1143000" y="3694176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project domain — what ambiguity will hurt you most?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1143000" y="4123944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50" i="1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sentiment analysis → lexical ambiguity; chatbot → pragmatic ambiguity; NER → anaphoric ambiguity.</a:t>
            </a:r>
            <a:endParaRPr lang="en-US" sz="1250"/>
          </a:p>
        </p:txBody>
      </p:sp>
      <p:sp>
        <p:nvSpPr>
          <p:cNvPr id="19" name="Shape 17"/>
          <p:cNvSpPr/>
          <p:nvPr/>
        </p:nvSpPr>
        <p:spPr>
          <a:xfrm>
            <a:off x="548640" y="47914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5D4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791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1143000" y="4773168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India need its own NLP models?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1143000" y="5202936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50" i="1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models miss morphology, code-mixing, and cultural context. IndicBERT, MuRIL, Koo's Indic models are emerging.</a:t>
            </a:r>
            <a:endParaRPr lang="en-US" sz="125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NLP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APPLICATIONS OF NLP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— Mapped to Pipeline Stages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10268712" y="41148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10268712" y="411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memorize applications — understand which pipeline stages each one requires.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1091672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3840480" y="1965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 Required</a:t>
            </a:r>
            <a:endParaRPr lang="en-US" sz="1250"/>
          </a:p>
        </p:txBody>
      </p:sp>
      <p:sp>
        <p:nvSpPr>
          <p:cNvPr id="11" name="Text 9"/>
          <p:cNvSpPr/>
          <p:nvPr/>
        </p:nvSpPr>
        <p:spPr>
          <a:xfrm>
            <a:off x="8138160" y="1965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Products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11091672" cy="530352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42316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3840480" y="242316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stages</a:t>
            </a:r>
            <a:endParaRPr lang="en-US" sz="1150"/>
          </a:p>
        </p:txBody>
      </p:sp>
      <p:sp>
        <p:nvSpPr>
          <p:cNvPr id="15" name="Text 13"/>
          <p:cNvSpPr/>
          <p:nvPr/>
        </p:nvSpPr>
        <p:spPr>
          <a:xfrm>
            <a:off x="8138160" y="242316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 · DeepL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548640" y="2953512"/>
            <a:ext cx="11091672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953512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3840480" y="2953512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+ Semantic</a:t>
            </a:r>
            <a:endParaRPr lang="en-US" sz="1150"/>
          </a:p>
        </p:txBody>
      </p:sp>
      <p:sp>
        <p:nvSpPr>
          <p:cNvPr id="19" name="Text 17"/>
          <p:cNvSpPr/>
          <p:nvPr/>
        </p:nvSpPr>
        <p:spPr>
          <a:xfrm>
            <a:off x="8138160" y="295351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reviews · Twitter analytics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548640" y="3483864"/>
            <a:ext cx="11091672" cy="530352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48386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3840480" y="3483864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+ Syntactic + Semantic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8138160" y="3483864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· Reuters news wires</a:t>
            </a:r>
            <a:endParaRPr lang="en-US" sz="1150"/>
          </a:p>
        </p:txBody>
      </p:sp>
      <p:sp>
        <p:nvSpPr>
          <p:cNvPr id="24" name="Shape 22"/>
          <p:cNvSpPr/>
          <p:nvPr/>
        </p:nvSpPr>
        <p:spPr>
          <a:xfrm>
            <a:off x="548640" y="4014216"/>
            <a:ext cx="11091672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014216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Answering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3840480" y="4014216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stages + world knowledge</a:t>
            </a:r>
            <a:endParaRPr lang="en-US" sz="1150"/>
          </a:p>
        </p:txBody>
      </p:sp>
      <p:sp>
        <p:nvSpPr>
          <p:cNvPr id="27" name="Text 25"/>
          <p:cNvSpPr/>
          <p:nvPr/>
        </p:nvSpPr>
        <p:spPr>
          <a:xfrm>
            <a:off x="8138160" y="4014216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· Google SGE · Bing AI</a:t>
            </a:r>
            <a:endParaRPr lang="en-US" sz="1150"/>
          </a:p>
        </p:txBody>
      </p:sp>
      <p:sp>
        <p:nvSpPr>
          <p:cNvPr id="28" name="Shape 26"/>
          <p:cNvSpPr/>
          <p:nvPr/>
        </p:nvSpPr>
        <p:spPr>
          <a:xfrm>
            <a:off x="548640" y="4544568"/>
            <a:ext cx="11091672" cy="530352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544568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Summarization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3840480" y="4544568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+ Pragmatic</a:t>
            </a:r>
            <a:endParaRPr lang="en-US" sz="1150"/>
          </a:p>
        </p:txBody>
      </p:sp>
      <p:sp>
        <p:nvSpPr>
          <p:cNvPr id="31" name="Text 29"/>
          <p:cNvSpPr/>
          <p:nvPr/>
        </p:nvSpPr>
        <p:spPr>
          <a:xfrm>
            <a:off x="8138160" y="454456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AI · Quillbot · Claude</a:t>
            </a:r>
            <a:endParaRPr lang="en-US" sz="1150"/>
          </a:p>
        </p:txBody>
      </p:sp>
      <p:sp>
        <p:nvSpPr>
          <p:cNvPr id="32" name="Shape 30"/>
          <p:cNvSpPr/>
          <p:nvPr/>
        </p:nvSpPr>
        <p:spPr>
          <a:xfrm>
            <a:off x="548640" y="5074920"/>
            <a:ext cx="11091672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507492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3840480" y="507492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+ N-gram model</a:t>
            </a:r>
            <a:endParaRPr lang="en-US" sz="1150"/>
          </a:p>
        </p:txBody>
      </p:sp>
      <p:sp>
        <p:nvSpPr>
          <p:cNvPr id="35" name="Text 33"/>
          <p:cNvSpPr/>
          <p:nvPr/>
        </p:nvSpPr>
        <p:spPr>
          <a:xfrm>
            <a:off x="8138160" y="507492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Smart Compose · Copilot</a:t>
            </a:r>
            <a:endParaRPr lang="en-US" sz="115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NLP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APPLICATIONS OF NLP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NLP is Booming Right Now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10268712" y="41148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10268712" y="411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🤗</a:t>
            </a:r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155448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Models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1554480" y="21488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Hub: 500,000+ models. Transfer learning — fine-tune BERT in minutes, not months.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/>
          </a:p>
        </p:txBody>
      </p:sp>
      <p:sp>
        <p:nvSpPr>
          <p:cNvPr id="13" name="Text 11"/>
          <p:cNvSpPr/>
          <p:nvPr/>
        </p:nvSpPr>
        <p:spPr>
          <a:xfrm>
            <a:off x="722376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Stack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7223760" y="21488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spaCy, NLTK, Gensim, Transformers, LangChain — all free, well-documented, industry-grade.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520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2800"/>
          </a:p>
        </p:txBody>
      </p:sp>
      <p:sp>
        <p:nvSpPr>
          <p:cNvPr id="17" name="Text 15"/>
          <p:cNvSpPr/>
          <p:nvPr/>
        </p:nvSpPr>
        <p:spPr>
          <a:xfrm>
            <a:off x="1554480" y="3520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Cloud GPUs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1554480" y="39319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(free), AWS, Azure, GCP — A100/H100 GPUs on-demand. No hardware barrier.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6217920" y="338328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520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800"/>
          </a:p>
        </p:txBody>
      </p:sp>
      <p:sp>
        <p:nvSpPr>
          <p:cNvPr id="21" name="Text 19"/>
          <p:cNvSpPr/>
          <p:nvPr/>
        </p:nvSpPr>
        <p:spPr>
          <a:xfrm>
            <a:off x="7223760" y="3520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Investment</a:t>
            </a:r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7223760" y="39319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funding across OpenAI, Anthropic, Google DeepMind — NLP is the hottest engineering field.</a:t>
            </a:r>
            <a:endParaRPr lang="en-US" sz="1150"/>
          </a:p>
        </p:txBody>
      </p:sp>
      <p:sp>
        <p:nvSpPr>
          <p:cNvPr id="23" name="Shape 21"/>
          <p:cNvSpPr/>
          <p:nvPr/>
        </p:nvSpPr>
        <p:spPr>
          <a:xfrm>
            <a:off x="548640" y="521208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212080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job roles: Data Scientist · NLP Engineer · NLP Researcher · ML Engineer · Prompt Engineer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NLP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APPLICATIONS OF NLP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— 2026 Snapshot: Enterprise &amp; Healthcare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10268712" y="41148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10268712" y="411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NLP is deployed in production today, and what's changed since your textbook examples.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1091672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3840480" y="1965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Update</a:t>
            </a:r>
            <a:endParaRPr lang="en-US" sz="1250"/>
          </a:p>
        </p:txBody>
      </p:sp>
      <p:sp>
        <p:nvSpPr>
          <p:cNvPr id="11" name="Text 9"/>
          <p:cNvSpPr/>
          <p:nvPr/>
        </p:nvSpPr>
        <p:spPr>
          <a:xfrm>
            <a:off x="8138160" y="1965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11091672" cy="530352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42316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Search (RAG)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3840480" y="242316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is now the dominant enterprise AI architecture</a:t>
            </a:r>
            <a:endParaRPr lang="en-US" sz="1150"/>
          </a:p>
        </p:txBody>
      </p:sp>
      <p:sp>
        <p:nvSpPr>
          <p:cNvPr id="15" name="Text 13"/>
          <p:cNvSpPr/>
          <p:nvPr/>
        </p:nvSpPr>
        <p:spPr>
          <a:xfrm>
            <a:off x="8138160" y="242316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company knowledge without expensive retraining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548640" y="2953512"/>
            <a:ext cx="11091672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953512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Chatbots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3840480" y="2953512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handle the majority of customer interactions</a:t>
            </a:r>
            <a:endParaRPr lang="en-US" sz="1150"/>
          </a:p>
        </p:txBody>
      </p:sp>
      <p:sp>
        <p:nvSpPr>
          <p:cNvPr id="19" name="Text 17"/>
          <p:cNvSpPr/>
          <p:nvPr/>
        </p:nvSpPr>
        <p:spPr>
          <a:xfrm>
            <a:off x="8138160" y="295351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cost, higher reported satisfaction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548640" y="3483864"/>
            <a:ext cx="11091672" cy="530352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48386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/ Phishing Detection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3840480" y="3483864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filters block 99.9%+ of unwanted mail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8138160" y="3483864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phishing mail now uses AI-generated text to evade filters — an arms race</a:t>
            </a:r>
            <a:endParaRPr lang="en-US" sz="1150"/>
          </a:p>
        </p:txBody>
      </p:sp>
      <p:sp>
        <p:nvSpPr>
          <p:cNvPr id="24" name="Shape 22"/>
          <p:cNvSpPr/>
          <p:nvPr/>
        </p:nvSpPr>
        <p:spPr>
          <a:xfrm>
            <a:off x="548640" y="4014216"/>
            <a:ext cx="11091672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014216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Documentation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3840480" y="4014216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Voice-to-text NLP produces structured clinical notes</a:t>
            </a:r>
            <a:endParaRPr lang="en-US" sz="1150"/>
          </a:p>
        </p:txBody>
      </p:sp>
      <p:sp>
        <p:nvSpPr>
          <p:cNvPr id="27" name="Text 25"/>
          <p:cNvSpPr/>
          <p:nvPr/>
        </p:nvSpPr>
        <p:spPr>
          <a:xfrm>
            <a:off x="8138160" y="4014216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accuracy on trained data; frees physician time from EHR entry</a:t>
            </a:r>
            <a:endParaRPr lang="en-US" sz="115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NLP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APPLICATIONS OF NLP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Trends Shaping NLP (2026)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10268712" y="41148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10268712" y="411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155448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/ Edge NLP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1554480" y="21488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models (TinyML) run directly on phones and wearables instead of the cloud — one of the fastest-growing 2026 trends.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800"/>
          </a:p>
        </p:txBody>
      </p:sp>
      <p:sp>
        <p:nvSpPr>
          <p:cNvPr id="13" name="Text 11"/>
          <p:cNvSpPr/>
          <p:nvPr/>
        </p:nvSpPr>
        <p:spPr>
          <a:xfrm>
            <a:off x="722376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Language Agents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7223760" y="21488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complete multi-step tasks with minimal supervision using memory + tools (LangGraph, AutoGen, CAMEL-AI).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520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800"/>
          </a:p>
        </p:txBody>
      </p:sp>
      <p:sp>
        <p:nvSpPr>
          <p:cNvPr id="17" name="Text 15"/>
          <p:cNvSpPr/>
          <p:nvPr/>
        </p:nvSpPr>
        <p:spPr>
          <a:xfrm>
            <a:off x="1554480" y="3520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Attention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1554480" y="39319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and sparse attention research (e.g. Linformer) aims to handle much longer contexts without hardware bottlenecks.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6217920" y="338328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520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🕸️</a:t>
            </a:r>
            <a:endParaRPr lang="en-US" sz="2800"/>
          </a:p>
        </p:txBody>
      </p:sp>
      <p:sp>
        <p:nvSpPr>
          <p:cNvPr id="21" name="Text 19"/>
          <p:cNvSpPr/>
          <p:nvPr/>
        </p:nvSpPr>
        <p:spPr>
          <a:xfrm>
            <a:off x="7223760" y="3520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Graphs</a:t>
            </a:r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7223760" y="39319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Neo4j and TigerGraph are embedded further into company infrastructure for traceability and logical consistency.</a:t>
            </a:r>
            <a:endParaRPr lang="en-US" sz="1150"/>
          </a:p>
        </p:txBody>
      </p:sp>
      <p:sp>
        <p:nvSpPr>
          <p:cNvPr id="23" name="Shape 21"/>
          <p:cNvSpPr/>
          <p:nvPr/>
        </p:nvSpPr>
        <p:spPr>
          <a:xfrm>
            <a:off x="548640" y="521208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212080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Topic 1.3: enterprise RAG search, ambient clinical documentation, and on-device NLP build on the chatbot / MT / sentiment-analysis examples above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NLP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 TOOLS: NLTK · SPACY · HUGGINGFACE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 — Positioning &amp; Philosophy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10268712" y="41148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10268712" y="411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competitors — they serve different needs. A real NLP engineer uses all three.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3575304" cy="3977640"/>
          </a:xfrm>
          <a:prstGeom prst="roundRect">
            <a:avLst>
              <a:gd name="adj" fmla="val 2558"/>
            </a:avLst>
          </a:prstGeom>
          <a:solidFill>
            <a:srgbClr val="F4F7F8"/>
          </a:solidFill>
          <a:ln w="16510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65960"/>
            <a:ext cx="3575304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65960"/>
            <a:ext cx="3575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Education-first. Explicit steps. Verbose but transparent.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32095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08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50+ corpora, great for understanding internals</a:t>
            </a:r>
            <a:endParaRPr lang="en-US" sz="1080"/>
          </a:p>
        </p:txBody>
      </p:sp>
      <p:sp>
        <p:nvSpPr>
          <p:cNvPr id="13" name="Text 11"/>
          <p:cNvSpPr/>
          <p:nvPr/>
        </p:nvSpPr>
        <p:spPr>
          <a:xfrm>
            <a:off x="731520" y="4343400"/>
            <a:ext cx="32095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08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verbose, rarely used in production</a:t>
            </a:r>
            <a:endParaRPr lang="en-US" sz="1080"/>
          </a:p>
        </p:txBody>
      </p:sp>
      <p:sp>
        <p:nvSpPr>
          <p:cNvPr id="14" name="Shape 12"/>
          <p:cNvSpPr/>
          <p:nvPr/>
        </p:nvSpPr>
        <p:spPr>
          <a:xfrm>
            <a:off x="731520" y="5349240"/>
            <a:ext cx="3209544" cy="457200"/>
          </a:xfrm>
          <a:prstGeom prst="roundRect">
            <a:avLst>
              <a:gd name="adj" fmla="val 50000"/>
            </a:avLst>
          </a:prstGeom>
          <a:solidFill>
            <a:srgbClr val="1B2A4A">
              <a:alpha val="15000"/>
            </a:srgbClr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34924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&amp; research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306824" y="1965960"/>
            <a:ext cx="3575304" cy="3977640"/>
          </a:xfrm>
          <a:prstGeom prst="roundRect">
            <a:avLst>
              <a:gd name="adj" fmla="val 2558"/>
            </a:avLst>
          </a:prstGeom>
          <a:solidFill>
            <a:srgbClr val="F4F7F8"/>
          </a:solidFill>
          <a:ln w="16510">
            <a:solidFill>
              <a:srgbClr val="0D73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06824" y="1965960"/>
            <a:ext cx="3575304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4306824" y="1965960"/>
            <a:ext cx="3575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4489704" y="2606040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+ accuracy. Industrial grade. Opinionated pipeline.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4489704" y="3429000"/>
            <a:ext cx="32095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08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clean API, production-ready, 65+ languages</a:t>
            </a:r>
            <a:endParaRPr lang="en-US" sz="1080"/>
          </a:p>
        </p:txBody>
      </p:sp>
      <p:sp>
        <p:nvSpPr>
          <p:cNvPr id="21" name="Text 19"/>
          <p:cNvSpPr/>
          <p:nvPr/>
        </p:nvSpPr>
        <p:spPr>
          <a:xfrm>
            <a:off x="4489704" y="4343400"/>
            <a:ext cx="32095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08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transparent than NLTK, fewer classical models</a:t>
            </a:r>
            <a:endParaRPr lang="en-US" sz="1080"/>
          </a:p>
        </p:txBody>
      </p:sp>
      <p:sp>
        <p:nvSpPr>
          <p:cNvPr id="22" name="Shape 20"/>
          <p:cNvSpPr/>
          <p:nvPr/>
        </p:nvSpPr>
        <p:spPr>
          <a:xfrm>
            <a:off x="4489704" y="5349240"/>
            <a:ext cx="3209544" cy="457200"/>
          </a:xfrm>
          <a:prstGeom prst="roundRect">
            <a:avLst>
              <a:gd name="adj" fmla="val 50000"/>
            </a:avLst>
          </a:prstGeom>
          <a:solidFill>
            <a:srgbClr val="0D7377">
              <a:alpha val="1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9704" y="534924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industry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8065008" y="1965960"/>
            <a:ext cx="3575304" cy="3977640"/>
          </a:xfrm>
          <a:prstGeom prst="roundRect">
            <a:avLst>
              <a:gd name="adj" fmla="val 2558"/>
            </a:avLst>
          </a:prstGeom>
          <a:solidFill>
            <a:srgbClr val="F4F7F8"/>
          </a:solidFill>
          <a:ln w="16510">
            <a:solidFill>
              <a:srgbClr val="E8A3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65008" y="1965960"/>
            <a:ext cx="3575304" cy="5029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8065008" y="1965960"/>
            <a:ext cx="3575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🤗 HuggingFace</a:t>
            </a:r>
            <a:endParaRPr lang="en-US" sz="1500"/>
          </a:p>
        </p:txBody>
      </p:sp>
      <p:sp>
        <p:nvSpPr>
          <p:cNvPr id="27" name="Text 25"/>
          <p:cNvSpPr/>
          <p:nvPr/>
        </p:nvSpPr>
        <p:spPr>
          <a:xfrm>
            <a:off x="8247888" y="2606040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art. Model hub. Transformer-powered.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8247888" y="3429000"/>
            <a:ext cx="32095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08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 models, BERT/GPT/T5, highest accuracy</a:t>
            </a:r>
            <a:endParaRPr lang="en-US" sz="1080"/>
          </a:p>
        </p:txBody>
      </p:sp>
      <p:sp>
        <p:nvSpPr>
          <p:cNvPr id="29" name="Text 27"/>
          <p:cNvSpPr/>
          <p:nvPr/>
        </p:nvSpPr>
        <p:spPr>
          <a:xfrm>
            <a:off x="8247888" y="4343400"/>
            <a:ext cx="32095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08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Heavy, needs GPU, can be overkill for simple tasks</a:t>
            </a:r>
            <a:endParaRPr lang="en-US" sz="1080"/>
          </a:p>
        </p:txBody>
      </p:sp>
      <p:sp>
        <p:nvSpPr>
          <p:cNvPr id="30" name="Shape 28"/>
          <p:cNvSpPr/>
          <p:nvPr/>
        </p:nvSpPr>
        <p:spPr>
          <a:xfrm>
            <a:off x="8247888" y="5349240"/>
            <a:ext cx="3209544" cy="457200"/>
          </a:xfrm>
          <a:prstGeom prst="roundRect">
            <a:avLst>
              <a:gd name="adj" fmla="val 50000"/>
            </a:avLst>
          </a:prstGeom>
          <a:solidFill>
            <a:srgbClr val="E8A33D">
              <a:alpha val="15000"/>
            </a:srgbClr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34924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deep learning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NLP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 TOOLS: NLTK · SPACY · HUGGINGFACE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Demo — Same Task, Three Libraries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10268712" y="41148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10268712" y="411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11091672" cy="4023360"/>
          </a:xfrm>
          <a:prstGeom prst="roundRect">
            <a:avLst>
              <a:gd name="adj" fmla="val 1818"/>
            </a:avLst>
          </a:prstGeom>
          <a:solidFill>
            <a:srgbClr val="1E1E2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45920"/>
            <a:ext cx="10543032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"Elon Musk founded SpaceX in 2002 in Hawthorne, California."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 1: NLTK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nltk; from nltk.tokenize import word_tokenize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 = word_tokenize(text)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ne_tree = nltk.ne_chunk(nltk.pos_tag(tokens))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chunk in ne_tree: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hasattr(chunk, "label"): print("NLTK →", chunk)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 2: SpaCy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spacy; nlp = spacy.load("en_core_web_sm")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ent in nlp(text).ents: print("SpaCy →", ent.text, ent.label_)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 3: HuggingFace Transformers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pipeline as hf_pipeline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ner = hf_pipeline("ner", aggregation_strategy="simple")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 in ner(text):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print(f"HF → {r['word']:20} {r['entity_group']} {r['score']:.3f}")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0F5F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562356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Observe: NLTK misses some entities · SpaCy is fastest · HuggingFace gives confidence scores.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NLP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 TOOLS: NLTK · SPACY · HUGGINGFACE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— Discuss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10268712" y="41148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85D4E"/>
          </a:solidFill>
          <a:ln/>
        </p:spPr>
      </p:sp>
      <p:sp>
        <p:nvSpPr>
          <p:cNvPr id="5" name="Text 3"/>
          <p:cNvSpPr/>
          <p:nvPr/>
        </p:nvSpPr>
        <p:spPr>
          <a:xfrm>
            <a:off x="10268712" y="411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5D4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1143000" y="1536192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HuggingFace is most accurate, why use NLTK?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1143000" y="1965960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50" i="1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Learning, lightweight tasks, no GPU required, explainability. You can see every step — readable in exam questions.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48640" y="26334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5D4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1143000" y="2615184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tool for Indian languages, e.g. Marathi?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1143000" y="3044952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50" i="1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Limited: iNLTK (deep learning for Indic), IndicNLP library, Stanza (66+ languages). HuggingFace has IndicBERT, MuRIL.</a:t>
            </a:r>
            <a:endParaRPr lang="en-US" sz="1250"/>
          </a:p>
        </p:txBody>
      </p:sp>
      <p:sp>
        <p:nvSpPr>
          <p:cNvPr id="15" name="Shape 13"/>
          <p:cNvSpPr/>
          <p:nvPr/>
        </p:nvSpPr>
        <p:spPr>
          <a:xfrm>
            <a:off x="548640" y="37124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5D4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1143000" y="3694176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reality check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1143000" y="4123944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50" i="1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= GitHub of AI. spaCy = used in production at Prodigy, Explosion AI. NLTK = taught everywhere, rarely in production.</a:t>
            </a:r>
            <a:endParaRPr lang="en-US" sz="125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NLP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SEEDS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Seeds — Foundations for Later Modules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10268712" y="41148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6B4C9A"/>
          </a:solidFill>
          <a:ln/>
        </p:spPr>
      </p:sp>
      <p:sp>
        <p:nvSpPr>
          <p:cNvPr id="5" name="Text 3"/>
          <p:cNvSpPr/>
          <p:nvPr/>
        </p:nvSpPr>
        <p:spPr>
          <a:xfrm>
            <a:off x="10268712" y="411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640080" cy="1417320"/>
          </a:xfrm>
          <a:prstGeom prst="roundRect">
            <a:avLst>
              <a:gd name="adj" fmla="val 50000"/>
            </a:avLst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00200"/>
            <a:ext cx="640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/>
          </a:p>
        </p:txBody>
      </p:sp>
      <p:sp>
        <p:nvSpPr>
          <p:cNvPr id="9" name="Shape 7"/>
          <p:cNvSpPr/>
          <p:nvPr/>
        </p:nvSpPr>
        <p:spPr>
          <a:xfrm>
            <a:off x="1371600" y="1600200"/>
            <a:ext cx="10268712" cy="1417320"/>
          </a:xfrm>
          <a:prstGeom prst="roundRect">
            <a:avLst>
              <a:gd name="adj" fmla="val 5161"/>
            </a:avLst>
          </a:prstGeom>
          <a:solidFill>
            <a:srgbClr val="F4F7F8"/>
          </a:solidFill>
          <a:ln/>
        </p:spPr>
      </p:sp>
      <p:sp>
        <p:nvSpPr>
          <p:cNvPr id="10" name="Text 8"/>
          <p:cNvSpPr/>
          <p:nvPr/>
        </p:nvSpPr>
        <p:spPr>
          <a:xfrm>
            <a:off x="1600200" y="1709928"/>
            <a:ext cx="9811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as Probability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1600200" y="2103120"/>
            <a:ext cx="9811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 model assigns P(sentence) to every possible sentence — machines compute likelihood, not understanding.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1600200" y="2560320"/>
            <a:ext cx="9811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P("The cat sat on the mat") = 0.00031   vs.   P("Quantum the mat sat cat the") ≈ 0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640080" cy="141732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00400"/>
            <a:ext cx="640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/>
          </a:p>
        </p:txBody>
      </p:sp>
      <p:sp>
        <p:nvSpPr>
          <p:cNvPr id="15" name="Shape 13"/>
          <p:cNvSpPr/>
          <p:nvPr/>
        </p:nvSpPr>
        <p:spPr>
          <a:xfrm>
            <a:off x="1371600" y="3200400"/>
            <a:ext cx="10268712" cy="1417320"/>
          </a:xfrm>
          <a:prstGeom prst="roundRect">
            <a:avLst>
              <a:gd name="adj" fmla="val 5161"/>
            </a:avLst>
          </a:prstGeom>
          <a:solidFill>
            <a:srgbClr val="F4F7F8"/>
          </a:solidFill>
          <a:ln/>
        </p:spPr>
      </p:sp>
      <p:sp>
        <p:nvSpPr>
          <p:cNvPr id="16" name="Text 14"/>
          <p:cNvSpPr/>
          <p:nvPr/>
        </p:nvSpPr>
        <p:spPr>
          <a:xfrm>
            <a:off x="1600200" y="3310128"/>
            <a:ext cx="9811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as Numbers (Bag of Words)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1600200" y="3703320"/>
            <a:ext cx="9811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= ["good","bad","movie"]  →  "good movie" = [1,0,1]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1600200" y="4160520"/>
            <a:ext cx="9811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baseline, but ignores word order. → Module 2: TF-IDF · Module 4: Word2Vec, BERT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548640" y="4800600"/>
            <a:ext cx="640080" cy="1417320"/>
          </a:xfrm>
          <a:prstGeom prst="roundRect">
            <a:avLst>
              <a:gd name="adj" fmla="val 50000"/>
            </a:avLst>
          </a:prstGeom>
          <a:solidFill>
            <a:srgbClr val="E85D4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00600"/>
            <a:ext cx="640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/>
          </a:p>
        </p:txBody>
      </p:sp>
      <p:sp>
        <p:nvSpPr>
          <p:cNvPr id="21" name="Shape 19"/>
          <p:cNvSpPr/>
          <p:nvPr/>
        </p:nvSpPr>
        <p:spPr>
          <a:xfrm>
            <a:off x="1371600" y="4800600"/>
            <a:ext cx="10268712" cy="1417320"/>
          </a:xfrm>
          <a:prstGeom prst="roundRect">
            <a:avLst>
              <a:gd name="adj" fmla="val 5161"/>
            </a:avLst>
          </a:prstGeom>
          <a:solidFill>
            <a:srgbClr val="F4F7F8"/>
          </a:solidFill>
          <a:ln/>
        </p:spPr>
      </p:sp>
      <p:sp>
        <p:nvSpPr>
          <p:cNvPr id="22" name="Text 20"/>
          <p:cNvSpPr/>
          <p:nvPr/>
        </p:nvSpPr>
        <p:spPr>
          <a:xfrm>
            <a:off x="1600200" y="4910328"/>
            <a:ext cx="9811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How Do We Know It Works?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1600200" y="5303520"/>
            <a:ext cx="9811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systems are measurable: Accuracy, Perplexity, F1 Score, BLEU/ROUGE.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1600200" y="5760720"/>
            <a:ext cx="9811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NLP model has an evaluation metric — always ask how we measure success.</a:t>
            </a:r>
            <a:endParaRPr lang="en-US" sz="115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NLP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Key Takeaways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Key Takeaways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1325880" y="1417320"/>
            <a:ext cx="10268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is a dependency chain — each stage feeds the next. Errors cascade.</a:t>
            </a:r>
            <a:endParaRPr lang="en-US" sz="1350"/>
          </a:p>
        </p:txBody>
      </p:sp>
      <p:sp>
        <p:nvSpPr>
          <p:cNvPr id="9" name="Shape 7"/>
          <p:cNvSpPr/>
          <p:nvPr/>
        </p:nvSpPr>
        <p:spPr>
          <a:xfrm>
            <a:off x="548640" y="2167128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671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1325880" y="2167128"/>
            <a:ext cx="10268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(lexical, syntactic, semantic, pragmatic, anaphoric) is the core challenge.</a:t>
            </a:r>
            <a:endParaRPr lang="en-US" sz="135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1693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1325880" y="2916936"/>
            <a:ext cx="10268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languages need special treatment — morphology, code-mixing, low resources.</a:t>
            </a:r>
            <a:endParaRPr lang="en-US" sz="1350"/>
          </a:p>
        </p:txBody>
      </p:sp>
      <p:sp>
        <p:nvSpPr>
          <p:cNvPr id="15" name="Shape 13"/>
          <p:cNvSpPr/>
          <p:nvPr/>
        </p:nvSpPr>
        <p:spPr>
          <a:xfrm>
            <a:off x="548640" y="3666744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6674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1325880" y="3666744"/>
            <a:ext cx="10268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= learn · spaCy = produce · HuggingFace = state-of-the-art. Use all three.</a:t>
            </a:r>
            <a:endParaRPr lang="en-US" sz="1350"/>
          </a:p>
        </p:txBody>
      </p:sp>
      <p:sp>
        <p:nvSpPr>
          <p:cNvPr id="18" name="Shape 16"/>
          <p:cNvSpPr/>
          <p:nvPr/>
        </p:nvSpPr>
        <p:spPr>
          <a:xfrm>
            <a:off x="548640" y="4416552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4165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1325880" y="4416552"/>
            <a:ext cx="10268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= probability. Text = vectors. Every model formalizes one of these two ideas.</a:t>
            </a:r>
            <a:endParaRPr lang="en-US" sz="1350"/>
          </a:p>
        </p:txBody>
      </p:sp>
      <p:sp>
        <p:nvSpPr>
          <p:cNvPr id="21" name="Shape 19"/>
          <p:cNvSpPr/>
          <p:nvPr/>
        </p:nvSpPr>
        <p:spPr>
          <a:xfrm>
            <a:off x="548640" y="5166360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166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/>
          </a:p>
        </p:txBody>
      </p:sp>
      <p:sp>
        <p:nvSpPr>
          <p:cNvPr id="23" name="Text 21"/>
          <p:cNvSpPr/>
          <p:nvPr/>
        </p:nvSpPr>
        <p:spPr>
          <a:xfrm>
            <a:off x="1325880" y="5166360"/>
            <a:ext cx="10268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NLP system is measurable. Always ask: how do we know if it's working?</a:t>
            </a:r>
            <a:endParaRPr lang="en-US" sz="1350"/>
          </a:p>
        </p:txBody>
      </p:sp>
      <p:sp>
        <p:nvSpPr>
          <p:cNvPr id="24" name="Shape 22"/>
          <p:cNvSpPr/>
          <p:nvPr/>
        </p:nvSpPr>
        <p:spPr>
          <a:xfrm>
            <a:off x="548640" y="6007608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600760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2 — Text Processing &amp; Word-Level Analysis</a:t>
            </a:r>
            <a:endParaRPr lang="en-US" sz="135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NLP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E9DA4-4E67-42D6-275B-9AF6E17C7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Source 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F6516-E28E-EF94-3F33-49D9E89E1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err="1">
                <a:hlinkClick r:id="rId2"/>
              </a:rPr>
              <a:t>Nptel</a:t>
            </a:r>
            <a:r>
              <a:rPr lang="fr-FR">
                <a:hlinkClick r:id="" action="ppaction://noaction"/>
              </a:rPr>
              <a:t> courses(NLP)</a:t>
            </a:r>
          </a:p>
          <a:p>
            <a:r>
              <a:rPr lang="fr-FR">
                <a:hlinkClick r:id="" action="ppaction://noaction"/>
              </a:rPr>
              <a:t>Dan </a:t>
            </a:r>
            <a:r>
              <a:rPr lang="fr-FR" err="1">
                <a:hlinkClick r:id="rId2"/>
              </a:rPr>
              <a:t>Jurafsky</a:t>
            </a:r>
            <a:r>
              <a:rPr lang="fr-FR">
                <a:hlinkClick r:id="rId2"/>
              </a:rPr>
              <a:t> (</a:t>
            </a:r>
            <a:r>
              <a:rPr lang="fr-FR" err="1">
                <a:hlinkClick r:id="rId2"/>
              </a:rPr>
              <a:t>Standford</a:t>
            </a:r>
            <a:r>
              <a:rPr lang="fr-FR">
                <a:hlinkClick r:id="rId2"/>
              </a:rPr>
              <a:t> </a:t>
            </a:r>
            <a:r>
              <a:rPr lang="fr-FR" err="1">
                <a:hlinkClick r:id="rId2"/>
              </a:rPr>
              <a:t>university</a:t>
            </a:r>
            <a:r>
              <a:rPr lang="fr-FR">
                <a:hlinkClick r:id="" action="ppaction://noaction"/>
              </a:rPr>
              <a:t>) </a:t>
            </a:r>
          </a:p>
          <a:p>
            <a:pPr marL="0" indent="0">
              <a:buNone/>
            </a:pPr>
            <a:r>
              <a:rPr lang="fr-FR">
                <a:hlinkClick r:id="" action="ppaction://noaction"/>
              </a:rPr>
              <a:t>https://web.standford.edu/~jurafsky/NLPCourseraSlides.html</a:t>
            </a:r>
          </a:p>
          <a:p>
            <a:r>
              <a:rPr lang="fr-FR">
                <a:hlinkClick r:id="" action="ppaction://noaction"/>
              </a:rPr>
              <a:t>Notes on </a:t>
            </a:r>
            <a:r>
              <a:rPr lang="fr-FR" err="1">
                <a:hlinkClick r:id="rId2"/>
              </a:rPr>
              <a:t>Ambiguity</a:t>
            </a:r>
            <a:r>
              <a:rPr lang="fr-FR">
                <a:hlinkClick r:id="rId2"/>
              </a:rPr>
              <a:t> (nyu.edu)</a:t>
            </a:r>
            <a:endParaRPr lang="fr-FR"/>
          </a:p>
          <a:p>
            <a:r>
              <a:rPr lang="en-US" sz="2800">
                <a:hlinkClick r:id="rId3"/>
              </a:rPr>
              <a:t>Natural Language Processing (devopedia.org)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089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4781794_Research presentation_RVA_v3" id="{DF2794B4-2314-4F87-8639-5DCB9EEE28EE}" vid="{3B969E49-204F-4FF6-BD10-D26195B8D4D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71</Slides>
  <Notes>21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71</vt:i4>
      </vt:variant>
    </vt:vector>
  </HeadingPairs>
  <TitlesOfParts>
    <vt:vector size="73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Stages of NLP</vt:lpstr>
      <vt:lpstr>Phonetics</vt:lpstr>
      <vt:lpstr>Lexical Analysis and Morphological</vt:lpstr>
      <vt:lpstr>PowerPoint Presentation</vt:lpstr>
      <vt:lpstr>Morphology</vt:lpstr>
      <vt:lpstr>PowerPoint Presentation</vt:lpstr>
      <vt:lpstr>Morphology</vt:lpstr>
      <vt:lpstr>Lexical Analysis</vt:lpstr>
      <vt:lpstr>Lexical Disambiguation</vt:lpstr>
      <vt:lpstr>Technological developments bring in new terms, additional meanings/nuances for existing terms</vt:lpstr>
      <vt:lpstr>Syntactic Analysis (Parsing)</vt:lpstr>
      <vt:lpstr>PowerPoint Presentation</vt:lpstr>
      <vt:lpstr>PowerPoint Presentation</vt:lpstr>
      <vt:lpstr>Challenges in Syntactic Processing: Structural Ambiguity</vt:lpstr>
      <vt:lpstr>Structural Ambiguity</vt:lpstr>
      <vt:lpstr>Semantic Analysis</vt:lpstr>
      <vt:lpstr>PowerPoint Presentation</vt:lpstr>
      <vt:lpstr>PowerPoint Presentation</vt:lpstr>
      <vt:lpstr>Discourse Integration</vt:lpstr>
      <vt:lpstr>PowerPoint Presentation</vt:lpstr>
      <vt:lpstr>PowerPoint Presentation</vt:lpstr>
      <vt:lpstr> Pragmatic Analysis</vt:lpstr>
      <vt:lpstr>PowerPoint Presentation</vt:lpstr>
      <vt:lpstr>PowerPoint Presentation</vt:lpstr>
      <vt:lpstr>Knowledge in language processing</vt:lpstr>
      <vt:lpstr>PowerPoint Presentation</vt:lpstr>
      <vt:lpstr>PowerPoint Presentation</vt:lpstr>
      <vt:lpstr>PowerPoint Presentation</vt:lpstr>
      <vt:lpstr>PowerPoint Presentation</vt:lpstr>
      <vt:lpstr>Ambiguities and its types in NLP</vt:lpstr>
      <vt:lpstr>Morphological/Lexical/word category ambiguity</vt:lpstr>
      <vt:lpstr>PowerPoint Presentation</vt:lpstr>
      <vt:lpstr>Lexical Disambiguation</vt:lpstr>
      <vt:lpstr>Syntactic ambiguity</vt:lpstr>
      <vt:lpstr>Challenges in Syntactic Processing: Structural Ambiguity</vt:lpstr>
      <vt:lpstr>PowerPoint Presentation</vt:lpstr>
      <vt:lpstr>PowerPoint Presentation</vt:lpstr>
      <vt:lpstr>Semantic ambiguity</vt:lpstr>
      <vt:lpstr>PowerPoint Presentation</vt:lpstr>
      <vt:lpstr>Anaphoric ambiguity</vt:lpstr>
      <vt:lpstr>Anaphoric ambiguity</vt:lpstr>
      <vt:lpstr>Pragmatic ambiguity </vt:lpstr>
      <vt:lpstr>PowerPoint Presentation</vt:lpstr>
      <vt:lpstr>PowerPoint Presentation</vt:lpstr>
      <vt:lpstr>PowerPoint Presentation</vt:lpstr>
      <vt:lpstr>Challenges in NLP </vt:lpstr>
      <vt:lpstr>Challenges in NLP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Source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16</cp:revision>
  <dcterms:created xsi:type="dcterms:W3CDTF">2026-07-11T05:25:48Z</dcterms:created>
  <dcterms:modified xsi:type="dcterms:W3CDTF">2026-08-26T07:55:18Z</dcterms:modified>
</cp:coreProperties>
</file>