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338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5" r:id="rId28"/>
    <p:sldId id="286" r:id="rId29"/>
    <p:sldId id="287" r:id="rId30"/>
    <p:sldId id="289" r:id="rId31"/>
    <p:sldId id="290" r:id="rId32"/>
    <p:sldId id="291" r:id="rId33"/>
    <p:sldId id="292" r:id="rId34"/>
    <p:sldId id="294" r:id="rId35"/>
    <p:sldId id="295" r:id="rId36"/>
    <p:sldId id="296" r:id="rId37"/>
    <p:sldId id="297" r:id="rId38"/>
    <p:sldId id="298" r:id="rId39"/>
    <p:sldId id="299" r:id="rId40"/>
    <p:sldId id="300" r:id="rId41"/>
    <p:sldId id="301" r:id="rId42"/>
    <p:sldId id="302" r:id="rId43"/>
    <p:sldId id="309" r:id="rId44"/>
    <p:sldId id="310" r:id="rId45"/>
    <p:sldId id="303" r:id="rId46"/>
    <p:sldId id="304" r:id="rId47"/>
    <p:sldId id="305" r:id="rId48"/>
    <p:sldId id="306" r:id="rId49"/>
    <p:sldId id="307" r:id="rId50"/>
    <p:sldId id="308" r:id="rId51"/>
    <p:sldId id="311" r:id="rId52"/>
    <p:sldId id="312" r:id="rId53"/>
    <p:sldId id="313" r:id="rId54"/>
    <p:sldId id="314" r:id="rId55"/>
    <p:sldId id="315" r:id="rId56"/>
    <p:sldId id="316" r:id="rId57"/>
    <p:sldId id="317" r:id="rId58"/>
    <p:sldId id="318" r:id="rId59"/>
    <p:sldId id="319" r:id="rId60"/>
    <p:sldId id="320" r:id="rId61"/>
    <p:sldId id="321" r:id="rId62"/>
    <p:sldId id="322" r:id="rId63"/>
    <p:sldId id="323" r:id="rId64"/>
    <p:sldId id="324" r:id="rId65"/>
    <p:sldId id="325" r:id="rId66"/>
    <p:sldId id="326" r:id="rId67"/>
    <p:sldId id="327" r:id="rId68"/>
    <p:sldId id="328" r:id="rId69"/>
    <p:sldId id="329" r:id="rId70"/>
    <p:sldId id="330" r:id="rId71"/>
    <p:sldId id="331" r:id="rId72"/>
    <p:sldId id="332" r:id="rId73"/>
    <p:sldId id="333" r:id="rId74"/>
    <p:sldId id="334" r:id="rId75"/>
    <p:sldId id="335" r:id="rId76"/>
    <p:sldId id="337" r:id="rId77"/>
    <p:sldId id="336" r:id="rId7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C4C3082-7985-4767-A024-1953F1DCFCA1}">
          <p14:sldIdLst>
            <p14:sldId id="256"/>
            <p14:sldId id="257"/>
            <p14:sldId id="338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5"/>
            <p14:sldId id="286"/>
            <p14:sldId id="287"/>
            <p14:sldId id="289"/>
            <p14:sldId id="290"/>
            <p14:sldId id="291"/>
            <p14:sldId id="292"/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  <p14:sldId id="309"/>
            <p14:sldId id="310"/>
            <p14:sldId id="303"/>
            <p14:sldId id="304"/>
            <p14:sldId id="305"/>
            <p14:sldId id="306"/>
            <p14:sldId id="307"/>
            <p14:sldId id="308"/>
            <p14:sldId id="311"/>
            <p14:sldId id="312"/>
            <p14:sldId id="313"/>
            <p14:sldId id="314"/>
            <p14:sldId id="315"/>
            <p14:sldId id="316"/>
            <p14:sldId id="317"/>
            <p14:sldId id="318"/>
            <p14:sldId id="319"/>
            <p14:sldId id="320"/>
            <p14:sldId id="321"/>
            <p14:sldId id="322"/>
            <p14:sldId id="323"/>
            <p14:sldId id="324"/>
            <p14:sldId id="325"/>
            <p14:sldId id="326"/>
            <p14:sldId id="327"/>
            <p14:sldId id="328"/>
            <p14:sldId id="329"/>
            <p14:sldId id="330"/>
            <p14:sldId id="331"/>
            <p14:sldId id="332"/>
            <p14:sldId id="333"/>
            <p14:sldId id="334"/>
            <p14:sldId id="335"/>
            <p14:sldId id="337"/>
            <p14:sldId id="336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3" dt="2026-08-26T07:56:14.76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microsoft.com/office/2015/10/relationships/revisionInfo" Target="revisionInfo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userId="S::urn:spo:tenantanon#e85f2c00-2730-4ca5-b8d8-609b15bd4746::" providerId="AD" clId="Web-{B91E506B-83BB-FFA0-0BDD-E79C3A6425A7}"/>
    <pc:docChg chg="modSld sldOrd">
      <pc:chgData name="Guest User" userId="S::urn:spo:tenantanon#e85f2c00-2730-4ca5-b8d8-609b15bd4746::" providerId="AD" clId="Web-{B91E506B-83BB-FFA0-0BDD-E79C3A6425A7}" dt="2026-08-18T04:22:38.132" v="2" actId="1076"/>
      <pc:docMkLst>
        <pc:docMk/>
      </pc:docMkLst>
      <pc:sldChg chg="ord">
        <pc:chgData name="Guest User" userId="S::urn:spo:tenantanon#e85f2c00-2730-4ca5-b8d8-609b15bd4746::" providerId="AD" clId="Web-{B91E506B-83BB-FFA0-0BDD-E79C3A6425A7}" dt="2026-08-18T04:20:53.502" v="0"/>
        <pc:sldMkLst>
          <pc:docMk/>
          <pc:sldMk cId="2056968747" sldId="258"/>
        </pc:sldMkLst>
      </pc:sldChg>
      <pc:sldChg chg="modSp">
        <pc:chgData name="Guest User" userId="S::urn:spo:tenantanon#e85f2c00-2730-4ca5-b8d8-609b15bd4746::" providerId="AD" clId="Web-{B91E506B-83BB-FFA0-0BDD-E79C3A6425A7}" dt="2026-08-18T04:22:38.132" v="2" actId="1076"/>
        <pc:sldMkLst>
          <pc:docMk/>
          <pc:sldMk cId="260781446" sldId="275"/>
        </pc:sldMkLst>
        <pc:picChg chg="mod">
          <ac:chgData name="Guest User" userId="S::urn:spo:tenantanon#e85f2c00-2730-4ca5-b8d8-609b15bd4746::" providerId="AD" clId="Web-{B91E506B-83BB-FFA0-0BDD-E79C3A6425A7}" dt="2026-08-18T04:22:38.132" v="2" actId="1076"/>
          <ac:picMkLst>
            <pc:docMk/>
            <pc:sldMk cId="260781446" sldId="275"/>
            <ac:picMk id="2" creationId="{00000000-0000-0000-0000-000000000000}"/>
          </ac:picMkLst>
        </pc:picChg>
      </pc:sldChg>
    </pc:docChg>
  </pc:docChgLst>
  <pc:docChgLst>
    <pc:chgData name="SHIRIN MATWANKAR" userId="S::shirin.matwankar@fcrit.ac.in::2e542d0c-3197-41aa-b285-03383859806c" providerId="AD" clId="Web-{00000000-0000-0000-0000-000000000000}"/>
    <pc:docChg chg="addSld modSld modSection">
      <pc:chgData name="SHIRIN MATWANKAR" userId="S::shirin.matwankar@fcrit.ac.in::2e542d0c-3197-41aa-b285-03383859806c" providerId="AD" clId="Web-{00000000-0000-0000-0000-000000000000}" dt="2026-08-26T07:56:14.767" v="2" actId="20577"/>
      <pc:docMkLst>
        <pc:docMk/>
      </pc:docMkLst>
      <pc:sldChg chg="addSp modSp new mod modClrScheme chgLayout">
        <pc:chgData name="SHIRIN MATWANKAR" userId="S::shirin.matwankar@fcrit.ac.in::2e542d0c-3197-41aa-b285-03383859806c" providerId="AD" clId="Web-{00000000-0000-0000-0000-000000000000}" dt="2026-08-26T07:56:14.767" v="2" actId="20577"/>
        <pc:sldMkLst>
          <pc:docMk/>
          <pc:sldMk cId="3287584575" sldId="338"/>
        </pc:sldMkLst>
        <pc:spChg chg="add mod">
          <ac:chgData name="SHIRIN MATWANKAR" userId="S::shirin.matwankar@fcrit.ac.in::2e542d0c-3197-41aa-b285-03383859806c" providerId="AD" clId="Web-{00000000-0000-0000-0000-000000000000}" dt="2026-08-26T07:56:12.329" v="1"/>
          <ac:spMkLst>
            <pc:docMk/>
            <pc:sldMk cId="3287584575" sldId="338"/>
            <ac:spMk id="2" creationId="{88947596-5176-FF64-DDFC-3F0E3D02D3D4}"/>
          </ac:spMkLst>
        </pc:spChg>
        <pc:spChg chg="add mod">
          <ac:chgData name="SHIRIN MATWANKAR" userId="S::shirin.matwankar@fcrit.ac.in::2e542d0c-3197-41aa-b285-03383859806c" providerId="AD" clId="Web-{00000000-0000-0000-0000-000000000000}" dt="2026-08-26T07:56:14.767" v="2" actId="20577"/>
          <ac:spMkLst>
            <pc:docMk/>
            <pc:sldMk cId="3287584575" sldId="338"/>
            <ac:spMk id="3" creationId="{EFFD9AAB-9B85-32A9-1339-0EE55266515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17174-C88B-4162-B477-8E92815CDC7E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3AE58-FDEE-424F-9FB4-9BE2AE4CC7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204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17174-C88B-4162-B477-8E92815CDC7E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3AE58-FDEE-424F-9FB4-9BE2AE4CC7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9070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17174-C88B-4162-B477-8E92815CDC7E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3AE58-FDEE-424F-9FB4-9BE2AE4CC7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6060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17174-C88B-4162-B477-8E92815CDC7E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3AE58-FDEE-424F-9FB4-9BE2AE4CC7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18824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17174-C88B-4162-B477-8E92815CDC7E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3AE58-FDEE-424F-9FB4-9BE2AE4CC7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6210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17174-C88B-4162-B477-8E92815CDC7E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3AE58-FDEE-424F-9FB4-9BE2AE4CC7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6534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17174-C88B-4162-B477-8E92815CDC7E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3AE58-FDEE-424F-9FB4-9BE2AE4CC7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9641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17174-C88B-4162-B477-8E92815CDC7E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3AE58-FDEE-424F-9FB4-9BE2AE4CC7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3596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17174-C88B-4162-B477-8E92815CDC7E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3AE58-FDEE-424F-9FB4-9BE2AE4CC7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2036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17174-C88B-4162-B477-8E92815CDC7E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3AE58-FDEE-424F-9FB4-9BE2AE4CC7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00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17174-C88B-4162-B477-8E92815CDC7E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3AE58-FDEE-424F-9FB4-9BE2AE4CC7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0997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817174-C88B-4162-B477-8E92815CDC7E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33AE58-FDEE-424F-9FB4-9BE2AE4CC7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7495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0263" y="1122363"/>
            <a:ext cx="11469188" cy="4194220"/>
          </a:xfrm>
        </p:spPr>
        <p:txBody>
          <a:bodyPr>
            <a:normAutofit fontScale="90000"/>
          </a:bodyPr>
          <a:lstStyle/>
          <a:p>
            <a:r>
              <a:rPr lang="en-US" b="1">
                <a:solidFill>
                  <a:srgbClr val="C00000"/>
                </a:solidFill>
              </a:rPr>
              <a:t>Regular Relations and Finite-State Morphology: Regular expressions, finite-state automata, and transducers for morphological analysis 	</a:t>
            </a:r>
          </a:p>
        </p:txBody>
      </p:sp>
    </p:spTree>
    <p:extLst>
      <p:ext uri="{BB962C8B-B14F-4D97-AF65-F5344CB8AC3E}">
        <p14:creationId xmlns:p14="http://schemas.microsoft.com/office/powerpoint/2010/main" val="4516275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9348" y="444138"/>
            <a:ext cx="9993085" cy="585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21171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47596-5176-FF64-DDFC-3F0E3D02D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FD9AAB-9B85-32A9-1339-0EE5526651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>
                <a:ea typeface="Calibri"/>
                <a:cs typeface="Calibri"/>
              </a:rPr>
              <a:t>Note:</a:t>
            </a:r>
            <a:br>
              <a:rPr lang="en-US" b="1" dirty="0">
                <a:ea typeface="Calibri"/>
                <a:cs typeface="Calibri"/>
              </a:rPr>
            </a:br>
            <a:r>
              <a:rPr lang="en-US" b="1">
                <a:ea typeface="Calibri"/>
                <a:cs typeface="Calibri"/>
              </a:rPr>
              <a:t>The problems have been solved in the notebook. Please refer to it.</a:t>
            </a:r>
            <a:endParaRPr lang="en-US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875845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526" y="418011"/>
            <a:ext cx="10672354" cy="5930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9687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177" y="671127"/>
            <a:ext cx="9097645" cy="5515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30267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085" y="352697"/>
            <a:ext cx="10724605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03687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899" y="613954"/>
            <a:ext cx="10894422" cy="6035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11125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709" y="561703"/>
            <a:ext cx="10724605" cy="5826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2599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640080"/>
            <a:ext cx="10554789" cy="6048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7331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2594" y="705394"/>
            <a:ext cx="10633166" cy="5826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79101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274" y="640080"/>
            <a:ext cx="10776857" cy="5669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92849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829" y="692331"/>
            <a:ext cx="11064239" cy="6074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76184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164" y="0"/>
            <a:ext cx="9480750" cy="463329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164" y="3936129"/>
            <a:ext cx="9619353" cy="2669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59972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778" y="866417"/>
            <a:ext cx="10737668" cy="5125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23435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1" y="404950"/>
            <a:ext cx="10489474" cy="6165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42478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955" y="623496"/>
            <a:ext cx="11129554" cy="5611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10250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896" y="744584"/>
            <a:ext cx="10802983" cy="5617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92394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337" y="613969"/>
            <a:ext cx="10855233" cy="5630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47796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274" y="640080"/>
            <a:ext cx="10711543" cy="5878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0804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006" y="502568"/>
            <a:ext cx="10881360" cy="5865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814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389" y="679269"/>
            <a:ext cx="11129553" cy="5630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16808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526" y="587830"/>
            <a:ext cx="10306593" cy="5891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81639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886" y="627017"/>
            <a:ext cx="11403874" cy="5839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04743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087" y="535577"/>
            <a:ext cx="10868296" cy="5904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00124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897" y="535578"/>
            <a:ext cx="10907485" cy="6035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044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548640"/>
            <a:ext cx="11469189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10832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954" y="656838"/>
            <a:ext cx="11116491" cy="6018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95144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703" y="470263"/>
            <a:ext cx="11011987" cy="6100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476693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211" y="470263"/>
            <a:ext cx="10776857" cy="6152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102194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834" y="828311"/>
            <a:ext cx="11051177" cy="5716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283502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451" y="653143"/>
            <a:ext cx="11312435" cy="5734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707521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5657" y="823549"/>
            <a:ext cx="10175966" cy="5210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86445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217" y="793743"/>
            <a:ext cx="10489474" cy="5358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869218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692331"/>
            <a:ext cx="11103429" cy="5708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651279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029" y="880706"/>
            <a:ext cx="10776857" cy="5637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649241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890" y="261257"/>
            <a:ext cx="10920549" cy="6152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149705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149" y="875943"/>
            <a:ext cx="10750731" cy="5106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199580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389" y="609779"/>
            <a:ext cx="10894421" cy="5516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087279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709" y="470263"/>
            <a:ext cx="10724605" cy="5969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970205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6915" y="0"/>
            <a:ext cx="9196251" cy="504066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4374" y="4374815"/>
            <a:ext cx="8898792" cy="2210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569072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1783" y="904522"/>
            <a:ext cx="9940834" cy="5048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528236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73942"/>
            <a:ext cx="8765177" cy="411406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5494" y="4003924"/>
            <a:ext cx="7939579" cy="2762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435179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212" y="444137"/>
            <a:ext cx="10398034" cy="6035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006983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0606" y="679269"/>
            <a:ext cx="9679577" cy="5630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221637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022" y="483326"/>
            <a:ext cx="10476411" cy="5839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549436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966" y="640081"/>
            <a:ext cx="10515600" cy="5721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0837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017" y="640080"/>
            <a:ext cx="10985863" cy="6048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385128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274" y="444137"/>
            <a:ext cx="10633166" cy="6035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23031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263" y="378823"/>
            <a:ext cx="10907486" cy="6008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633773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8091" y="561703"/>
            <a:ext cx="10097589" cy="5669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345679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211" y="548640"/>
            <a:ext cx="10593977" cy="5799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42782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336" y="548640"/>
            <a:ext cx="10345783" cy="5826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194568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391886"/>
            <a:ext cx="10175965" cy="6165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11595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650" y="470263"/>
            <a:ext cx="10306595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187001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023" y="509452"/>
            <a:ext cx="10750731" cy="5878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746854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776" y="509451"/>
            <a:ext cx="10345783" cy="5839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021209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70263"/>
            <a:ext cx="10959737" cy="6100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954282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902" y="404949"/>
            <a:ext cx="10567852" cy="5982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380683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216" y="378823"/>
            <a:ext cx="10711543" cy="6257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585170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834" y="509452"/>
            <a:ext cx="10998925" cy="6100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870633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457" y="535577"/>
            <a:ext cx="11220994" cy="5982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372539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017" y="548640"/>
            <a:ext cx="11299371" cy="5734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090280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834" y="483326"/>
            <a:ext cx="10816045" cy="6087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014339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1" y="783772"/>
            <a:ext cx="10528662" cy="5394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680763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509451"/>
            <a:ext cx="10162903" cy="5930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397607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>
                <a:solidFill>
                  <a:srgbClr val="C00000"/>
                </a:solidFill>
              </a:rPr>
              <a:t>Snowball algorithm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algn="just"/>
            <a:r>
              <a:rPr lang="en-IN" b="1"/>
              <a:t>Why it was created </a:t>
            </a:r>
          </a:p>
          <a:p>
            <a:pPr marL="0" indent="0" algn="just">
              <a:buNone/>
            </a:pPr>
            <a:r>
              <a:rPr lang="en-US" b="1"/>
              <a:t>1. The original Porter stemmer had known flaws.</a:t>
            </a:r>
            <a:r>
              <a:rPr lang="en-US"/>
              <a:t> Over the years, Porter noticed his 1980 algorithm made some errors and </a:t>
            </a:r>
            <a:r>
              <a:rPr lang="en-US" err="1"/>
              <a:t>mis-strippings</a:t>
            </a:r>
            <a:r>
              <a:rPr lang="en-US"/>
              <a:t>. Snowball/Porter2 fixes these bugs and edge cases, so it's slightly more accurate.</a:t>
            </a:r>
          </a:p>
          <a:p>
            <a:pPr marL="0" indent="0" algn="just">
              <a:buNone/>
            </a:pPr>
            <a:r>
              <a:rPr lang="en-US" b="1"/>
              <a:t>2. It was English-only.</a:t>
            </a:r>
            <a:r>
              <a:rPr lang="en-US"/>
              <a:t> The original Porter algorithm was hand-written just for English. There was no clean, standard way to build stemmers for French, German, Spanish, Russian, etc. Snowball provides one framework, and stemmers for </a:t>
            </a:r>
            <a:r>
              <a:rPr lang="en-US" b="1"/>
              <a:t>many languages</a:t>
            </a:r>
            <a:r>
              <a:rPr lang="en-US"/>
              <a:t> were written in it (it now covers ~20+ languages).</a:t>
            </a:r>
          </a:p>
          <a:p>
            <a:pPr marL="0" indent="0" algn="just">
              <a:buNone/>
            </a:pPr>
            <a:r>
              <a:rPr lang="en-US" b="1"/>
              <a:t>3. Rules were buried in code.</a:t>
            </a:r>
            <a:r>
              <a:rPr lang="en-US"/>
              <a:t> In the old approach, the linguistic rules were tangled up with C code, making them hard to read, share, or verify. Snowball separates the </a:t>
            </a:r>
            <a:r>
              <a:rPr lang="en-US" b="1"/>
              <a:t>linguistic rules</a:t>
            </a:r>
            <a:r>
              <a:rPr lang="en-US"/>
              <a:t> (written in the clean Snowball language) from the </a:t>
            </a:r>
            <a:r>
              <a:rPr lang="en-US" b="1"/>
              <a:t>generated code</a:t>
            </a:r>
            <a:r>
              <a:rPr lang="en-US"/>
              <a:t>, so a linguist can read and edit the rules without touching C.</a:t>
            </a:r>
          </a:p>
          <a:p>
            <a:pPr marL="0" indent="0" algn="just">
              <a:buNone/>
            </a:pP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982541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>
                <a:solidFill>
                  <a:srgbClr val="C00000"/>
                </a:solidFill>
              </a:rPr>
              <a:t>Snowball algorithm 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b="1"/>
              <a:t>What Snowball is</a:t>
            </a:r>
          </a:p>
          <a:p>
            <a:pPr algn="just"/>
            <a:r>
              <a:rPr lang="en-US"/>
              <a:t>Snowball is a </a:t>
            </a:r>
            <a:r>
              <a:rPr lang="en-US" b="1"/>
              <a:t>stemming framework</a:t>
            </a:r>
            <a:r>
              <a:rPr lang="en-US"/>
              <a:t> created by </a:t>
            </a:r>
            <a:r>
              <a:rPr lang="en-US" b="1"/>
              <a:t>Martin Porter</a:t>
            </a:r>
            <a:r>
              <a:rPr lang="en-US"/>
              <a:t> (the same person behind the Porter stemmer) around 2001. The name has two meanings:</a:t>
            </a:r>
          </a:p>
          <a:p>
            <a:pPr algn="just"/>
            <a:r>
              <a:rPr lang="en-US"/>
              <a:t>It's a small </a:t>
            </a:r>
            <a:r>
              <a:rPr lang="en-US" b="1"/>
              <a:t>programming language</a:t>
            </a:r>
            <a:r>
              <a:rPr lang="en-US"/>
              <a:t> designed specifically for writing stemming algorithms — you describe suffix-stripping rules in Snowball, and it compiles them into fast C, Java, Python, etc.</a:t>
            </a:r>
          </a:p>
          <a:p>
            <a:pPr algn="just"/>
            <a:r>
              <a:rPr lang="en-US"/>
              <a:t>It's also the name of the </a:t>
            </a:r>
            <a:r>
              <a:rPr lang="en-US" b="1"/>
              <a:t>stemmers written in that language</a:t>
            </a:r>
            <a:r>
              <a:rPr lang="en-US"/>
              <a:t> — most importantly </a:t>
            </a:r>
            <a:r>
              <a:rPr lang="en-US" b="1"/>
              <a:t>"Porter2"</a:t>
            </a:r>
            <a:r>
              <a:rPr lang="en-US"/>
              <a:t>, the improved English stemmer, plus stemmers for many other languages.</a:t>
            </a:r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566268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>
                <a:solidFill>
                  <a:srgbClr val="C00000"/>
                </a:solidFill>
              </a:rPr>
              <a:t>Snowball algorithm </a:t>
            </a:r>
            <a:endParaRPr lang="en-IN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21713189"/>
              </p:ext>
            </p:extLst>
          </p:nvPr>
        </p:nvGraphicFramePr>
        <p:xfrm>
          <a:off x="838200" y="1825625"/>
          <a:ext cx="105156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6461">
                  <a:extLst>
                    <a:ext uri="{9D8B030D-6E8A-4147-A177-3AD203B41FA5}">
                      <a16:colId xmlns:a16="http://schemas.microsoft.com/office/drawing/2014/main" val="599702171"/>
                    </a:ext>
                  </a:extLst>
                </a:gridCol>
                <a:gridCol w="4293704">
                  <a:extLst>
                    <a:ext uri="{9D8B030D-6E8A-4147-A177-3AD203B41FA5}">
                      <a16:colId xmlns:a16="http://schemas.microsoft.com/office/drawing/2014/main" val="3055916516"/>
                    </a:ext>
                  </a:extLst>
                </a:gridCol>
                <a:gridCol w="4555435">
                  <a:extLst>
                    <a:ext uri="{9D8B030D-6E8A-4147-A177-3AD203B41FA5}">
                      <a16:colId xmlns:a16="http://schemas.microsoft.com/office/drawing/2014/main" val="13819123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IN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/>
                        <a:t>Snowball as a </a:t>
                      </a:r>
                      <a:r>
                        <a:rPr lang="en-IN" b="1" i="1"/>
                        <a:t>language</a:t>
                      </a:r>
                      <a:endParaRPr lang="en-IN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/>
                        <a:t>Snowball as </a:t>
                      </a:r>
                      <a:r>
                        <a:rPr lang="en-IN" b="1" i="1"/>
                        <a:t>stemmers</a:t>
                      </a:r>
                      <a:endParaRPr lang="en-IN" b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14265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b="1"/>
                        <a:t>What it 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/>
                        <a:t>A rule-writing language + compiler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The stemmers written in it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527259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b="1"/>
                        <a:t>Job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Lets you </a:t>
                      </a:r>
                      <a:r>
                        <a:rPr lang="en-US" b="1" i="1"/>
                        <a:t>describe</a:t>
                      </a:r>
                      <a:r>
                        <a:rPr lang="en-US" b="1"/>
                        <a:t> stemming rules cleanly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 i="1"/>
                        <a:t>Perform</a:t>
                      </a:r>
                      <a:r>
                        <a:rPr lang="en-IN" b="1"/>
                        <a:t> the actual stemming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75848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b="1"/>
                        <a:t>Example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The .sbl rule file syntax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/>
                        <a:t>Porter2 (English), French stemmer, etc.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9830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b="1"/>
                        <a:t>Analogy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/>
                        <a:t>The recipe language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/>
                        <a:t>The finished recipes/dishes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01292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9182254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>
                <a:solidFill>
                  <a:srgbClr val="C00000"/>
                </a:solidFill>
              </a:rPr>
              <a:t>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70992"/>
            <a:ext cx="10515600" cy="5130041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b="1"/>
              <a:t>Vowels = a, e, </a:t>
            </a:r>
            <a:r>
              <a:rPr lang="en-US" b="1" err="1"/>
              <a:t>i</a:t>
            </a:r>
            <a:r>
              <a:rPr lang="en-US" b="1"/>
              <a:t>, o, u, and y when preceded by a consonant. Everything else is a consonant.</a:t>
            </a:r>
          </a:p>
          <a:p>
            <a:pPr algn="just"/>
            <a:r>
              <a:rPr lang="en-US" b="1"/>
              <a:t>Snowball marks off two regions at the end of the word</a:t>
            </a:r>
            <a:r>
              <a:rPr lang="en-US"/>
              <a:t>, </a:t>
            </a:r>
            <a:r>
              <a:rPr lang="en-US" b="1"/>
              <a:t>called R1 and R2</a:t>
            </a:r>
          </a:p>
          <a:p>
            <a:pPr algn="just"/>
            <a:r>
              <a:rPr lang="en-US" b="1"/>
              <a:t>R1 = the region after the first non-vowel following a vowel (the part of the word after the first </a:t>
            </a:r>
            <a:r>
              <a:rPr lang="en-US" b="1" err="1"/>
              <a:t>vowel→consonant</a:t>
            </a:r>
            <a:r>
              <a:rPr lang="en-US" b="1"/>
              <a:t> boundary).</a:t>
            </a:r>
          </a:p>
          <a:p>
            <a:pPr algn="just"/>
            <a:r>
              <a:rPr lang="en-US" b="1"/>
              <a:t>R2 = the region after the first non-vowel following a vowel inside R1 (apply the same rule again to R1).</a:t>
            </a:r>
          </a:p>
          <a:p>
            <a:pPr algn="just"/>
            <a:r>
              <a:rPr lang="en-US" b="1"/>
              <a:t>Example — beautiful: R1 = "</a:t>
            </a:r>
            <a:r>
              <a:rPr lang="en-US" b="1" err="1"/>
              <a:t>iful</a:t>
            </a:r>
            <a:r>
              <a:rPr lang="en-US" b="1"/>
              <a:t>", R2 = "</a:t>
            </a:r>
            <a:r>
              <a:rPr lang="en-US" b="1" err="1"/>
              <a:t>ul</a:t>
            </a:r>
            <a:r>
              <a:rPr lang="en-US" b="1"/>
              <a:t>".</a:t>
            </a:r>
          </a:p>
          <a:p>
            <a:pPr algn="just"/>
            <a:r>
              <a:rPr lang="en-US" b="1"/>
              <a:t>Example — beauty: R1 = "y", R2 = "" (empty).</a:t>
            </a:r>
          </a:p>
          <a:p>
            <a:pPr algn="just"/>
            <a:r>
              <a:rPr lang="en-US" b="1"/>
              <a:t>(This replaces Porter's measure m. Saying "the suffix is in R1" ≈ Porter's m&gt;0; "in R2" ≈ m&gt;1.)</a:t>
            </a:r>
            <a:endParaRPr lang="en-IN" b="1"/>
          </a:p>
        </p:txBody>
      </p:sp>
    </p:spTree>
    <p:extLst>
      <p:ext uri="{BB962C8B-B14F-4D97-AF65-F5344CB8AC3E}">
        <p14:creationId xmlns:p14="http://schemas.microsoft.com/office/powerpoint/2010/main" val="409930139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b="1"/>
              <a:t>A word is "short" if it ends in a short syllable AND R1 is the whole word. A short syllable = a vowel followed by a non-vowel that isn't w, x, or Y (or a vowel at the start of the word followed by a consonant). Examples of short words: </a:t>
            </a:r>
            <a:r>
              <a:rPr lang="en-US" b="1" i="1"/>
              <a:t>bed, shed, hop</a:t>
            </a:r>
            <a:r>
              <a:rPr lang="en-US" b="1"/>
              <a:t>.</a:t>
            </a:r>
          </a:p>
          <a:p>
            <a:pPr algn="just"/>
            <a:r>
              <a:rPr lang="en-US" b="1"/>
              <a:t>Special exception list (do NOT stem these; return as-is or map directly):</a:t>
            </a:r>
          </a:p>
          <a:p>
            <a:pPr algn="just"/>
            <a:r>
              <a:rPr lang="en-US" b="1" err="1"/>
              <a:t>skis→ski</a:t>
            </a:r>
            <a:r>
              <a:rPr lang="en-US" b="1"/>
              <a:t>, </a:t>
            </a:r>
            <a:r>
              <a:rPr lang="en-US" b="1" err="1"/>
              <a:t>skies→sky</a:t>
            </a:r>
            <a:r>
              <a:rPr lang="en-US" b="1"/>
              <a:t>, </a:t>
            </a:r>
            <a:r>
              <a:rPr lang="en-US" b="1" err="1"/>
              <a:t>dying→die</a:t>
            </a:r>
            <a:r>
              <a:rPr lang="en-US" b="1"/>
              <a:t>, </a:t>
            </a:r>
            <a:r>
              <a:rPr lang="en-US" b="1" err="1"/>
              <a:t>lying→lie</a:t>
            </a:r>
            <a:r>
              <a:rPr lang="en-US" b="1"/>
              <a:t>, </a:t>
            </a:r>
            <a:r>
              <a:rPr lang="en-US" b="1" err="1"/>
              <a:t>tying→tie</a:t>
            </a:r>
            <a:endParaRPr lang="en-US" b="1"/>
          </a:p>
          <a:p>
            <a:pPr algn="just"/>
            <a:r>
              <a:rPr lang="en-US" b="1"/>
              <a:t>Words left completely unchanged: sky, news, </a:t>
            </a:r>
            <a:r>
              <a:rPr lang="en-US" b="1" err="1"/>
              <a:t>howe</a:t>
            </a:r>
            <a:r>
              <a:rPr lang="en-US" b="1"/>
              <a:t>, atlas, cosmos, bias, </a:t>
            </a:r>
            <a:r>
              <a:rPr lang="en-US" b="1" err="1"/>
              <a:t>andes</a:t>
            </a:r>
            <a:r>
              <a:rPr lang="en-US" b="1"/>
              <a:t>, and a few others.</a:t>
            </a:r>
          </a:p>
          <a:p>
            <a:pPr marL="0" indent="0" algn="just">
              <a:buNone/>
            </a:pPr>
            <a:endParaRPr lang="en-IN" b="1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>
                <a:solidFill>
                  <a:srgbClr val="C00000"/>
                </a:solidFill>
              </a:rPr>
              <a:t>Rules</a:t>
            </a:r>
          </a:p>
        </p:txBody>
      </p:sp>
    </p:spTree>
    <p:extLst>
      <p:ext uri="{BB962C8B-B14F-4D97-AF65-F5344CB8AC3E}">
        <p14:creationId xmlns:p14="http://schemas.microsoft.com/office/powerpoint/2010/main" val="26986201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/>
              <a:t>Step 0 — remove apostrophe-s</a:t>
            </a:r>
          </a:p>
          <a:p>
            <a:pPr marL="0" indent="0">
              <a:buNone/>
            </a:pPr>
            <a:r>
              <a:rPr lang="en-US"/>
              <a:t>Strip these suffixes if present, longest first: 's', 's, '.</a:t>
            </a:r>
          </a:p>
          <a:p>
            <a:pPr marL="0" indent="0">
              <a:buNone/>
            </a:pPr>
            <a:r>
              <a:rPr lang="en-US"/>
              <a:t>John's → John</a:t>
            </a:r>
          </a:p>
          <a:p>
            <a:pPr marL="0" indent="0">
              <a:buNone/>
            </a:pPr>
            <a:r>
              <a:rPr lang="en-US" b="1"/>
              <a:t>Step 1a — plurals and "-s“</a:t>
            </a:r>
          </a:p>
          <a:p>
            <a:r>
              <a:rPr lang="en-US"/>
              <a:t>Search for the longest match: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err="1"/>
              <a:t>sses</a:t>
            </a:r>
            <a:r>
              <a:rPr lang="en-US"/>
              <a:t> → </a:t>
            </a:r>
            <a:r>
              <a:rPr lang="en-US" err="1"/>
              <a:t>ss</a:t>
            </a:r>
            <a:r>
              <a:rPr lang="en-US"/>
              <a:t> : caresses → caress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err="1"/>
              <a:t>ied</a:t>
            </a:r>
            <a:r>
              <a:rPr lang="en-US"/>
              <a:t>, </a:t>
            </a:r>
            <a:r>
              <a:rPr lang="en-US" err="1"/>
              <a:t>ies</a:t>
            </a:r>
            <a:r>
              <a:rPr lang="en-US"/>
              <a:t> → </a:t>
            </a:r>
            <a:r>
              <a:rPr lang="en-US" err="1"/>
              <a:t>i</a:t>
            </a:r>
            <a:r>
              <a:rPr lang="en-US"/>
              <a:t> if the part before is more than one letter, else </a:t>
            </a:r>
            <a:r>
              <a:rPr lang="en-US" err="1"/>
              <a:t>ie</a:t>
            </a:r>
            <a:r>
              <a:rPr lang="en-US"/>
              <a:t> : ties → tie, cries → cri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/>
              <a:t>s → delete, if the word contains a vowel not immediately before the s : gaps → gap, but gas → gas (unchanged)us, </a:t>
            </a:r>
            <a:r>
              <a:rPr lang="en-US" err="1"/>
              <a:t>ss</a:t>
            </a:r>
            <a:r>
              <a:rPr lang="en-US"/>
              <a:t> → leave unchanged</a:t>
            </a:r>
            <a:endParaRPr lang="en-IN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>
                <a:solidFill>
                  <a:srgbClr val="C00000"/>
                </a:solidFill>
              </a:rPr>
              <a:t>Rules</a:t>
            </a:r>
          </a:p>
        </p:txBody>
      </p:sp>
    </p:spTree>
    <p:extLst>
      <p:ext uri="{BB962C8B-B14F-4D97-AF65-F5344CB8AC3E}">
        <p14:creationId xmlns:p14="http://schemas.microsoft.com/office/powerpoint/2010/main" val="387139291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69762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>
                <a:solidFill>
                  <a:srgbClr val="C00000"/>
                </a:solidFill>
              </a:rPr>
              <a:t>Rules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834888"/>
            <a:ext cx="10515600" cy="5632173"/>
          </a:xfrm>
        </p:spPr>
        <p:txBody>
          <a:bodyPr/>
          <a:lstStyle/>
          <a:p>
            <a:pPr marL="0" indent="0">
              <a:buNone/>
            </a:pPr>
            <a:r>
              <a:rPr lang="en-US" b="1"/>
              <a:t>Step 1b — "-</a:t>
            </a:r>
            <a:r>
              <a:rPr lang="en-US" b="1" err="1"/>
              <a:t>ed</a:t>
            </a:r>
            <a:r>
              <a:rPr lang="en-US" b="1"/>
              <a:t>" and "-</a:t>
            </a:r>
            <a:r>
              <a:rPr lang="en-US" b="1" err="1"/>
              <a:t>ing</a:t>
            </a:r>
            <a:r>
              <a:rPr lang="en-US" b="1"/>
              <a:t>“</a:t>
            </a:r>
          </a:p>
          <a:p>
            <a:r>
              <a:rPr lang="en-US" err="1"/>
              <a:t>eed</a:t>
            </a:r>
            <a:r>
              <a:rPr lang="en-US"/>
              <a:t>, </a:t>
            </a:r>
            <a:r>
              <a:rPr lang="en-US" err="1"/>
              <a:t>eedly</a:t>
            </a:r>
            <a:r>
              <a:rPr lang="en-US"/>
              <a:t> → </a:t>
            </a:r>
            <a:r>
              <a:rPr lang="en-US" err="1"/>
              <a:t>ee</a:t>
            </a:r>
            <a:r>
              <a:rPr lang="en-US"/>
              <a:t> if in R1 : agreed → agree, feed → feed (unchanged, "</a:t>
            </a:r>
            <a:r>
              <a:rPr lang="en-US" err="1"/>
              <a:t>eed</a:t>
            </a:r>
            <a:r>
              <a:rPr lang="en-US"/>
              <a:t>" not in R1)</a:t>
            </a:r>
          </a:p>
          <a:p>
            <a:r>
              <a:rPr lang="en-US" err="1"/>
              <a:t>ed</a:t>
            </a:r>
            <a:r>
              <a:rPr lang="en-US"/>
              <a:t>, </a:t>
            </a:r>
            <a:r>
              <a:rPr lang="en-US" err="1"/>
              <a:t>edly</a:t>
            </a:r>
            <a:r>
              <a:rPr lang="en-US"/>
              <a:t>, </a:t>
            </a:r>
            <a:r>
              <a:rPr lang="en-US" err="1"/>
              <a:t>ing</a:t>
            </a:r>
            <a:r>
              <a:rPr lang="en-US"/>
              <a:t>, </a:t>
            </a:r>
            <a:r>
              <a:rPr lang="en-US" err="1"/>
              <a:t>ingly</a:t>
            </a:r>
            <a:r>
              <a:rPr lang="en-US"/>
              <a:t> → delete if the preceding word part contains a vowel, then fix up: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/>
              <a:t>if the result ends in at, </a:t>
            </a:r>
            <a:r>
              <a:rPr lang="en-US" err="1"/>
              <a:t>bl</a:t>
            </a:r>
            <a:r>
              <a:rPr lang="en-US"/>
              <a:t>, </a:t>
            </a:r>
            <a:r>
              <a:rPr lang="en-US" err="1"/>
              <a:t>iz</a:t>
            </a:r>
            <a:r>
              <a:rPr lang="en-US"/>
              <a:t> → add e : fizzed → fizz... hoped → hope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/>
              <a:t>if it ends in a double consonant → remove the last letter : hopping → hop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/>
              <a:t>if it is now short → add e : hoped → hope, hopping → hop</a:t>
            </a:r>
          </a:p>
          <a:p>
            <a:pPr marL="0" indent="0">
              <a:buNone/>
            </a:pPr>
            <a:r>
              <a:rPr lang="en-IN" b="1"/>
              <a:t>Step 1c — replace "y“</a:t>
            </a:r>
          </a:p>
          <a:p>
            <a:r>
              <a:rPr lang="en-US"/>
              <a:t>y or Y → </a:t>
            </a:r>
            <a:r>
              <a:rPr lang="en-US" err="1"/>
              <a:t>i</a:t>
            </a:r>
            <a:r>
              <a:rPr lang="en-US"/>
              <a:t>, if preceded by a consonant and the word is more than 2 letters : cry → cri, say → say (unchanged), by → by (unchanged)</a:t>
            </a:r>
            <a:endParaRPr lang="en-IN"/>
          </a:p>
          <a:p>
            <a:pPr marL="0" indent="0">
              <a:buNone/>
            </a:pP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930351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>
                <a:solidFill>
                  <a:srgbClr val="C00000"/>
                </a:solidFill>
              </a:rPr>
              <a:t>Rules</a:t>
            </a:r>
            <a:endParaRPr lang="en-IN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1154362"/>
            <a:ext cx="11176201" cy="56938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Step 2 — long suffix reductions (suffix must be in R1)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Replace the longest match, only if it lies in R1: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</a:rPr>
              <a:t>tional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→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</a:rPr>
              <a:t>tion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</a:rPr>
              <a:t>enci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→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</a:rPr>
              <a:t>ence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</a:rPr>
              <a:t>anci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→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</a:rPr>
              <a:t>ance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</a:rPr>
              <a:t>abli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→ able,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</a:rPr>
              <a:t>entli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→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</a:rPr>
              <a:t>ent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</a:rPr>
              <a:t>izer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</a:rPr>
              <a:t>ization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→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</a:rPr>
              <a:t>ize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</a:rPr>
              <a:t>ational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</a:rPr>
              <a:t>ation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</a:rPr>
              <a:t>ator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→ ate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</a:rPr>
              <a:t>alism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</a:rPr>
              <a:t>aliti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</a:rPr>
              <a:t>alli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→ al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</a:rPr>
              <a:t>fulness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→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</a:rPr>
              <a:t>ful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</a:rPr>
              <a:t>ousli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</a:rPr>
              <a:t>ousness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→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</a:rPr>
              <a:t>ous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</a:rPr>
              <a:t>iveness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</a:rPr>
              <a:t>iviti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→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</a:rPr>
              <a:t>ive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</a:rPr>
              <a:t>biliti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</a:rPr>
              <a:t>bli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→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</a:rPr>
              <a:t>ble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</a:rPr>
              <a:t>ogi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→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</a:rPr>
              <a:t>og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(if preceded by l),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</a:rPr>
              <a:t>fulli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→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</a:rPr>
              <a:t>ful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</a:rPr>
              <a:t>lessli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→ less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li → delete (if preceded by a valid "li-ending" letter: c d e g h k m n r t)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IN" i="1"/>
              <a:t>Examples:</a:t>
            </a:r>
            <a:r>
              <a:rPr lang="en-IN"/>
              <a:t> </a:t>
            </a:r>
            <a:r>
              <a:rPr lang="en-IN" i="1"/>
              <a:t>rational → rational</a:t>
            </a:r>
            <a:r>
              <a:rPr lang="en-IN"/>
              <a:t>, </a:t>
            </a:r>
            <a:r>
              <a:rPr lang="en-IN" i="1"/>
              <a:t>conditional → condition</a:t>
            </a:r>
            <a:r>
              <a:rPr lang="en-IN"/>
              <a:t>, </a:t>
            </a:r>
            <a:r>
              <a:rPr lang="en-IN" i="1"/>
              <a:t>digitizer → digitize</a:t>
            </a:r>
            <a:r>
              <a:rPr lang="en-IN"/>
              <a:t>,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IN" i="1"/>
              <a:t>hopefulness → hopeful</a:t>
            </a:r>
            <a:r>
              <a:rPr lang="en-IN"/>
              <a:t>, </a:t>
            </a:r>
            <a:r>
              <a:rPr lang="en-IN" i="1"/>
              <a:t>quickly → quick</a:t>
            </a:r>
            <a:r>
              <a:rPr lang="en-IN"/>
              <a:t>.</a:t>
            </a: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41105243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>
                <a:solidFill>
                  <a:srgbClr val="C00000"/>
                </a:solidFill>
              </a:rPr>
              <a:t>Rules</a:t>
            </a:r>
            <a:endParaRPr lang="en-IN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1923802"/>
            <a:ext cx="11574772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Step 3 — more suffix reductions (suffix must be in R1)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</a:rPr>
              <a:t>ational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→ ate, </a:t>
            </a:r>
            <a:r>
              <a:rPr kumimoji="0" lang="en-US" altLang="en-US" sz="24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</a:rPr>
              <a:t>tional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→ </a:t>
            </a:r>
            <a:r>
              <a:rPr kumimoji="0" lang="en-US" altLang="en-US" sz="24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</a:rPr>
              <a:t>tion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</a:rPr>
              <a:t>alize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→ al, </a:t>
            </a:r>
            <a:r>
              <a:rPr kumimoji="0" lang="en-US" altLang="en-US" sz="24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</a:rPr>
              <a:t>icate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4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</a:rPr>
              <a:t>iciti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4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</a:rPr>
              <a:t>ical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→ </a:t>
            </a:r>
            <a:r>
              <a:rPr kumimoji="0" lang="en-US" altLang="en-US" sz="24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</a:rPr>
              <a:t>ic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</a:rPr>
              <a:t>ful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 ness → delete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</a:rPr>
              <a:t>ative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→ delete (only </a:t>
            </a: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if in R2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Examples: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4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formalize → formal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4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electrical → electric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4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goodness → good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Step 4 — strip suffix entirely (suffix must be in R2)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Delete the longest match if it's in R2: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al, </a:t>
            </a:r>
            <a:r>
              <a:rPr kumimoji="0" lang="en-US" altLang="en-US" sz="24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</a:rPr>
              <a:t>ance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4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</a:rPr>
              <a:t>ence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4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</a:rPr>
              <a:t>er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4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</a:rPr>
              <a:t>ic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 able, </a:t>
            </a:r>
            <a:r>
              <a:rPr kumimoji="0" lang="en-US" altLang="en-US" sz="24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</a:rPr>
              <a:t>ible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 ant, </a:t>
            </a:r>
            <a:r>
              <a:rPr kumimoji="0" lang="en-US" altLang="en-US" sz="24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</a:rPr>
              <a:t>ement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4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</a:rPr>
              <a:t>ment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4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</a:rPr>
              <a:t>ent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 ism, ate, </a:t>
            </a:r>
            <a:r>
              <a:rPr kumimoji="0" lang="en-US" altLang="en-US" sz="24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</a:rPr>
              <a:t>iti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4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</a:rPr>
              <a:t>ous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4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</a:rPr>
              <a:t>ive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4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</a:rPr>
              <a:t>ize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→ delete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ion → delete </a:t>
            </a: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only if preceded by s or t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Examples: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4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revival → </a:t>
            </a:r>
            <a:r>
              <a:rPr kumimoji="0" lang="en-US" altLang="en-US" sz="2400" b="0" i="1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</a:rPr>
              <a:t>reviv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4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allowance → allow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4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adoption → adopt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4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homologous → homolog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1830142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>
                <a:solidFill>
                  <a:srgbClr val="C00000"/>
                </a:solidFill>
              </a:rPr>
              <a:t>Rules</a:t>
            </a:r>
            <a:endParaRPr lang="en-IN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308113" y="2665875"/>
            <a:ext cx="11786945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Step 5 — final tidy-up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e → delete if it's in R2, OR in R1 and the word is not </a:t>
            </a:r>
            <a:r>
              <a:rPr kumimoji="0" lang="en-US" altLang="en-US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short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: </a:t>
            </a:r>
            <a:r>
              <a:rPr kumimoji="0" lang="en-US" altLang="en-US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probate → </a:t>
            </a:r>
            <a:r>
              <a:rPr kumimoji="0" lang="en-US" altLang="en-US" b="0" i="1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</a:rPr>
              <a:t>probat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rate → rate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(unchanged)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l → delete if in R2 and preceded by l : </a:t>
            </a:r>
            <a:r>
              <a:rPr kumimoji="0" lang="en-US" altLang="en-US" b="0" i="1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</a:rPr>
              <a:t>controll</a:t>
            </a:r>
            <a:r>
              <a:rPr kumimoji="0" lang="en-US" altLang="en-US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→ control</a:t>
            </a: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67267545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0629061"/>
              </p:ext>
            </p:extLst>
          </p:nvPr>
        </p:nvGraphicFramePr>
        <p:xfrm>
          <a:off x="516833" y="460649"/>
          <a:ext cx="11012560" cy="5820880"/>
        </p:xfrm>
        <a:graphic>
          <a:graphicData uri="http://schemas.openxmlformats.org/drawingml/2006/table">
            <a:tbl>
              <a:tblPr/>
              <a:tblGrid>
                <a:gridCol w="2753140">
                  <a:extLst>
                    <a:ext uri="{9D8B030D-6E8A-4147-A177-3AD203B41FA5}">
                      <a16:colId xmlns:a16="http://schemas.microsoft.com/office/drawing/2014/main" val="3597529294"/>
                    </a:ext>
                  </a:extLst>
                </a:gridCol>
                <a:gridCol w="2753140">
                  <a:extLst>
                    <a:ext uri="{9D8B030D-6E8A-4147-A177-3AD203B41FA5}">
                      <a16:colId xmlns:a16="http://schemas.microsoft.com/office/drawing/2014/main" val="3833992626"/>
                    </a:ext>
                  </a:extLst>
                </a:gridCol>
                <a:gridCol w="2753140">
                  <a:extLst>
                    <a:ext uri="{9D8B030D-6E8A-4147-A177-3AD203B41FA5}">
                      <a16:colId xmlns:a16="http://schemas.microsoft.com/office/drawing/2014/main" val="500271185"/>
                    </a:ext>
                  </a:extLst>
                </a:gridCol>
                <a:gridCol w="2753140">
                  <a:extLst>
                    <a:ext uri="{9D8B030D-6E8A-4147-A177-3AD203B41FA5}">
                      <a16:colId xmlns:a16="http://schemas.microsoft.com/office/drawing/2014/main" val="4140401630"/>
                    </a:ext>
                  </a:extLst>
                </a:gridCol>
              </a:tblGrid>
              <a:tr h="358208">
                <a:tc>
                  <a:txBody>
                    <a:bodyPr/>
                    <a:lstStyle/>
                    <a:p>
                      <a:r>
                        <a:rPr lang="en-IN" sz="1600"/>
                        <a:t>Aspect</a:t>
                      </a:r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Porter</a:t>
                      </a:r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Snowball (Porter2)</a:t>
                      </a:r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Lemmatization</a:t>
                      </a:r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32160"/>
                  </a:ext>
                </a:extLst>
              </a:tr>
              <a:tr h="358208">
                <a:tc>
                  <a:txBody>
                    <a:bodyPr/>
                    <a:lstStyle/>
                    <a:p>
                      <a:r>
                        <a:rPr lang="en-IN" sz="1600" b="1"/>
                        <a:t>Type</a:t>
                      </a:r>
                      <a:endParaRPr lang="en-IN" sz="1600"/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Rule-based stemming</a:t>
                      </a:r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Rule-based stemming</a:t>
                      </a:r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Dictionary + rule-based</a:t>
                      </a:r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05724895"/>
                  </a:ext>
                </a:extLst>
              </a:tr>
              <a:tr h="358208">
                <a:tc>
                  <a:txBody>
                    <a:bodyPr/>
                    <a:lstStyle/>
                    <a:p>
                      <a:r>
                        <a:rPr lang="en-IN" sz="1600" b="1"/>
                        <a:t>Uses a lexicon?</a:t>
                      </a:r>
                      <a:endParaRPr lang="en-IN" sz="1600"/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No</a:t>
                      </a:r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No</a:t>
                      </a:r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Yes</a:t>
                      </a:r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55573131"/>
                  </a:ext>
                </a:extLst>
              </a:tr>
              <a:tr h="358208">
                <a:tc>
                  <a:txBody>
                    <a:bodyPr/>
                    <a:lstStyle/>
                    <a:p>
                      <a:r>
                        <a:rPr lang="en-IN" sz="1600" b="1"/>
                        <a:t>Uses grammar / POS?</a:t>
                      </a:r>
                      <a:endParaRPr lang="en-IN" sz="1600"/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No</a:t>
                      </a:r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No</a:t>
                      </a:r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Often yes</a:t>
                      </a:r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7350560"/>
                  </a:ext>
                </a:extLst>
              </a:tr>
              <a:tr h="626864">
                <a:tc>
                  <a:txBody>
                    <a:bodyPr/>
                    <a:lstStyle/>
                    <a:p>
                      <a:r>
                        <a:rPr lang="en-IN" sz="1600" b="1"/>
                        <a:t>Output</a:t>
                      </a:r>
                      <a:endParaRPr lang="en-IN" sz="1600"/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A stem (may be non-word)</a:t>
                      </a:r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A stem (may be non-word)</a:t>
                      </a:r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A lemma (real word)</a:t>
                      </a:r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9021137"/>
                  </a:ext>
                </a:extLst>
              </a:tr>
              <a:tr h="358208">
                <a:tc>
                  <a:txBody>
                    <a:bodyPr/>
                    <a:lstStyle/>
                    <a:p>
                      <a:r>
                        <a:rPr lang="en-IN" sz="1600" b="1"/>
                        <a:t>Languages</a:t>
                      </a:r>
                      <a:endParaRPr lang="en-IN" sz="1600"/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English only</a:t>
                      </a:r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Many languages (20+)</a:t>
                      </a:r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Language-specific</a:t>
                      </a:r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2501302"/>
                  </a:ext>
                </a:extLst>
              </a:tr>
              <a:tr h="358208">
                <a:tc>
                  <a:txBody>
                    <a:bodyPr/>
                    <a:lstStyle/>
                    <a:p>
                      <a:r>
                        <a:rPr lang="en-IN" sz="1600" b="1"/>
                        <a:t>Aggressiveness</a:t>
                      </a:r>
                      <a:endParaRPr lang="en-IN" sz="1600"/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Moderate</a:t>
                      </a:r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Moderate (slightly better)</a:t>
                      </a:r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Precise</a:t>
                      </a:r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27647119"/>
                  </a:ext>
                </a:extLst>
              </a:tr>
              <a:tr h="358208">
                <a:tc>
                  <a:txBody>
                    <a:bodyPr/>
                    <a:lstStyle/>
                    <a:p>
                      <a:r>
                        <a:rPr lang="en-IN" sz="1600" b="1"/>
                        <a:t>Handles irregular forms?</a:t>
                      </a:r>
                      <a:endParaRPr lang="en-IN" sz="1600"/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No</a:t>
                      </a:r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No</a:t>
                      </a:r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Yes</a:t>
                      </a:r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4394893"/>
                  </a:ext>
                </a:extLst>
              </a:tr>
              <a:tr h="626864">
                <a:tc>
                  <a:txBody>
                    <a:bodyPr/>
                    <a:lstStyle/>
                    <a:p>
                      <a:r>
                        <a:rPr lang="en-IN" sz="1600" b="1"/>
                        <a:t>Speed vs accuracy</a:t>
                      </a:r>
                      <a:endParaRPr lang="en-IN" sz="1600"/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Fast, crude</a:t>
                      </a:r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Fast, slightly more accurate</a:t>
                      </a:r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Slower, precise</a:t>
                      </a:r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834878"/>
                  </a:ext>
                </a:extLst>
              </a:tr>
              <a:tr h="626864">
                <a:tc>
                  <a:txBody>
                    <a:bodyPr/>
                    <a:lstStyle/>
                    <a:p>
                      <a:r>
                        <a:rPr lang="en-IN" sz="1600" b="1"/>
                        <a:t>Best for</a:t>
                      </a:r>
                      <a:endParaRPr lang="en-IN" sz="1600"/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Search / information retrieval</a:t>
                      </a:r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Search / IR, multilingual</a:t>
                      </a:r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Grammar, meaning, display</a:t>
                      </a:r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29066610"/>
                  </a:ext>
                </a:extLst>
              </a:tr>
              <a:tr h="358208">
                <a:tc>
                  <a:txBody>
                    <a:bodyPr/>
                    <a:lstStyle/>
                    <a:p>
                      <a:r>
                        <a:rPr lang="en-IN" sz="1600" b="1"/>
                        <a:t>Example: "studies"</a:t>
                      </a:r>
                      <a:endParaRPr lang="en-IN" sz="1600"/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err="1"/>
                        <a:t>studi</a:t>
                      </a:r>
                      <a:endParaRPr lang="en-IN" sz="1600"/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studi</a:t>
                      </a:r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study</a:t>
                      </a:r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11281540"/>
                  </a:ext>
                </a:extLst>
              </a:tr>
              <a:tr h="358208">
                <a:tc>
                  <a:txBody>
                    <a:bodyPr/>
                    <a:lstStyle/>
                    <a:p>
                      <a:r>
                        <a:rPr lang="en-IN" sz="1600" b="1"/>
                        <a:t>Example: "better"</a:t>
                      </a:r>
                      <a:endParaRPr lang="en-IN" sz="1600"/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better</a:t>
                      </a:r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better</a:t>
                      </a:r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good</a:t>
                      </a:r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7960915"/>
                  </a:ext>
                </a:extLst>
              </a:tr>
              <a:tr h="358208">
                <a:tc>
                  <a:txBody>
                    <a:bodyPr/>
                    <a:lstStyle/>
                    <a:p>
                      <a:r>
                        <a:rPr lang="en-IN" sz="1600" b="1"/>
                        <a:t>Example: "was"</a:t>
                      </a:r>
                      <a:endParaRPr lang="en-IN" sz="1600"/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wa</a:t>
                      </a:r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wa</a:t>
                      </a:r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be</a:t>
                      </a:r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3296425"/>
                  </a:ext>
                </a:extLst>
              </a:tr>
              <a:tr h="358208">
                <a:tc>
                  <a:txBody>
                    <a:bodyPr/>
                    <a:lstStyle/>
                    <a:p>
                      <a:r>
                        <a:rPr lang="en-IN" sz="1600" b="1"/>
                        <a:t>Example: "mice"</a:t>
                      </a:r>
                      <a:endParaRPr lang="en-IN" sz="1600"/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mice</a:t>
                      </a:r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mice</a:t>
                      </a:r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mouse</a:t>
                      </a:r>
                    </a:p>
                  </a:txBody>
                  <a:tcPr marL="66944" marR="66944" marT="33472" marB="334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36836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00954014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183" y="2104425"/>
            <a:ext cx="9501807" cy="2255539"/>
          </a:xfrm>
        </p:spPr>
      </p:pic>
    </p:spTree>
    <p:extLst>
      <p:ext uri="{BB962C8B-B14F-4D97-AF65-F5344CB8AC3E}">
        <p14:creationId xmlns:p14="http://schemas.microsoft.com/office/powerpoint/2010/main" val="18192651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77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77</vt:i4>
      </vt:variant>
    </vt:vector>
  </HeadingPairs>
  <TitlesOfParts>
    <vt:vector size="78" baseType="lpstr">
      <vt:lpstr>Office Theme</vt:lpstr>
      <vt:lpstr>Regular Relations and Finite-State Morphology: Regular expressions, finite-state automata, and transducers for morphological analysis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Snowball algorithm </vt:lpstr>
      <vt:lpstr>Snowball algorithm </vt:lpstr>
      <vt:lpstr>Snowball algorithm </vt:lpstr>
      <vt:lpstr>Rules</vt:lpstr>
      <vt:lpstr>Rules</vt:lpstr>
      <vt:lpstr>Rules</vt:lpstr>
      <vt:lpstr>Rules</vt:lpstr>
      <vt:lpstr>Rules</vt:lpstr>
      <vt:lpstr>Rules</vt:lpstr>
      <vt:lpstr>Rules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revision>4</cp:revision>
  <dcterms:created xsi:type="dcterms:W3CDTF">2026-07-29T05:14:16Z</dcterms:created>
  <dcterms:modified xsi:type="dcterms:W3CDTF">2026-08-26T07:56:16Z</dcterms:modified>
</cp:coreProperties>
</file>