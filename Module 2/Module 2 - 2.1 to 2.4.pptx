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91"/>
  </p:notesMasterIdLst>
  <p:handoutMasterIdLst>
    <p:handoutMasterId r:id="rId92"/>
  </p:handoutMasterIdLst>
  <p:sldIdLst>
    <p:sldId id="256" r:id="rId6"/>
    <p:sldId id="276" r:id="rId7"/>
    <p:sldId id="572" r:id="rId8"/>
    <p:sldId id="559" r:id="rId9"/>
    <p:sldId id="560" r:id="rId10"/>
    <p:sldId id="561" r:id="rId11"/>
    <p:sldId id="562" r:id="rId12"/>
    <p:sldId id="563" r:id="rId13"/>
    <p:sldId id="564" r:id="rId14"/>
    <p:sldId id="567" r:id="rId15"/>
    <p:sldId id="569" r:id="rId16"/>
    <p:sldId id="570" r:id="rId17"/>
    <p:sldId id="571" r:id="rId18"/>
    <p:sldId id="565" r:id="rId19"/>
    <p:sldId id="566" r:id="rId20"/>
    <p:sldId id="410" r:id="rId21"/>
    <p:sldId id="558" r:id="rId22"/>
    <p:sldId id="409" r:id="rId23"/>
    <p:sldId id="435" r:id="rId24"/>
    <p:sldId id="411" r:id="rId25"/>
    <p:sldId id="422" r:id="rId26"/>
    <p:sldId id="267" r:id="rId27"/>
    <p:sldId id="268" r:id="rId28"/>
    <p:sldId id="423" r:id="rId29"/>
    <p:sldId id="424" r:id="rId30"/>
    <p:sldId id="425" r:id="rId31"/>
    <p:sldId id="456" r:id="rId32"/>
    <p:sldId id="421" r:id="rId33"/>
    <p:sldId id="426" r:id="rId34"/>
    <p:sldId id="427" r:id="rId35"/>
    <p:sldId id="430" r:id="rId36"/>
    <p:sldId id="443" r:id="rId37"/>
    <p:sldId id="428" r:id="rId38"/>
    <p:sldId id="458" r:id="rId39"/>
    <p:sldId id="444" r:id="rId40"/>
    <p:sldId id="445" r:id="rId41"/>
    <p:sldId id="446" r:id="rId42"/>
    <p:sldId id="448" r:id="rId43"/>
    <p:sldId id="449" r:id="rId44"/>
    <p:sldId id="450" r:id="rId45"/>
    <p:sldId id="451" r:id="rId46"/>
    <p:sldId id="437" r:id="rId47"/>
    <p:sldId id="297" r:id="rId48"/>
    <p:sldId id="304" r:id="rId49"/>
    <p:sldId id="306" r:id="rId50"/>
    <p:sldId id="307" r:id="rId51"/>
    <p:sldId id="308" r:id="rId52"/>
    <p:sldId id="309" r:id="rId53"/>
    <p:sldId id="438" r:id="rId54"/>
    <p:sldId id="439" r:id="rId55"/>
    <p:sldId id="440" r:id="rId56"/>
    <p:sldId id="441" r:id="rId57"/>
    <p:sldId id="442" r:id="rId58"/>
    <p:sldId id="459" r:id="rId59"/>
    <p:sldId id="452" r:id="rId60"/>
    <p:sldId id="310" r:id="rId61"/>
    <p:sldId id="311" r:id="rId62"/>
    <p:sldId id="312" r:id="rId63"/>
    <p:sldId id="335" r:id="rId64"/>
    <p:sldId id="336" r:id="rId65"/>
    <p:sldId id="337" r:id="rId66"/>
    <p:sldId id="338" r:id="rId67"/>
    <p:sldId id="339" r:id="rId68"/>
    <p:sldId id="340" r:id="rId69"/>
    <p:sldId id="341" r:id="rId70"/>
    <p:sldId id="342" r:id="rId71"/>
    <p:sldId id="343" r:id="rId72"/>
    <p:sldId id="454" r:id="rId73"/>
    <p:sldId id="460" r:id="rId74"/>
    <p:sldId id="461" r:id="rId75"/>
    <p:sldId id="344" r:id="rId76"/>
    <p:sldId id="462" r:id="rId77"/>
    <p:sldId id="463" r:id="rId78"/>
    <p:sldId id="465" r:id="rId79"/>
    <p:sldId id="466" r:id="rId80"/>
    <p:sldId id="467" r:id="rId81"/>
    <p:sldId id="468" r:id="rId82"/>
    <p:sldId id="469" r:id="rId83"/>
    <p:sldId id="470" r:id="rId84"/>
    <p:sldId id="471" r:id="rId85"/>
    <p:sldId id="472" r:id="rId86"/>
    <p:sldId id="539" r:id="rId87"/>
    <p:sldId id="473" r:id="rId88"/>
    <p:sldId id="474" r:id="rId89"/>
    <p:sldId id="447" r:id="rId9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CF142E-1F7C-4D06-A368-C74AC263D9ED}">
          <p14:sldIdLst>
            <p14:sldId id="256"/>
            <p14:sldId id="276"/>
            <p14:sldId id="572"/>
            <p14:sldId id="559"/>
            <p14:sldId id="560"/>
            <p14:sldId id="561"/>
            <p14:sldId id="562"/>
            <p14:sldId id="563"/>
            <p14:sldId id="564"/>
            <p14:sldId id="567"/>
            <p14:sldId id="569"/>
            <p14:sldId id="570"/>
            <p14:sldId id="571"/>
            <p14:sldId id="565"/>
            <p14:sldId id="566"/>
            <p14:sldId id="410"/>
            <p14:sldId id="558"/>
            <p14:sldId id="409"/>
            <p14:sldId id="435"/>
            <p14:sldId id="411"/>
            <p14:sldId id="422"/>
            <p14:sldId id="267"/>
            <p14:sldId id="268"/>
            <p14:sldId id="423"/>
            <p14:sldId id="424"/>
            <p14:sldId id="425"/>
            <p14:sldId id="456"/>
            <p14:sldId id="421"/>
            <p14:sldId id="426"/>
            <p14:sldId id="427"/>
            <p14:sldId id="430"/>
            <p14:sldId id="443"/>
            <p14:sldId id="428"/>
            <p14:sldId id="458"/>
            <p14:sldId id="444"/>
            <p14:sldId id="445"/>
            <p14:sldId id="446"/>
            <p14:sldId id="448"/>
            <p14:sldId id="449"/>
            <p14:sldId id="450"/>
            <p14:sldId id="451"/>
            <p14:sldId id="437"/>
            <p14:sldId id="297"/>
            <p14:sldId id="304"/>
            <p14:sldId id="306"/>
            <p14:sldId id="307"/>
            <p14:sldId id="308"/>
            <p14:sldId id="309"/>
            <p14:sldId id="438"/>
            <p14:sldId id="439"/>
            <p14:sldId id="440"/>
            <p14:sldId id="441"/>
            <p14:sldId id="442"/>
            <p14:sldId id="459"/>
            <p14:sldId id="452"/>
            <p14:sldId id="310"/>
            <p14:sldId id="311"/>
            <p14:sldId id="312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454"/>
            <p14:sldId id="460"/>
            <p14:sldId id="461"/>
            <p14:sldId id="344"/>
            <p14:sldId id="462"/>
            <p14:sldId id="463"/>
            <p14:sldId id="465"/>
            <p14:sldId id="466"/>
            <p14:sldId id="467"/>
            <p14:sldId id="468"/>
            <p14:sldId id="469"/>
            <p14:sldId id="470"/>
            <p14:sldId id="471"/>
            <p14:sldId id="472"/>
            <p14:sldId id="539"/>
            <p14:sldId id="473"/>
            <p14:sldId id="474"/>
            <p14:sldId id="44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irin Matwankar" initials="SM" lastIdx="1" clrIdx="0">
    <p:extLst>
      <p:ext uri="{19B8F6BF-5375-455C-9EA6-DF929625EA0E}">
        <p15:presenceInfo xmlns:p15="http://schemas.microsoft.com/office/powerpoint/2012/main" userId="db698dfc9b42f0d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079234-F9C8-3C73-85D9-CEE991B2F346}" v="2" dt="2026-08-26T07:55:51.0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5.xml"/><Relationship Id="rId95" Type="http://schemas.openxmlformats.org/officeDocument/2006/relationships/viewProps" Target="viewProps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91" Type="http://schemas.openxmlformats.org/officeDocument/2006/relationships/notesMaster" Target="notesMasters/notesMaster1.xml"/><Relationship Id="rId9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presProps" Target="presProps.xml"/><Relationship Id="rId9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tableStyles" Target="tableStyle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commentAuthors" Target="commentAuthors.xml"/><Relationship Id="rId9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RIN MATWANKAR" userId="S::shirin.matwankar@fcrit.ac.in::2e542d0c-3197-41aa-b285-03383859806c" providerId="AD" clId="Web-{B0079234-F9C8-3C73-85D9-CEE991B2F346}"/>
    <pc:docChg chg="addSld modSld modSection">
      <pc:chgData name="SHIRIN MATWANKAR" userId="S::shirin.matwankar@fcrit.ac.in::2e542d0c-3197-41aa-b285-03383859806c" providerId="AD" clId="Web-{B0079234-F9C8-3C73-85D9-CEE991B2F346}" dt="2026-08-26T07:55:51.015" v="1" actId="20577"/>
      <pc:docMkLst>
        <pc:docMk/>
      </pc:docMkLst>
      <pc:sldChg chg="modSp new">
        <pc:chgData name="SHIRIN MATWANKAR" userId="S::shirin.matwankar@fcrit.ac.in::2e542d0c-3197-41aa-b285-03383859806c" providerId="AD" clId="Web-{B0079234-F9C8-3C73-85D9-CEE991B2F346}" dt="2026-08-26T07:55:51.015" v="1" actId="20577"/>
        <pc:sldMkLst>
          <pc:docMk/>
          <pc:sldMk cId="322217352" sldId="572"/>
        </pc:sldMkLst>
        <pc:spChg chg="mod">
          <ac:chgData name="SHIRIN MATWANKAR" userId="S::shirin.matwankar@fcrit.ac.in::2e542d0c-3197-41aa-b285-03383859806c" providerId="AD" clId="Web-{B0079234-F9C8-3C73-85D9-CEE991B2F346}" dt="2026-08-26T07:55:51.015" v="1" actId="20577"/>
          <ac:spMkLst>
            <pc:docMk/>
            <pc:sldMk cId="322217352" sldId="572"/>
            <ac:spMk id="3" creationId="{FFF94060-74DD-77F3-FCFE-48FB559D6BDA}"/>
          </ac:spMkLst>
        </pc:spChg>
      </pc:sldChg>
    </pc:docChg>
  </pc:docChgLst>
  <pc:docChgLst>
    <pc:chgData name="SHIRIN MATWANKAR" userId="S::shirin.matwankar@fcrit.ac.in::2e542d0c-3197-41aa-b285-03383859806c" providerId="AD" clId="Web-{C77E8E8A-17D9-7D9F-16F0-D3430A3A1F9E}"/>
    <pc:docChg chg="delSld modSection">
      <pc:chgData name="SHIRIN MATWANKAR" userId="S::shirin.matwankar@fcrit.ac.in::2e542d0c-3197-41aa-b285-03383859806c" providerId="AD" clId="Web-{C77E8E8A-17D9-7D9F-16F0-D3430A3A1F9E}" dt="2026-08-10T04:32:05.465" v="51"/>
      <pc:docMkLst>
        <pc:docMk/>
      </pc:docMkLst>
    </pc:docChg>
  </pc:docChgLst>
  <pc:docChgLst>
    <pc:chgData name="SHIRIN MATWANKAR" userId="S::shirin.matwankar@fcrit.ac.in::2e542d0c-3197-41aa-b285-03383859806c" providerId="AD" clId="Web-{1BD33EB9-498F-0843-8031-685725940977}"/>
    <pc:docChg chg="delSld modSection">
      <pc:chgData name="SHIRIN MATWANKAR" userId="S::shirin.matwankar@fcrit.ac.in::2e542d0c-3197-41aa-b285-03383859806c" providerId="AD" clId="Web-{1BD33EB9-498F-0843-8031-685725940977}" dt="2026-08-11T04:47:42.278" v="5"/>
      <pc:docMkLst>
        <pc:docMk/>
      </pc:docMkLst>
    </pc:docChg>
  </pc:docChgLst>
  <pc:docChgLst>
    <pc:chgData name="Guest User" userId="S::urn:spo:tenantanon#e85f2c00-2730-4ca5-b8d8-609b15bd4746::" providerId="AD" clId="Web-{764131D6-1C41-9D2A-7386-832C1DF5D958}"/>
    <pc:docChg chg="modSld">
      <pc:chgData name="Guest User" userId="S::urn:spo:tenantanon#e85f2c00-2730-4ca5-b8d8-609b15bd4746::" providerId="AD" clId="Web-{764131D6-1C41-9D2A-7386-832C1DF5D958}" dt="2026-08-17T17:50:43.188" v="1" actId="1076"/>
      <pc:docMkLst>
        <pc:docMk/>
      </pc:docMkLst>
      <pc:sldChg chg="modSp">
        <pc:chgData name="Guest User" userId="S::urn:spo:tenantanon#e85f2c00-2730-4ca5-b8d8-609b15bd4746::" providerId="AD" clId="Web-{764131D6-1C41-9D2A-7386-832C1DF5D958}" dt="2026-08-17T17:50:43.188" v="1" actId="1076"/>
        <pc:sldMkLst>
          <pc:docMk/>
          <pc:sldMk cId="3477957485" sldId="563"/>
        </pc:sldMkLst>
        <pc:spChg chg="mod">
          <ac:chgData name="Guest User" userId="S::urn:spo:tenantanon#e85f2c00-2730-4ca5-b8d8-609b15bd4746::" providerId="AD" clId="Web-{764131D6-1C41-9D2A-7386-832C1DF5D958}" dt="2026-08-17T17:50:43.188" v="1" actId="1076"/>
          <ac:spMkLst>
            <pc:docMk/>
            <pc:sldMk cId="3477957485" sldId="563"/>
            <ac:spMk id="8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2E547D-1406-4A6F-8F93-E441204CE6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667F8A-B889-49B3-AC77-5DDF11A08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2889B-A0AC-4482-8592-5C96F2309420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AFD4F-C0E7-421C-AF77-6F9CC963C9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4AB9F-6726-4FB1-8769-82E23336CE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29299-61FF-4B93-ADA6-2FD5975D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70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EB223-FFC0-462A-A3B8-EAA7CE0F8CB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49E9A-41F7-4779-A581-48A7C374A2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18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Ask students: how many words are in the sentence 'The cat sat on the mat'? They say 6. Then ask: how many unique words? They say 5 ('the' appears twice). That's the token vs type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85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17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103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1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a log-log plot of Zipf's law on the board — it becomes a straight line. Ask: why is this useful for NLP engineers? Answer: it tells us that stop word removal will eliminate a huge fraction of text with very few words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90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7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78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52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718B7-7F68-4CC9-8291-332587FA3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1D6BB-0446-49E8-8677-EADF274E9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AEE24-534A-40F1-99E4-00B7D5FD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4011-48FF-493D-8286-F62D3455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0EFCD-7E72-4882-86DC-2F371D7D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1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334F3-0709-471B-A734-C4B404F5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95016-AF78-4708-9C5F-21110C19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EA2D1-B124-4454-AFDC-EA60A14B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58000-F9D7-4A53-A6C5-E5E81542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22AAD-0D08-4F47-8D5A-EFE29017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04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6159-1280-4EE9-96D3-A56BD582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7A78-1874-488A-B215-7D763D338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BB3D1-3138-4B69-BF5D-4B1A2134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F90C5-31F4-4A22-AC00-3FB5ED29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F787E-B946-4091-ABC6-F9DB06BB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7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AA11-CC97-44E5-AE4D-808FD741A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AB6CB-9460-4BCA-86C5-5F26357AB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AB0F6-401D-4BAF-A300-65AD684DF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61BBA-B185-4B45-B152-3D320E15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CD760-96AC-4821-A56B-0B805F2F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50665-D5B5-4D0B-B2F0-CB6B027C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6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47C3-C498-415A-A057-E19BCEB5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6677F-2712-4810-A3AA-56FA75386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1B54A-6775-4978-8E19-32694C9B5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A1303-B245-476D-BD02-A4E4A359F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E898F-5B79-46F1-89C1-F827997CC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417A4D-2EC9-4294-BFF4-EAE22EE1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50E317-3602-42A1-BB7F-0184072E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CE2C97-E26C-4A8B-93A0-B01E2C7F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69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68FC-5755-447A-8D7F-9ADED3E99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50287-81AA-46CA-8CB3-53A7F831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1BA4AA-02C9-459E-9362-3DA60E3B5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A2C8F-DBB4-4235-A67E-FB4039D9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9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ACAA5-F8E7-46E9-8BA7-A510948B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2DEE8-5654-4DCA-A8D0-D883E52B6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179A5-4329-4057-9DEB-5B6E3AD1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9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DA80-336B-4DBB-91A1-6E3E4B3C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0D456-F0A3-4789-A310-A23F01B2E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A8B05-7071-44D4-80F7-3E8191C9A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8562E-E6F1-449B-909C-98426BA8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47A9A-FB08-407B-A73A-0AC513F0F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F841F-796A-4FE6-B5E0-C8A49867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474D-6779-4C23-BD3C-82F5DC3E3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1096C-E430-49C7-A801-21C0BD95DC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4828F-334F-4A50-850D-10684F245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293F4-2B70-4BB5-A982-219E4133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9A86F-B378-4759-B50E-2E0BFAE6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95BDC-FC58-4638-AA59-A3DA9931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3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7D73-EDDA-49A6-BA12-1CA980DA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9B82E-4CA1-47A5-B133-FBD4D8A83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A267F-D142-4D04-9F03-6CB099E6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127CA-154D-4E90-B776-A2EE71F78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F0BA5-F4EE-4282-B111-76B869BE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0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6E92A-52E0-4710-BDEF-0A1534685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240E1-5EB0-47FD-AA37-BF945D136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14243-F1E4-487A-ABEC-30516A01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58244-98FD-472D-AB8C-075F71C1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98D5A-820D-4519-967F-33320971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42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2967" y="207808"/>
            <a:ext cx="5258647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3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144776">
              <a:spcBef>
                <a:spcPts val="7"/>
              </a:spcBef>
            </a:pPr>
            <a:fld id="{81D60167-4931-47E6-BA6A-407CBD079E47}" type="slidenum">
              <a:rPr lang="en-IN" smtClean="0"/>
              <a:pPr marL="144776">
                <a:spcBef>
                  <a:spcPts val="7"/>
                </a:spcBef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308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9967" y="262441"/>
            <a:ext cx="4983480" cy="492443"/>
          </a:xfrm>
        </p:spPr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811" y="1395577"/>
            <a:ext cx="11120376" cy="451342"/>
          </a:xfrm>
        </p:spPr>
        <p:txBody>
          <a:bodyPr lIns="0" tIns="0" rIns="0" bIns="0"/>
          <a:lstStyle>
            <a:lvl1pPr>
              <a:defRPr sz="2933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3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144776">
              <a:spcBef>
                <a:spcPts val="7"/>
              </a:spcBef>
            </a:pPr>
            <a:fld id="{81D60167-4931-47E6-BA6A-407CBD079E47}" type="slidenum">
              <a:rPr lang="en-IN" smtClean="0"/>
              <a:pPr marL="144776">
                <a:spcBef>
                  <a:spcPts val="7"/>
                </a:spcBef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34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9967" y="262441"/>
            <a:ext cx="4983480" cy="492443"/>
          </a:xfrm>
        </p:spPr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3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144776">
              <a:spcBef>
                <a:spcPts val="7"/>
              </a:spcBef>
            </a:pPr>
            <a:fld id="{81D60167-4931-47E6-BA6A-407CBD079E47}" type="slidenum">
              <a:rPr lang="en-IN" smtClean="0"/>
              <a:pPr marL="144776">
                <a:spcBef>
                  <a:spcPts val="7"/>
                </a:spcBef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59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9967" y="262441"/>
            <a:ext cx="4983480" cy="492443"/>
          </a:xfrm>
        </p:spPr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3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144776">
              <a:spcBef>
                <a:spcPts val="7"/>
              </a:spcBef>
            </a:pPr>
            <a:fld id="{81D60167-4931-47E6-BA6A-407CBD079E47}" type="slidenum">
              <a:rPr lang="en-IN" smtClean="0"/>
              <a:pPr marL="144776">
                <a:spcBef>
                  <a:spcPts val="7"/>
                </a:spcBef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0415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3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144776">
              <a:spcBef>
                <a:spcPts val="7"/>
              </a:spcBef>
            </a:pPr>
            <a:fld id="{81D60167-4931-47E6-BA6A-407CBD079E47}" type="slidenum">
              <a:rPr lang="en-IN" smtClean="0"/>
              <a:pPr marL="144776">
                <a:spcBef>
                  <a:spcPts val="7"/>
                </a:spcBef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57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80BC3B-525F-4038-9330-0729879F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29186-93D7-46FA-AE02-36D942604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F1CEB-0530-4996-BAEF-2E6A04DAD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F21A4-E71B-4D3A-AF45-E989C23A7BB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CFF3D-7353-4B4D-9E75-FA835E06E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2C8D6-8B0B-4982-9EE4-AA823C69C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F1B4E-90EC-4A51-B6E5-B702C054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0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9967" y="262441"/>
            <a:ext cx="49834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811" y="1395577"/>
            <a:ext cx="11120376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1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80695" y="6370757"/>
            <a:ext cx="384387" cy="2051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33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144776">
              <a:spcBef>
                <a:spcPts val="7"/>
              </a:spcBef>
            </a:pPr>
            <a:fld id="{81D60167-4931-47E6-BA6A-407CBD079E47}" type="slidenum">
              <a:rPr lang="en-IN" smtClean="0"/>
              <a:pPr marL="144776">
                <a:spcBef>
                  <a:spcPts val="7"/>
                </a:spcBef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265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vitalflux.com/quick-introduction-smoothing-techniques-language-models/#:~:text=%2B%CE%B4%7CV%7C-,Good%2DTuring%20Smoothing,from%20the%20corpus%20given%20above." TargetMode="External"/><Relationship Id="rId2" Type="http://schemas.openxmlformats.org/officeDocument/2006/relationships/hyperlink" Target="https://web.stanford.edu/~jurafsky/slp3/14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AC0E-7195-4ACF-AA0A-5E2923A98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7636" y="5913952"/>
            <a:ext cx="5103684" cy="844657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600">
                <a:latin typeface="Franklin Gothic Book" panose="020B0503020102020204" pitchFamily="34" charset="0"/>
                <a:cs typeface="Segoe UI" panose="020B0502040204020203" pitchFamily="34" charset="0"/>
              </a:rPr>
              <a:t>		</a:t>
            </a:r>
            <a:r>
              <a:rPr lang="en-US" sz="3600" err="1">
                <a:latin typeface="Franklin Gothic Book" panose="020B0503020102020204" pitchFamily="34" charset="0"/>
                <a:cs typeface="Segoe UI" panose="020B0502040204020203" pitchFamily="34" charset="0"/>
              </a:rPr>
              <a:t>B.Tech</a:t>
            </a:r>
            <a:r>
              <a:rPr lang="en-US" sz="3600">
                <a:latin typeface="Franklin Gothic Book" panose="020B0503020102020204" pitchFamily="34" charset="0"/>
                <a:cs typeface="Segoe UI" panose="020B0502040204020203" pitchFamily="34" charset="0"/>
              </a:rPr>
              <a:t> Sem-VII</a:t>
            </a:r>
            <a:br>
              <a:rPr lang="en-US" sz="3600">
                <a:latin typeface="Franklin Gothic Book" panose="020B0503020102020204" pitchFamily="34" charset="0"/>
                <a:cs typeface="Segoe UI" panose="020B0502040204020203" pitchFamily="34" charset="0"/>
              </a:rPr>
            </a:br>
            <a:r>
              <a:rPr lang="en-US" sz="3600">
                <a:latin typeface="Franklin Gothic Book" panose="020B0503020102020204" pitchFamily="34" charset="0"/>
                <a:cs typeface="Segoe UI" panose="020B0502040204020203" pitchFamily="34" charset="0"/>
              </a:rPr>
              <a:t>	Prof. Shirin matwankar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253EE-4FA2-4843-BE27-C7D5B08FF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1971" y="3990460"/>
            <a:ext cx="6480313" cy="1024677"/>
          </a:xfrm>
        </p:spPr>
        <p:txBody>
          <a:bodyPr anchor="b">
            <a:noAutofit/>
          </a:bodyPr>
          <a:lstStyle/>
          <a:p>
            <a:r>
              <a:rPr lang="en-US" sz="4000" b="1">
                <a:latin typeface="Franklin Gothic Book" panose="020B0503020102020204" pitchFamily="34" charset="0"/>
              </a:rPr>
              <a:t>Natural Language Processing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BA87361-6D30-46E4-834B-719CF5905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8332"/>
            <a:ext cx="3564638" cy="4569668"/>
          </a:xfrm>
          <a:custGeom>
            <a:avLst/>
            <a:gdLst>
              <a:gd name="connsiteX0" fmla="*/ 640080 w 3564638"/>
              <a:gd name="connsiteY0" fmla="*/ 0 h 4569668"/>
              <a:gd name="connsiteX1" fmla="*/ 3564638 w 3564638"/>
              <a:gd name="connsiteY1" fmla="*/ 2924558 h 4569668"/>
              <a:gd name="connsiteX2" fmla="*/ 3065170 w 3564638"/>
              <a:gd name="connsiteY2" fmla="*/ 4559707 h 4569668"/>
              <a:gd name="connsiteX3" fmla="*/ 3057720 w 3564638"/>
              <a:gd name="connsiteY3" fmla="*/ 4569668 h 4569668"/>
              <a:gd name="connsiteX4" fmla="*/ 0 w 3564638"/>
              <a:gd name="connsiteY4" fmla="*/ 4569668 h 4569668"/>
              <a:gd name="connsiteX5" fmla="*/ 0 w 3564638"/>
              <a:gd name="connsiteY5" fmla="*/ 72448 h 4569668"/>
              <a:gd name="connsiteX6" fmla="*/ 50679 w 3564638"/>
              <a:gd name="connsiteY6" fmla="*/ 59417 h 4569668"/>
              <a:gd name="connsiteX7" fmla="*/ 640080 w 3564638"/>
              <a:gd name="connsiteY7" fmla="*/ 0 h 456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D89DB1C0-FEEC-4CB6-88B2-F9C5562E0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574" y="0"/>
            <a:ext cx="3913632" cy="2285234"/>
          </a:xfrm>
          <a:custGeom>
            <a:avLst/>
            <a:gdLst>
              <a:gd name="connsiteX0" fmla="*/ 29691 w 3913632"/>
              <a:gd name="connsiteY0" fmla="*/ 0 h 2285234"/>
              <a:gd name="connsiteX1" fmla="*/ 3883942 w 3913632"/>
              <a:gd name="connsiteY1" fmla="*/ 0 h 2285234"/>
              <a:gd name="connsiteX2" fmla="*/ 3903529 w 3913632"/>
              <a:gd name="connsiteY2" fmla="*/ 128345 h 2285234"/>
              <a:gd name="connsiteX3" fmla="*/ 3913632 w 3913632"/>
              <a:gd name="connsiteY3" fmla="*/ 328418 h 2285234"/>
              <a:gd name="connsiteX4" fmla="*/ 1956816 w 3913632"/>
              <a:gd name="connsiteY4" fmla="*/ 2285234 h 2285234"/>
              <a:gd name="connsiteX5" fmla="*/ 0 w 3913632"/>
              <a:gd name="connsiteY5" fmla="*/ 328418 h 2285234"/>
              <a:gd name="connsiteX6" fmla="*/ 10103 w 3913632"/>
              <a:gd name="connsiteY6" fmla="*/ 128345 h 228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117" y="615908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8163D1C-ED91-4D5F-A33B-CF1256B27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7709" y="780500"/>
            <a:ext cx="2852928" cy="28529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1103AB2-C090-458F-B752-294F23AFA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1"/>
            <a:ext cx="3439432" cy="3785157"/>
          </a:xfrm>
          <a:custGeom>
            <a:avLst/>
            <a:gdLst>
              <a:gd name="connsiteX0" fmla="*/ 198262 w 3439432"/>
              <a:gd name="connsiteY0" fmla="*/ 0 h 3785157"/>
              <a:gd name="connsiteX1" fmla="*/ 3439432 w 3439432"/>
              <a:gd name="connsiteY1" fmla="*/ 0 h 3785157"/>
              <a:gd name="connsiteX2" fmla="*/ 3439432 w 3439432"/>
              <a:gd name="connsiteY2" fmla="*/ 3697836 h 3785157"/>
              <a:gd name="connsiteX3" fmla="*/ 3318024 w 3439432"/>
              <a:gd name="connsiteY3" fmla="*/ 3729054 h 3785157"/>
              <a:gd name="connsiteX4" fmla="*/ 2761488 w 3439432"/>
              <a:gd name="connsiteY4" fmla="*/ 3785157 h 3785157"/>
              <a:gd name="connsiteX5" fmla="*/ 0 w 3439432"/>
              <a:gd name="connsiteY5" fmla="*/ 1023669 h 3785157"/>
              <a:gd name="connsiteX6" fmla="*/ 124151 w 3439432"/>
              <a:gd name="connsiteY6" fmla="*/ 202487 h 37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785157">
                <a:moveTo>
                  <a:pt x="198262" y="0"/>
                </a:moveTo>
                <a:lnTo>
                  <a:pt x="3439432" y="0"/>
                </a:lnTo>
                <a:lnTo>
                  <a:pt x="3439432" y="3697836"/>
                </a:lnTo>
                <a:lnTo>
                  <a:pt x="3318024" y="3729054"/>
                </a:lnTo>
                <a:cubicBezTo>
                  <a:pt x="3138258" y="3765839"/>
                  <a:pt x="2952129" y="3785157"/>
                  <a:pt x="2761488" y="3785157"/>
                </a:cubicBezTo>
                <a:cubicBezTo>
                  <a:pt x="1236360" y="3785157"/>
                  <a:pt x="0" y="2548797"/>
                  <a:pt x="0" y="1023669"/>
                </a:cubicBezTo>
                <a:cubicBezTo>
                  <a:pt x="0" y="737708"/>
                  <a:pt x="43466" y="461898"/>
                  <a:pt x="124151" y="20248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3D471F3-782A-4BA1-9CAB-FF5CDF0A7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8761" y="-4332"/>
            <a:ext cx="3273238" cy="3618965"/>
          </a:xfrm>
          <a:custGeom>
            <a:avLst/>
            <a:gdLst>
              <a:gd name="connsiteX0" fmla="*/ 210437 w 3273238"/>
              <a:gd name="connsiteY0" fmla="*/ 0 h 3618965"/>
              <a:gd name="connsiteX1" fmla="*/ 3273238 w 3273238"/>
              <a:gd name="connsiteY1" fmla="*/ 0 h 3618965"/>
              <a:gd name="connsiteX2" fmla="*/ 3273238 w 3273238"/>
              <a:gd name="connsiteY2" fmla="*/ 3526409 h 3618965"/>
              <a:gd name="connsiteX3" fmla="*/ 3118338 w 3273238"/>
              <a:gd name="connsiteY3" fmla="*/ 3566238 h 3618965"/>
              <a:gd name="connsiteX4" fmla="*/ 2595295 w 3273238"/>
              <a:gd name="connsiteY4" fmla="*/ 3618965 h 3618965"/>
              <a:gd name="connsiteX5" fmla="*/ 0 w 3273238"/>
              <a:gd name="connsiteY5" fmla="*/ 1023670 h 3618965"/>
              <a:gd name="connsiteX6" fmla="*/ 203951 w 3273238"/>
              <a:gd name="connsiteY6" fmla="*/ 13464 h 3618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73238" h="3618965">
                <a:moveTo>
                  <a:pt x="210437" y="0"/>
                </a:moveTo>
                <a:lnTo>
                  <a:pt x="3273238" y="0"/>
                </a:lnTo>
                <a:lnTo>
                  <a:pt x="3273238" y="3526409"/>
                </a:lnTo>
                <a:lnTo>
                  <a:pt x="3118338" y="3566238"/>
                </a:lnTo>
                <a:cubicBezTo>
                  <a:pt x="2949390" y="3600810"/>
                  <a:pt x="2774463" y="3618965"/>
                  <a:pt x="2595295" y="3618965"/>
                </a:cubicBezTo>
                <a:cubicBezTo>
                  <a:pt x="1161953" y="3618965"/>
                  <a:pt x="0" y="2457012"/>
                  <a:pt x="0" y="1023670"/>
                </a:cubicBezTo>
                <a:cubicBezTo>
                  <a:pt x="0" y="665335"/>
                  <a:pt x="72622" y="323961"/>
                  <a:pt x="203951" y="1346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NLP text pre-processing">
            <a:extLst>
              <a:ext uri="{FF2B5EF4-FFF2-40B4-BE49-F238E27FC236}">
                <a16:creationId xmlns:a16="http://schemas.microsoft.com/office/drawing/2014/main" id="{714D478A-4D86-430B-90EE-539A9FA78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86" y="3780826"/>
            <a:ext cx="2657475" cy="2289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pact of Natural language processing in modern world!! - Ai Nxt">
            <a:extLst>
              <a:ext uri="{FF2B5EF4-FFF2-40B4-BE49-F238E27FC236}">
                <a16:creationId xmlns:a16="http://schemas.microsoft.com/office/drawing/2014/main" id="{E539A767-8BED-46AA-8E23-E5D7CFF48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901" y="220991"/>
            <a:ext cx="2789681" cy="1225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 descr="25,486 Data Structure Photos - Free &amp;amp; Royalty-Free Stock Photos from  Dreamstime">
            <a:extLst>
              <a:ext uri="{FF2B5EF4-FFF2-40B4-BE49-F238E27FC236}">
                <a16:creationId xmlns:a16="http://schemas.microsoft.com/office/drawing/2014/main" id="{C01B29F2-7DB2-4134-A854-D11CBF46D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0752" y="780500"/>
            <a:ext cx="2460568" cy="161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 descr="What is Natural Language Processing (NLP)?">
            <a:extLst>
              <a:ext uri="{FF2B5EF4-FFF2-40B4-BE49-F238E27FC236}">
                <a16:creationId xmlns:a16="http://schemas.microsoft.com/office/drawing/2014/main" id="{5C1CC060-F4DA-4F84-A48B-6D5EE75E5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918" y="1624592"/>
            <a:ext cx="2359435" cy="1321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398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2D367-5B09-4530-805F-FA177F1B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243" y="2580515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Module 2- Text Processing and Word-Level Analysis 	</a:t>
            </a:r>
          </a:p>
        </p:txBody>
      </p:sp>
    </p:spTree>
    <p:extLst>
      <p:ext uri="{BB962C8B-B14F-4D97-AF65-F5344CB8AC3E}">
        <p14:creationId xmlns:p14="http://schemas.microsoft.com/office/powerpoint/2010/main" val="247378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B854C-3850-ACDB-8750-51FDD26B8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94060-74DD-77F3-FCFE-48FB559D6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Calibri"/>
                <a:cs typeface="Calibri"/>
              </a:rPr>
              <a:t>Note:</a:t>
            </a:r>
            <a:br>
              <a:rPr lang="en-US" b="1" dirty="0">
                <a:ea typeface="Calibri"/>
                <a:cs typeface="Calibri"/>
              </a:rPr>
            </a:br>
            <a:r>
              <a:rPr lang="en-US" b="1">
                <a:ea typeface="Calibri"/>
                <a:cs typeface="Calibri"/>
              </a:rPr>
              <a:t>The problems have been solved in the notebook. Please refer to it.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217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6720" y="0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 — What and Why</a:t>
            </a:r>
            <a:endParaRPr lang="en-US" sz="2667"/>
          </a:p>
        </p:txBody>
      </p:sp>
      <p:sp>
        <p:nvSpPr>
          <p:cNvPr id="4" name="Shape 2"/>
          <p:cNvSpPr/>
          <p:nvPr/>
        </p:nvSpPr>
        <p:spPr>
          <a:xfrm>
            <a:off x="9753600" y="121920"/>
            <a:ext cx="2072640" cy="6096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999744"/>
            <a:ext cx="1121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NLP task, the machine must answer: what is a word? That question is harder than it sounds.</a:t>
            </a:r>
            <a:endParaRPr lang="en-US" sz="1733"/>
          </a:p>
        </p:txBody>
      </p:sp>
      <p:sp>
        <p:nvSpPr>
          <p:cNvPr id="7" name="Shape 5"/>
          <p:cNvSpPr/>
          <p:nvPr/>
        </p:nvSpPr>
        <p:spPr>
          <a:xfrm>
            <a:off x="487680" y="1645920"/>
            <a:ext cx="11216640" cy="103632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1D8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7680" y="1645920"/>
            <a:ext cx="1828800" cy="1036320"/>
          </a:xfrm>
          <a:prstGeom prst="roundRect">
            <a:avLst>
              <a:gd name="adj" fmla="val 1058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680" y="1645920"/>
            <a:ext cx="18288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Lexeme</a:t>
            </a:r>
            <a:endParaRPr lang="en-US" sz="1867"/>
          </a:p>
        </p:txBody>
      </p:sp>
      <p:sp>
        <p:nvSpPr>
          <p:cNvPr id="10" name="Text 8"/>
          <p:cNvSpPr/>
          <p:nvPr/>
        </p:nvSpPr>
        <p:spPr>
          <a:xfrm>
            <a:off x="2499360" y="1645920"/>
            <a:ext cx="890016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abstract unit of meaning — the dictionary entry.</a:t>
            </a:r>
            <a:endParaRPr lang="en-US" sz="1600"/>
          </a:p>
          <a:p>
            <a:r>
              <a:rPr lang="en-US" sz="16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RUN is one lexeme.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87680" y="2840736"/>
            <a:ext cx="11216640" cy="103632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1D8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7680" y="2840736"/>
            <a:ext cx="1828800" cy="1036320"/>
          </a:xfrm>
          <a:prstGeom prst="roundRect">
            <a:avLst>
              <a:gd name="adj" fmla="val 1058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680" y="2840736"/>
            <a:ext cx="18288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867"/>
          </a:p>
        </p:txBody>
      </p:sp>
      <p:sp>
        <p:nvSpPr>
          <p:cNvPr id="14" name="Text 12"/>
          <p:cNvSpPr/>
          <p:nvPr/>
        </p:nvSpPr>
        <p:spPr>
          <a:xfrm>
            <a:off x="2499360" y="2840736"/>
            <a:ext cx="890016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occurrence of a word in text.</a:t>
            </a:r>
            <a:endParaRPr lang="en-US" sz="1600"/>
          </a:p>
          <a:p>
            <a:r>
              <a:rPr lang="en-US" sz="16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'run', 'ran', 'running' → 3 tokens, 1 lexeme.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487680" y="4035552"/>
            <a:ext cx="11216640" cy="103632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1D8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7680" y="4035552"/>
            <a:ext cx="1828800" cy="1036320"/>
          </a:xfrm>
          <a:prstGeom prst="roundRect">
            <a:avLst>
              <a:gd name="adj" fmla="val 1058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680" y="4035552"/>
            <a:ext cx="18288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867"/>
          </a:p>
        </p:txBody>
      </p:sp>
      <p:sp>
        <p:nvSpPr>
          <p:cNvPr id="18" name="Text 16"/>
          <p:cNvSpPr/>
          <p:nvPr/>
        </p:nvSpPr>
        <p:spPr>
          <a:xfrm>
            <a:off x="2499360" y="4035552"/>
            <a:ext cx="890016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token form in the vocabulary.</a:t>
            </a:r>
            <a:endParaRPr lang="en-US" sz="1600"/>
          </a:p>
          <a:p>
            <a:r>
              <a:rPr lang="en-US" sz="16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the the' → 3 tokens, 1 type.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487680" y="5230368"/>
            <a:ext cx="11216640" cy="103632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1D8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680" y="5230368"/>
            <a:ext cx="1828800" cy="1036320"/>
          </a:xfrm>
          <a:prstGeom prst="roundRect">
            <a:avLst>
              <a:gd name="adj" fmla="val 1058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680" y="5230368"/>
            <a:ext cx="18288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867"/>
          </a:p>
        </p:txBody>
      </p:sp>
      <p:sp>
        <p:nvSpPr>
          <p:cNvPr id="22" name="Text 20"/>
          <p:cNvSpPr/>
          <p:nvPr/>
        </p:nvSpPr>
        <p:spPr>
          <a:xfrm>
            <a:off x="2499360" y="5230368"/>
            <a:ext cx="890016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text used for NLP.</a:t>
            </a:r>
            <a:endParaRPr lang="en-US" sz="1600"/>
          </a:p>
          <a:p>
            <a:r>
              <a:rPr lang="en-US" sz="16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Wikipedia, Twitter data, legal documents.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487680" y="6486144"/>
            <a:ext cx="11216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NLP works at the TOKEN level, not the LEXEME level. This is why 'run' and 'running' are treated differently without morphological analysis.</a:t>
            </a:r>
            <a:endParaRPr lang="en-US" sz="1467"/>
          </a:p>
        </p:txBody>
      </p:sp>
    </p:spTree>
    <p:extLst>
      <p:ext uri="{BB962C8B-B14F-4D97-AF65-F5344CB8AC3E}">
        <p14:creationId xmlns:p14="http://schemas.microsoft.com/office/powerpoint/2010/main" val="51797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3691" y="0"/>
            <a:ext cx="12192000" cy="8778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6720" y="0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 — Example</a:t>
            </a:r>
            <a:endParaRPr lang="en-US" sz="2667"/>
          </a:p>
        </p:txBody>
      </p:sp>
      <p:sp>
        <p:nvSpPr>
          <p:cNvPr id="6" name="Shape 4"/>
          <p:cNvSpPr/>
          <p:nvPr/>
        </p:nvSpPr>
        <p:spPr>
          <a:xfrm>
            <a:off x="487680" y="999744"/>
            <a:ext cx="11216640" cy="633984"/>
          </a:xfrm>
          <a:prstGeom prst="roundRect">
            <a:avLst>
              <a:gd name="adj" fmla="val 1538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7680" y="999744"/>
            <a:ext cx="112166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cat sat on the mat. The cat is fat."</a:t>
            </a:r>
            <a:endParaRPr lang="en-US" sz="2133"/>
          </a:p>
        </p:txBody>
      </p:sp>
      <p:sp>
        <p:nvSpPr>
          <p:cNvPr id="8" name="Shape 6"/>
          <p:cNvSpPr/>
          <p:nvPr/>
        </p:nvSpPr>
        <p:spPr>
          <a:xfrm>
            <a:off x="487680" y="1780032"/>
            <a:ext cx="11216640" cy="792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0560" y="1780032"/>
            <a:ext cx="31699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3962400" y="1780032"/>
            <a:ext cx="4267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8351520" y="1780032"/>
            <a:ext cx="32308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occurrence including duplicates</a:t>
            </a:r>
            <a:endParaRPr lang="en-US" sz="1333"/>
          </a:p>
        </p:txBody>
      </p:sp>
      <p:sp>
        <p:nvSpPr>
          <p:cNvPr id="12" name="Shape 10"/>
          <p:cNvSpPr/>
          <p:nvPr/>
        </p:nvSpPr>
        <p:spPr>
          <a:xfrm>
            <a:off x="487680" y="2694432"/>
            <a:ext cx="11216640" cy="792480"/>
          </a:xfrm>
          <a:prstGeom prst="rect">
            <a:avLst/>
          </a:prstGeom>
          <a:solidFill>
            <a:srgbClr val="EAF4F4"/>
          </a:solidFill>
          <a:ln w="6350">
            <a:solidFill>
              <a:srgbClr val="D1D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560" y="2694432"/>
            <a:ext cx="31699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Types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3962400" y="2694432"/>
            <a:ext cx="4267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(the, cat, sat, on, mat, is, fat)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8351520" y="2694432"/>
            <a:ext cx="32308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'the' and 'cat' appear twice — counted once</a:t>
            </a:r>
            <a:endParaRPr lang="en-US" sz="1333"/>
          </a:p>
        </p:txBody>
      </p:sp>
      <p:sp>
        <p:nvSpPr>
          <p:cNvPr id="16" name="Shape 14"/>
          <p:cNvSpPr/>
          <p:nvPr/>
        </p:nvSpPr>
        <p:spPr>
          <a:xfrm>
            <a:off x="487680" y="3608832"/>
            <a:ext cx="11216640" cy="792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560" y="3608832"/>
            <a:ext cx="31699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Lexemes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3962400" y="3608832"/>
            <a:ext cx="4267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(same here — no inflections yet)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8351520" y="3608832"/>
            <a:ext cx="32308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differ if we had 'cats' → lexeme = 'cat'</a:t>
            </a:r>
            <a:endParaRPr lang="en-US" sz="1333"/>
          </a:p>
        </p:txBody>
      </p:sp>
      <p:sp>
        <p:nvSpPr>
          <p:cNvPr id="20" name="Shape 18"/>
          <p:cNvSpPr/>
          <p:nvPr/>
        </p:nvSpPr>
        <p:spPr>
          <a:xfrm>
            <a:off x="487680" y="4523232"/>
            <a:ext cx="11216640" cy="792480"/>
          </a:xfrm>
          <a:prstGeom prst="rect">
            <a:avLst/>
          </a:prstGeom>
          <a:solidFill>
            <a:srgbClr val="EAF4F4"/>
          </a:solidFill>
          <a:ln w="6350">
            <a:solidFill>
              <a:srgbClr val="D1D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560" y="4523232"/>
            <a:ext cx="31699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Type-Token Ratio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3962400" y="4523232"/>
            <a:ext cx="4267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 = 0.70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8351520" y="4523232"/>
            <a:ext cx="32308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ratio = more vocabulary diversity</a:t>
            </a:r>
            <a:endParaRPr lang="en-US" sz="1333"/>
          </a:p>
        </p:txBody>
      </p:sp>
      <p:sp>
        <p:nvSpPr>
          <p:cNvPr id="24" name="Shape 22"/>
          <p:cNvSpPr/>
          <p:nvPr/>
        </p:nvSpPr>
        <p:spPr>
          <a:xfrm>
            <a:off x="487680" y="5437632"/>
            <a:ext cx="11216640" cy="792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560" y="5437632"/>
            <a:ext cx="31699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Size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3962400" y="5437632"/>
            <a:ext cx="4267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|V| = 7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8351520" y="5437632"/>
            <a:ext cx="32308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corpus size — Heap's Law (Topic 2.2)</a:t>
            </a:r>
            <a:endParaRPr lang="en-US" sz="1333"/>
          </a:p>
        </p:txBody>
      </p:sp>
    </p:spTree>
    <p:extLst>
      <p:ext uri="{BB962C8B-B14F-4D97-AF65-F5344CB8AC3E}">
        <p14:creationId xmlns:p14="http://schemas.microsoft.com/office/powerpoint/2010/main" val="2133557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6720" y="0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Lexical Analysis — Colab Demo</a:t>
            </a:r>
            <a:endParaRPr lang="en-US" sz="2667"/>
          </a:p>
        </p:txBody>
      </p:sp>
      <p:sp>
        <p:nvSpPr>
          <p:cNvPr id="4" name="Shape 2"/>
          <p:cNvSpPr/>
          <p:nvPr/>
        </p:nvSpPr>
        <p:spPr>
          <a:xfrm>
            <a:off x="9753600" y="121920"/>
            <a:ext cx="2072640" cy="609600"/>
          </a:xfrm>
          <a:prstGeom prst="roundRect">
            <a:avLst>
              <a:gd name="adj" fmla="val 16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53600" y="12192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467"/>
          </a:p>
        </p:txBody>
      </p:sp>
      <p:sp>
        <p:nvSpPr>
          <p:cNvPr id="6" name="Shape 4"/>
          <p:cNvSpPr/>
          <p:nvPr/>
        </p:nvSpPr>
        <p:spPr>
          <a:xfrm>
            <a:off x="487680" y="999744"/>
            <a:ext cx="11216640" cy="5547360"/>
          </a:xfrm>
          <a:prstGeom prst="roundRect">
            <a:avLst>
              <a:gd name="adj" fmla="val 263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92480" y="1121665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nltk</a:t>
            </a:r>
            <a:endParaRPr lang="en-US" sz="1360"/>
          </a:p>
        </p:txBody>
      </p:sp>
      <p:sp>
        <p:nvSpPr>
          <p:cNvPr id="8" name="Text 6"/>
          <p:cNvSpPr/>
          <p:nvPr/>
        </p:nvSpPr>
        <p:spPr>
          <a:xfrm>
            <a:off x="792480" y="1411834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nltk.tokenize import word_tokenize</a:t>
            </a:r>
            <a:endParaRPr lang="en-US" sz="1360"/>
          </a:p>
        </p:txBody>
      </p:sp>
      <p:sp>
        <p:nvSpPr>
          <p:cNvPr id="9" name="Text 7"/>
          <p:cNvSpPr/>
          <p:nvPr/>
        </p:nvSpPr>
        <p:spPr>
          <a:xfrm>
            <a:off x="792480" y="1702004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nltk.download('punkt')</a:t>
            </a:r>
            <a:endParaRPr lang="en-US" sz="1360"/>
          </a:p>
        </p:txBody>
      </p:sp>
      <p:sp>
        <p:nvSpPr>
          <p:cNvPr id="10" name="Text 8"/>
          <p:cNvSpPr/>
          <p:nvPr/>
        </p:nvSpPr>
        <p:spPr>
          <a:xfrm>
            <a:off x="792480" y="1992174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60"/>
          </a:p>
        </p:txBody>
      </p:sp>
      <p:sp>
        <p:nvSpPr>
          <p:cNvPr id="11" name="Text 9"/>
          <p:cNvSpPr/>
          <p:nvPr/>
        </p:nvSpPr>
        <p:spPr>
          <a:xfrm>
            <a:off x="792480" y="2282344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"The cat sat on the mat. The cat is fat."</a:t>
            </a:r>
            <a:endParaRPr lang="en-US" sz="1360"/>
          </a:p>
        </p:txBody>
      </p:sp>
      <p:sp>
        <p:nvSpPr>
          <p:cNvPr id="12" name="Text 10"/>
          <p:cNvSpPr/>
          <p:nvPr/>
        </p:nvSpPr>
        <p:spPr>
          <a:xfrm>
            <a:off x="792480" y="2572513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 = word_tokenize(text.lower())</a:t>
            </a:r>
            <a:endParaRPr lang="en-US" sz="1360"/>
          </a:p>
        </p:txBody>
      </p:sp>
      <p:sp>
        <p:nvSpPr>
          <p:cNvPr id="13" name="Text 11"/>
          <p:cNvSpPr/>
          <p:nvPr/>
        </p:nvSpPr>
        <p:spPr>
          <a:xfrm>
            <a:off x="792480" y="2862682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60"/>
          </a:p>
        </p:txBody>
      </p:sp>
      <p:sp>
        <p:nvSpPr>
          <p:cNvPr id="14" name="Text 12"/>
          <p:cNvSpPr/>
          <p:nvPr/>
        </p:nvSpPr>
        <p:spPr>
          <a:xfrm>
            <a:off x="792480" y="3152852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Tokens vs Types</a:t>
            </a:r>
            <a:endParaRPr lang="en-US" sz="1360"/>
          </a:p>
        </p:txBody>
      </p:sp>
      <p:sp>
        <p:nvSpPr>
          <p:cNvPr id="15" name="Text 13"/>
          <p:cNvSpPr/>
          <p:nvPr/>
        </p:nvSpPr>
        <p:spPr>
          <a:xfrm>
            <a:off x="792480" y="3443022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print('Total Tokens:', len(tokens))</a:t>
            </a:r>
            <a:endParaRPr lang="en-US" sz="1360"/>
          </a:p>
        </p:txBody>
      </p:sp>
      <p:sp>
        <p:nvSpPr>
          <p:cNvPr id="16" name="Text 14"/>
          <p:cNvSpPr/>
          <p:nvPr/>
        </p:nvSpPr>
        <p:spPr>
          <a:xfrm>
            <a:off x="792480" y="3733192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print('Unique Types:', len(set(tokens)))</a:t>
            </a:r>
            <a:endParaRPr lang="en-US" sz="1360"/>
          </a:p>
        </p:txBody>
      </p:sp>
      <p:sp>
        <p:nvSpPr>
          <p:cNvPr id="17" name="Text 15"/>
          <p:cNvSpPr/>
          <p:nvPr/>
        </p:nvSpPr>
        <p:spPr>
          <a:xfrm>
            <a:off x="792480" y="4023361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print('Type-Token Ratio:', round(len(set(tokens))/len(tokens), 2))</a:t>
            </a:r>
            <a:endParaRPr lang="en-US" sz="1360"/>
          </a:p>
        </p:txBody>
      </p:sp>
      <p:sp>
        <p:nvSpPr>
          <p:cNvPr id="18" name="Text 16"/>
          <p:cNvSpPr/>
          <p:nvPr/>
        </p:nvSpPr>
        <p:spPr>
          <a:xfrm>
            <a:off x="792480" y="4313530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60"/>
          </a:p>
        </p:txBody>
      </p:sp>
      <p:sp>
        <p:nvSpPr>
          <p:cNvPr id="19" name="Text 17"/>
          <p:cNvSpPr/>
          <p:nvPr/>
        </p:nvSpPr>
        <p:spPr>
          <a:xfrm>
            <a:off x="792480" y="4603700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Frequency distribution</a:t>
            </a:r>
            <a:endParaRPr lang="en-US" sz="1360"/>
          </a:p>
        </p:txBody>
      </p:sp>
      <p:sp>
        <p:nvSpPr>
          <p:cNvPr id="20" name="Text 18"/>
          <p:cNvSpPr/>
          <p:nvPr/>
        </p:nvSpPr>
        <p:spPr>
          <a:xfrm>
            <a:off x="792480" y="4893870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nltk import FreqDist</a:t>
            </a:r>
            <a:endParaRPr lang="en-US" sz="1360"/>
          </a:p>
        </p:txBody>
      </p:sp>
      <p:sp>
        <p:nvSpPr>
          <p:cNvPr id="21" name="Text 19"/>
          <p:cNvSpPr/>
          <p:nvPr/>
        </p:nvSpPr>
        <p:spPr>
          <a:xfrm>
            <a:off x="792480" y="5184040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= FreqDist(tokens)</a:t>
            </a:r>
            <a:endParaRPr lang="en-US" sz="1360"/>
          </a:p>
        </p:txBody>
      </p:sp>
      <p:sp>
        <p:nvSpPr>
          <p:cNvPr id="22" name="Text 20"/>
          <p:cNvSpPr/>
          <p:nvPr/>
        </p:nvSpPr>
        <p:spPr>
          <a:xfrm>
            <a:off x="792480" y="5474209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print('Most common:', fd.most_common(5))</a:t>
            </a:r>
            <a:endParaRPr lang="en-US" sz="1360"/>
          </a:p>
        </p:txBody>
      </p:sp>
      <p:sp>
        <p:nvSpPr>
          <p:cNvPr id="23" name="Text 21"/>
          <p:cNvSpPr/>
          <p:nvPr/>
        </p:nvSpPr>
        <p:spPr>
          <a:xfrm>
            <a:off x="792480" y="5764378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60"/>
          </a:p>
        </p:txBody>
      </p:sp>
      <p:sp>
        <p:nvSpPr>
          <p:cNvPr id="24" name="Text 22"/>
          <p:cNvSpPr/>
          <p:nvPr/>
        </p:nvSpPr>
        <p:spPr>
          <a:xfrm>
            <a:off x="792480" y="6054548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Vocabulary size</a:t>
            </a:r>
            <a:endParaRPr lang="en-US" sz="1360"/>
          </a:p>
        </p:txBody>
      </p:sp>
      <p:sp>
        <p:nvSpPr>
          <p:cNvPr id="25" name="Text 23"/>
          <p:cNvSpPr/>
          <p:nvPr/>
        </p:nvSpPr>
        <p:spPr>
          <a:xfrm>
            <a:off x="792480" y="6344718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print('Vocabulary |V|:', len(fd))</a:t>
            </a:r>
            <a:endParaRPr lang="en-US" sz="1360"/>
          </a:p>
        </p:txBody>
      </p:sp>
    </p:spTree>
    <p:extLst>
      <p:ext uri="{BB962C8B-B14F-4D97-AF65-F5344CB8AC3E}">
        <p14:creationId xmlns:p14="http://schemas.microsoft.com/office/powerpoint/2010/main" val="1425396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6720" y="0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 — Discuss</a:t>
            </a:r>
            <a:endParaRPr lang="en-US" sz="2667"/>
          </a:p>
        </p:txBody>
      </p:sp>
      <p:sp>
        <p:nvSpPr>
          <p:cNvPr id="6" name="Shape 4"/>
          <p:cNvSpPr/>
          <p:nvPr/>
        </p:nvSpPr>
        <p:spPr>
          <a:xfrm>
            <a:off x="487680" y="1036320"/>
            <a:ext cx="11216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097280"/>
            <a:ext cx="10728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Why does token vs type distinction matter for NLP?</a:t>
            </a:r>
            <a:endParaRPr lang="en-US" sz="1733"/>
          </a:p>
        </p:txBody>
      </p:sp>
      <p:sp>
        <p:nvSpPr>
          <p:cNvPr id="8" name="Text 6"/>
          <p:cNvSpPr/>
          <p:nvPr/>
        </p:nvSpPr>
        <p:spPr>
          <a:xfrm>
            <a:off x="914400" y="1548384"/>
            <a:ext cx="106070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model treating 'run' and 'ran' as different types loses the semantic connection. Morphological analysis (Topic 2.4) solves this by mapping both to lexeme 'run'.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87680" y="2438400"/>
            <a:ext cx="11216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499360"/>
            <a:ext cx="10728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What happens to vocabulary size as corpus grows?</a:t>
            </a:r>
            <a:endParaRPr lang="en-US" sz="1733"/>
          </a:p>
        </p:txBody>
      </p:sp>
      <p:sp>
        <p:nvSpPr>
          <p:cNvPr id="11" name="Text 9"/>
          <p:cNvSpPr/>
          <p:nvPr/>
        </p:nvSpPr>
        <p:spPr>
          <a:xfrm>
            <a:off x="914400" y="2950464"/>
            <a:ext cx="106070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 grows — but slower than linearly. 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487680" y="3840480"/>
            <a:ext cx="11216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901440"/>
            <a:ext cx="10728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How does your project domain affect vocabulary size?</a:t>
            </a:r>
            <a:endParaRPr lang="en-US" sz="1733"/>
          </a:p>
        </p:txBody>
      </p:sp>
      <p:sp>
        <p:nvSpPr>
          <p:cNvPr id="14" name="Text 12"/>
          <p:cNvSpPr/>
          <p:nvPr/>
        </p:nvSpPr>
        <p:spPr>
          <a:xfrm>
            <a:off x="914400" y="4352544"/>
            <a:ext cx="106070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Technical domains (medical, legal) have large specialized vocabularies. Social media has massive informal vocabulary. Both need different preprocessing strategies.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487680" y="5242560"/>
            <a:ext cx="11216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5303520"/>
            <a:ext cx="10728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Market relevance — where does lexical analysis appear?</a:t>
            </a:r>
            <a:endParaRPr lang="en-US" sz="1733"/>
          </a:p>
        </p:txBody>
      </p:sp>
      <p:sp>
        <p:nvSpPr>
          <p:cNvPr id="17" name="Text 15"/>
          <p:cNvSpPr/>
          <p:nvPr/>
        </p:nvSpPr>
        <p:spPr>
          <a:xfrm>
            <a:off x="914400" y="5754624"/>
            <a:ext cx="106070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Spell checkers, autocomplete, search indexing, dictionary apps. Every NLP product starts here. Getting this wrong breaks everything downstream.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039869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6720" y="0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Empirical Laws — What Nature Tells Us About Language</a:t>
            </a:r>
            <a:endParaRPr lang="en-US" sz="2667"/>
          </a:p>
        </p:txBody>
      </p:sp>
      <p:sp>
        <p:nvSpPr>
          <p:cNvPr id="4" name="Shape 2"/>
          <p:cNvSpPr/>
          <p:nvPr/>
        </p:nvSpPr>
        <p:spPr>
          <a:xfrm>
            <a:off x="9753600" y="121920"/>
            <a:ext cx="2072640" cy="6096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999744"/>
            <a:ext cx="11216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building any NLP system, we must understand the statistical nature of text. Two laws govern it.</a:t>
            </a:r>
            <a:endParaRPr lang="en-US" sz="1733"/>
          </a:p>
        </p:txBody>
      </p:sp>
      <p:sp>
        <p:nvSpPr>
          <p:cNvPr id="7" name="Shape 5"/>
          <p:cNvSpPr/>
          <p:nvPr/>
        </p:nvSpPr>
        <p:spPr>
          <a:xfrm>
            <a:off x="487680" y="1609344"/>
            <a:ext cx="5425440" cy="4693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7680" y="1609344"/>
            <a:ext cx="5425440" cy="670560"/>
          </a:xfrm>
          <a:prstGeom prst="roundRect">
            <a:avLst>
              <a:gd name="adj" fmla="val 2181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680" y="1609344"/>
            <a:ext cx="54254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Zipf's Law</a:t>
            </a:r>
            <a:endParaRPr lang="en-US" sz="2133"/>
          </a:p>
        </p:txBody>
      </p:sp>
      <p:sp>
        <p:nvSpPr>
          <p:cNvPr id="10" name="Text 8"/>
          <p:cNvSpPr/>
          <p:nvPr/>
        </p:nvSpPr>
        <p:spPr>
          <a:xfrm>
            <a:off x="670560" y="2377440"/>
            <a:ext cx="505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a word is inversely proportional to its rank.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853440" y="3023616"/>
            <a:ext cx="4693920" cy="609600"/>
          </a:xfrm>
          <a:prstGeom prst="roundRect">
            <a:avLst>
              <a:gd name="adj" fmla="val 14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3440" y="3023616"/>
            <a:ext cx="4693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>
                <a:solidFill>
                  <a:srgbClr val="FFC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frequency(w) ∝ 1 / rank(w)</a:t>
            </a:r>
            <a:endParaRPr lang="en-US" sz="1867"/>
          </a:p>
        </p:txBody>
      </p:sp>
      <p:sp>
        <p:nvSpPr>
          <p:cNvPr id="13" name="Text 11"/>
          <p:cNvSpPr/>
          <p:nvPr/>
        </p:nvSpPr>
        <p:spPr>
          <a:xfrm>
            <a:off x="670560" y="3779520"/>
            <a:ext cx="50596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1: 'the'  → appears ~7% of all words</a:t>
            </a:r>
            <a:endParaRPr lang="en-US" sz="1467"/>
          </a:p>
        </p:txBody>
      </p:sp>
      <p:sp>
        <p:nvSpPr>
          <p:cNvPr id="14" name="Text 12"/>
          <p:cNvSpPr/>
          <p:nvPr/>
        </p:nvSpPr>
        <p:spPr>
          <a:xfrm>
            <a:off x="670560" y="4242816"/>
            <a:ext cx="50596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2: 'of'   → appears ~3.5%</a:t>
            </a:r>
            <a:endParaRPr lang="en-US" sz="1467"/>
          </a:p>
        </p:txBody>
      </p:sp>
      <p:sp>
        <p:nvSpPr>
          <p:cNvPr id="15" name="Text 13"/>
          <p:cNvSpPr/>
          <p:nvPr/>
        </p:nvSpPr>
        <p:spPr>
          <a:xfrm>
            <a:off x="670560" y="4706112"/>
            <a:ext cx="50596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3: 'and'  → appears ~2.8%</a:t>
            </a:r>
            <a:endParaRPr lang="en-US" sz="1467"/>
          </a:p>
        </p:txBody>
      </p:sp>
      <p:sp>
        <p:nvSpPr>
          <p:cNvPr id="16" name="Text 14"/>
          <p:cNvSpPr/>
          <p:nvPr/>
        </p:nvSpPr>
        <p:spPr>
          <a:xfrm>
            <a:off x="670560" y="5169408"/>
            <a:ext cx="50596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10: 'in'  → appears ~1%</a:t>
            </a:r>
            <a:endParaRPr lang="en-US" sz="1467"/>
          </a:p>
        </p:txBody>
      </p:sp>
      <p:sp>
        <p:nvSpPr>
          <p:cNvPr id="17" name="Text 15"/>
          <p:cNvSpPr/>
          <p:nvPr/>
        </p:nvSpPr>
        <p:spPr>
          <a:xfrm>
            <a:off x="670560" y="5632704"/>
            <a:ext cx="50596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100 onwards → very rare words</a:t>
            </a:r>
            <a:endParaRPr lang="en-US" sz="1467"/>
          </a:p>
        </p:txBody>
      </p:sp>
      <p:sp>
        <p:nvSpPr>
          <p:cNvPr id="18" name="Text 16"/>
          <p:cNvSpPr/>
          <p:nvPr/>
        </p:nvSpPr>
        <p:spPr>
          <a:xfrm>
            <a:off x="670560" y="5913120"/>
            <a:ext cx="50596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A few words dominate text. → Stop word removal.</a:t>
            </a:r>
            <a:endParaRPr lang="en-US" sz="1333"/>
          </a:p>
        </p:txBody>
      </p:sp>
      <p:sp>
        <p:nvSpPr>
          <p:cNvPr id="19" name="Shape 17"/>
          <p:cNvSpPr/>
          <p:nvPr/>
        </p:nvSpPr>
        <p:spPr>
          <a:xfrm>
            <a:off x="6278880" y="1609344"/>
            <a:ext cx="5425440" cy="4693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78880" y="1609344"/>
            <a:ext cx="5425440" cy="670560"/>
          </a:xfrm>
          <a:prstGeom prst="roundRect">
            <a:avLst>
              <a:gd name="adj" fmla="val 2181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8880" y="1609344"/>
            <a:ext cx="54254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Heap's Law</a:t>
            </a:r>
            <a:endParaRPr lang="en-US" sz="2133"/>
          </a:p>
        </p:txBody>
      </p:sp>
      <p:sp>
        <p:nvSpPr>
          <p:cNvPr id="22" name="Text 20"/>
          <p:cNvSpPr/>
          <p:nvPr/>
        </p:nvSpPr>
        <p:spPr>
          <a:xfrm>
            <a:off x="6461760" y="2377440"/>
            <a:ext cx="505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size grows as a power function of corpus size.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6644640" y="3023616"/>
            <a:ext cx="4693920" cy="609600"/>
          </a:xfrm>
          <a:prstGeom prst="roundRect">
            <a:avLst>
              <a:gd name="adj" fmla="val 14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4640" y="3023616"/>
            <a:ext cx="4693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>
                <a:solidFill>
                  <a:srgbClr val="FFC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|V| = K × N^β   (β ≈ 0.4–0.6)</a:t>
            </a:r>
            <a:endParaRPr lang="en-US" sz="1867"/>
          </a:p>
        </p:txBody>
      </p:sp>
      <p:sp>
        <p:nvSpPr>
          <p:cNvPr id="25" name="Text 23"/>
          <p:cNvSpPr/>
          <p:nvPr/>
        </p:nvSpPr>
        <p:spPr>
          <a:xfrm>
            <a:off x="6461760" y="3779520"/>
            <a:ext cx="50596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|V| = vocabulary size</a:t>
            </a:r>
            <a:endParaRPr lang="en-US" sz="1467"/>
          </a:p>
        </p:txBody>
      </p:sp>
      <p:sp>
        <p:nvSpPr>
          <p:cNvPr id="26" name="Text 24"/>
          <p:cNvSpPr/>
          <p:nvPr/>
        </p:nvSpPr>
        <p:spPr>
          <a:xfrm>
            <a:off x="6461760" y="4242816"/>
            <a:ext cx="50596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 = number of tokens in corpus</a:t>
            </a:r>
            <a:endParaRPr lang="en-US" sz="1467"/>
          </a:p>
        </p:txBody>
      </p:sp>
      <p:sp>
        <p:nvSpPr>
          <p:cNvPr id="27" name="Text 25"/>
          <p:cNvSpPr/>
          <p:nvPr/>
        </p:nvSpPr>
        <p:spPr>
          <a:xfrm>
            <a:off x="6461760" y="4706112"/>
            <a:ext cx="50596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K, β = corpus-specific constants</a:t>
            </a:r>
            <a:endParaRPr lang="en-US" sz="1467"/>
          </a:p>
        </p:txBody>
      </p:sp>
      <p:sp>
        <p:nvSpPr>
          <p:cNvPr id="28" name="Text 26"/>
          <p:cNvSpPr/>
          <p:nvPr/>
        </p:nvSpPr>
        <p:spPr>
          <a:xfrm>
            <a:off x="6461760" y="5169408"/>
            <a:ext cx="50596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≈ 0.5 for most English corpora</a:t>
            </a:r>
            <a:endParaRPr lang="en-US" sz="1467"/>
          </a:p>
        </p:txBody>
      </p:sp>
      <p:sp>
        <p:nvSpPr>
          <p:cNvPr id="29" name="Text 27"/>
          <p:cNvSpPr/>
          <p:nvPr/>
        </p:nvSpPr>
        <p:spPr>
          <a:xfrm>
            <a:off x="6461760" y="5632704"/>
            <a:ext cx="50596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 doubles → |V| grows by ~40%</a:t>
            </a:r>
            <a:endParaRPr lang="en-US" sz="1467"/>
          </a:p>
        </p:txBody>
      </p:sp>
      <p:sp>
        <p:nvSpPr>
          <p:cNvPr id="30" name="Text 28"/>
          <p:cNvSpPr/>
          <p:nvPr/>
        </p:nvSpPr>
        <p:spPr>
          <a:xfrm>
            <a:off x="6461760" y="5913120"/>
            <a:ext cx="50596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Vocabulary never saturates. → Open vocabulary problem.</a:t>
            </a:r>
            <a:endParaRPr lang="en-US" sz="1333"/>
          </a:p>
        </p:txBody>
      </p:sp>
    </p:spTree>
    <p:extLst>
      <p:ext uri="{BB962C8B-B14F-4D97-AF65-F5344CB8AC3E}">
        <p14:creationId xmlns:p14="http://schemas.microsoft.com/office/powerpoint/2010/main" val="3477957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6720" y="0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Zipf's</a:t>
            </a:r>
            <a:r>
              <a:rPr lang="en-US" sz="26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Law — Mathematical Formulation</a:t>
            </a:r>
            <a:endParaRPr lang="en-US" sz="2667"/>
          </a:p>
        </p:txBody>
      </p:sp>
      <p:sp>
        <p:nvSpPr>
          <p:cNvPr id="5" name="Text 3"/>
          <p:cNvSpPr/>
          <p:nvPr/>
        </p:nvSpPr>
        <p:spPr>
          <a:xfrm>
            <a:off x="9753600" y="12192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467"/>
          </a:p>
        </p:txBody>
      </p:sp>
      <p:sp>
        <p:nvSpPr>
          <p:cNvPr id="6" name="Text 4"/>
          <p:cNvSpPr/>
          <p:nvPr/>
        </p:nvSpPr>
        <p:spPr>
          <a:xfrm>
            <a:off x="487680" y="999744"/>
            <a:ext cx="11216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Zipf's Law gives us the first mathematical insight into why preprocessing decisions are justified.</a:t>
            </a:r>
            <a:endParaRPr lang="en-US" sz="1733"/>
          </a:p>
        </p:txBody>
      </p:sp>
      <p:sp>
        <p:nvSpPr>
          <p:cNvPr id="14" name="Text 12"/>
          <p:cNvSpPr/>
          <p:nvPr/>
        </p:nvSpPr>
        <p:spPr>
          <a:xfrm>
            <a:off x="487680" y="4291584"/>
            <a:ext cx="11216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 for preprocessing?</a:t>
            </a:r>
            <a:endParaRPr lang="en-US" sz="1867"/>
          </a:p>
        </p:txBody>
      </p:sp>
      <p:sp>
        <p:nvSpPr>
          <p:cNvPr id="15" name="Shape 13"/>
          <p:cNvSpPr/>
          <p:nvPr/>
        </p:nvSpPr>
        <p:spPr>
          <a:xfrm>
            <a:off x="487680" y="4876800"/>
            <a:ext cx="11216640" cy="51206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1D8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7680" y="4876800"/>
            <a:ext cx="304800" cy="512064"/>
          </a:xfrm>
          <a:prstGeom prst="roundRect">
            <a:avLst>
              <a:gd name="adj" fmla="val 28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76800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words cover ~50% of all text</a:t>
            </a:r>
            <a:endParaRPr lang="en-US" sz="1467"/>
          </a:p>
        </p:txBody>
      </p:sp>
      <p:sp>
        <p:nvSpPr>
          <p:cNvPr id="18" name="Text 16"/>
          <p:cNvSpPr/>
          <p:nvPr/>
        </p:nvSpPr>
        <p:spPr>
          <a:xfrm>
            <a:off x="5791200" y="4876800"/>
            <a:ext cx="579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Stop word removal eliminates half the text with 100 rules</a:t>
            </a:r>
            <a:endParaRPr lang="en-US" sz="1467"/>
          </a:p>
        </p:txBody>
      </p:sp>
      <p:sp>
        <p:nvSpPr>
          <p:cNvPr id="19" name="Shape 17"/>
          <p:cNvSpPr/>
          <p:nvPr/>
        </p:nvSpPr>
        <p:spPr>
          <a:xfrm>
            <a:off x="487680" y="5462016"/>
            <a:ext cx="11216640" cy="51206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1D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7680" y="5462016"/>
            <a:ext cx="304800" cy="512064"/>
          </a:xfrm>
          <a:prstGeom prst="roundRect">
            <a:avLst>
              <a:gd name="adj" fmla="val 28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62016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words are very rare (long tail)</a:t>
            </a:r>
            <a:endParaRPr lang="en-US" sz="1467"/>
          </a:p>
        </p:txBody>
      </p:sp>
      <p:sp>
        <p:nvSpPr>
          <p:cNvPr id="22" name="Text 20"/>
          <p:cNvSpPr/>
          <p:nvPr/>
        </p:nvSpPr>
        <p:spPr>
          <a:xfrm>
            <a:off x="5791200" y="5462016"/>
            <a:ext cx="579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Rare words need smoothing — seen in test but not training</a:t>
            </a:r>
            <a:endParaRPr lang="en-US" sz="1467"/>
          </a:p>
        </p:txBody>
      </p:sp>
      <p:sp>
        <p:nvSpPr>
          <p:cNvPr id="23" name="Shape 21"/>
          <p:cNvSpPr/>
          <p:nvPr/>
        </p:nvSpPr>
        <p:spPr>
          <a:xfrm>
            <a:off x="487680" y="6047232"/>
            <a:ext cx="11216640" cy="51206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1D8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7680" y="6047232"/>
            <a:ext cx="304800" cy="512064"/>
          </a:xfrm>
          <a:prstGeom prst="roundRect">
            <a:avLst>
              <a:gd name="adj" fmla="val 28000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6047232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grows unboundedly</a:t>
            </a:r>
            <a:endParaRPr lang="en-US" sz="1467"/>
          </a:p>
        </p:txBody>
      </p:sp>
      <p:sp>
        <p:nvSpPr>
          <p:cNvPr id="26" name="Text 24"/>
          <p:cNvSpPr/>
          <p:nvPr/>
        </p:nvSpPr>
        <p:spPr>
          <a:xfrm>
            <a:off x="5791200" y="6047232"/>
            <a:ext cx="579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Subword tokenization (BPE) handles unseen words in BERT/GPT</a:t>
            </a:r>
            <a:endParaRPr lang="en-US" sz="1467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55" y="1609343"/>
            <a:ext cx="10669489" cy="256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6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65" y="351995"/>
            <a:ext cx="11241069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201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470263"/>
            <a:ext cx="10998925" cy="587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93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35" y="444137"/>
            <a:ext cx="10620102" cy="591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030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26" y="365761"/>
            <a:ext cx="10672355" cy="620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695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6720" y="0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Empirical Laws — Verify on Real Text</a:t>
            </a:r>
            <a:endParaRPr lang="en-US" sz="2667"/>
          </a:p>
        </p:txBody>
      </p:sp>
      <p:sp>
        <p:nvSpPr>
          <p:cNvPr id="4" name="Shape 2"/>
          <p:cNvSpPr/>
          <p:nvPr/>
        </p:nvSpPr>
        <p:spPr>
          <a:xfrm>
            <a:off x="9753600" y="121920"/>
            <a:ext cx="2072640" cy="609600"/>
          </a:xfrm>
          <a:prstGeom prst="roundRect">
            <a:avLst>
              <a:gd name="adj" fmla="val 16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53600" y="12192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467"/>
          </a:p>
        </p:txBody>
      </p:sp>
      <p:sp>
        <p:nvSpPr>
          <p:cNvPr id="6" name="Shape 4"/>
          <p:cNvSpPr/>
          <p:nvPr/>
        </p:nvSpPr>
        <p:spPr>
          <a:xfrm>
            <a:off x="487680" y="984940"/>
            <a:ext cx="11216640" cy="5858256"/>
          </a:xfrm>
          <a:prstGeom prst="roundRect">
            <a:avLst>
              <a:gd name="adj" fmla="val 263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92480" y="1121665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nltk, math</a:t>
            </a:r>
            <a:endParaRPr lang="en-US" sz="1360"/>
          </a:p>
        </p:txBody>
      </p:sp>
      <p:sp>
        <p:nvSpPr>
          <p:cNvPr id="8" name="Text 6"/>
          <p:cNvSpPr/>
          <p:nvPr/>
        </p:nvSpPr>
        <p:spPr>
          <a:xfrm>
            <a:off x="792480" y="1411834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nltk.corpus import gutenberg</a:t>
            </a:r>
            <a:endParaRPr lang="en-US" sz="1360"/>
          </a:p>
        </p:txBody>
      </p:sp>
      <p:sp>
        <p:nvSpPr>
          <p:cNvPr id="9" name="Text 7"/>
          <p:cNvSpPr/>
          <p:nvPr/>
        </p:nvSpPr>
        <p:spPr>
          <a:xfrm>
            <a:off x="792480" y="1702004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nltk import FreqDist</a:t>
            </a:r>
            <a:endParaRPr lang="en-US" sz="1360"/>
          </a:p>
        </p:txBody>
      </p:sp>
      <p:sp>
        <p:nvSpPr>
          <p:cNvPr id="10" name="Text 8"/>
          <p:cNvSpPr/>
          <p:nvPr/>
        </p:nvSpPr>
        <p:spPr>
          <a:xfrm>
            <a:off x="792480" y="1992174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nltk.download('gutenberg')</a:t>
            </a:r>
            <a:endParaRPr lang="en-US" sz="1360"/>
          </a:p>
        </p:txBody>
      </p:sp>
      <p:sp>
        <p:nvSpPr>
          <p:cNvPr id="11" name="Text 9"/>
          <p:cNvSpPr/>
          <p:nvPr/>
        </p:nvSpPr>
        <p:spPr>
          <a:xfrm>
            <a:off x="792480" y="2282344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60"/>
          </a:p>
        </p:txBody>
      </p:sp>
      <p:sp>
        <p:nvSpPr>
          <p:cNvPr id="12" name="Text 10"/>
          <p:cNvSpPr/>
          <p:nvPr/>
        </p:nvSpPr>
        <p:spPr>
          <a:xfrm>
            <a:off x="792480" y="2572513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a real corpus — Shakespeare</a:t>
            </a:r>
            <a:endParaRPr lang="en-US" sz="1360"/>
          </a:p>
        </p:txBody>
      </p:sp>
      <p:sp>
        <p:nvSpPr>
          <p:cNvPr id="13" name="Text 11"/>
          <p:cNvSpPr/>
          <p:nvPr/>
        </p:nvSpPr>
        <p:spPr>
          <a:xfrm>
            <a:off x="792480" y="2862682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gutenberg.words('shakespeare-hamlet.txt')</a:t>
            </a:r>
            <a:endParaRPr lang="en-US" sz="1360"/>
          </a:p>
        </p:txBody>
      </p:sp>
      <p:sp>
        <p:nvSpPr>
          <p:cNvPr id="14" name="Text 12"/>
          <p:cNvSpPr/>
          <p:nvPr/>
        </p:nvSpPr>
        <p:spPr>
          <a:xfrm>
            <a:off x="792480" y="3152852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[w.lower() for w in words if w.isalpha()]</a:t>
            </a:r>
            <a:endParaRPr lang="en-US" sz="1360"/>
          </a:p>
        </p:txBody>
      </p:sp>
      <p:sp>
        <p:nvSpPr>
          <p:cNvPr id="15" name="Text 13"/>
          <p:cNvSpPr/>
          <p:nvPr/>
        </p:nvSpPr>
        <p:spPr>
          <a:xfrm>
            <a:off x="792480" y="3443022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60"/>
          </a:p>
        </p:txBody>
      </p:sp>
      <p:sp>
        <p:nvSpPr>
          <p:cNvPr id="16" name="Text 14"/>
          <p:cNvSpPr/>
          <p:nvPr/>
        </p:nvSpPr>
        <p:spPr>
          <a:xfrm>
            <a:off x="792480" y="3733192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Zipf's Law — rank vs frequency</a:t>
            </a:r>
            <a:endParaRPr lang="en-US" sz="1360"/>
          </a:p>
        </p:txBody>
      </p:sp>
      <p:sp>
        <p:nvSpPr>
          <p:cNvPr id="17" name="Text 15"/>
          <p:cNvSpPr/>
          <p:nvPr/>
        </p:nvSpPr>
        <p:spPr>
          <a:xfrm>
            <a:off x="792480" y="4023361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= FreqDist(words)</a:t>
            </a:r>
            <a:endParaRPr lang="en-US" sz="1360"/>
          </a:p>
        </p:txBody>
      </p:sp>
      <p:sp>
        <p:nvSpPr>
          <p:cNvPr id="18" name="Text 16"/>
          <p:cNvSpPr/>
          <p:nvPr/>
        </p:nvSpPr>
        <p:spPr>
          <a:xfrm>
            <a:off x="792480" y="4313530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ranked = fd.most_common()</a:t>
            </a:r>
            <a:endParaRPr lang="en-US" sz="1360"/>
          </a:p>
        </p:txBody>
      </p:sp>
      <p:sp>
        <p:nvSpPr>
          <p:cNvPr id="19" name="Text 17"/>
          <p:cNvSpPr/>
          <p:nvPr/>
        </p:nvSpPr>
        <p:spPr>
          <a:xfrm>
            <a:off x="792480" y="4603700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print('Rank 1:', ranked[0])   # most frequent word</a:t>
            </a:r>
            <a:endParaRPr lang="en-US" sz="1360"/>
          </a:p>
        </p:txBody>
      </p:sp>
      <p:sp>
        <p:nvSpPr>
          <p:cNvPr id="20" name="Text 18"/>
          <p:cNvSpPr/>
          <p:nvPr/>
        </p:nvSpPr>
        <p:spPr>
          <a:xfrm>
            <a:off x="792480" y="4893870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print('Rank 2:', ranked[1])</a:t>
            </a:r>
            <a:endParaRPr lang="en-US" sz="1360"/>
          </a:p>
        </p:txBody>
      </p:sp>
      <p:sp>
        <p:nvSpPr>
          <p:cNvPr id="21" name="Text 19"/>
          <p:cNvSpPr/>
          <p:nvPr/>
        </p:nvSpPr>
        <p:spPr>
          <a:xfrm>
            <a:off x="792480" y="5184040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print('Rank 10:', ranked[9])</a:t>
            </a:r>
            <a:endParaRPr lang="en-US" sz="1360"/>
          </a:p>
        </p:txBody>
      </p:sp>
      <p:sp>
        <p:nvSpPr>
          <p:cNvPr id="22" name="Text 20"/>
          <p:cNvSpPr/>
          <p:nvPr/>
        </p:nvSpPr>
        <p:spPr>
          <a:xfrm>
            <a:off x="792480" y="5474209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60"/>
          </a:p>
        </p:txBody>
      </p:sp>
      <p:sp>
        <p:nvSpPr>
          <p:cNvPr id="23" name="Text 21"/>
          <p:cNvSpPr/>
          <p:nvPr/>
        </p:nvSpPr>
        <p:spPr>
          <a:xfrm>
            <a:off x="792480" y="5764378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Verify: rank × frequency ≈ constant?</a:t>
            </a:r>
            <a:endParaRPr lang="en-US" sz="1360"/>
          </a:p>
        </p:txBody>
      </p:sp>
      <p:sp>
        <p:nvSpPr>
          <p:cNvPr id="24" name="Text 22"/>
          <p:cNvSpPr/>
          <p:nvPr/>
        </p:nvSpPr>
        <p:spPr>
          <a:xfrm>
            <a:off x="792480" y="6054548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rank, (word, freq) in enumerate(ranked[:5], 1):</a:t>
            </a:r>
            <a:endParaRPr lang="en-US" sz="1360"/>
          </a:p>
        </p:txBody>
      </p:sp>
      <p:sp>
        <p:nvSpPr>
          <p:cNvPr id="25" name="Text 23"/>
          <p:cNvSpPr/>
          <p:nvPr/>
        </p:nvSpPr>
        <p:spPr>
          <a:xfrm>
            <a:off x="792480" y="6344718"/>
            <a:ext cx="10728960" cy="290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print(f'Rank {rank}: {word:10} freq={freq:4}  rank×freq={rank*freq}')</a:t>
            </a:r>
            <a:endParaRPr lang="en-US" sz="1360"/>
          </a:p>
        </p:txBody>
      </p:sp>
      <p:sp>
        <p:nvSpPr>
          <p:cNvPr id="26" name="Text 24"/>
          <p:cNvSpPr/>
          <p:nvPr/>
        </p:nvSpPr>
        <p:spPr>
          <a:xfrm>
            <a:off x="7811589" y="1767841"/>
            <a:ext cx="3540034" cy="1385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Observe: rank × frequency ≈ constant across all ranks → Zipf's Law confirmed. Try with your own project dataset.</a:t>
            </a:r>
            <a:endParaRPr lang="en-US" sz="1467"/>
          </a:p>
        </p:txBody>
      </p:sp>
    </p:spTree>
    <p:extLst>
      <p:ext uri="{BB962C8B-B14F-4D97-AF65-F5344CB8AC3E}">
        <p14:creationId xmlns:p14="http://schemas.microsoft.com/office/powerpoint/2010/main" val="3342861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6720" y="0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Empirical Laws — Discuss</a:t>
            </a:r>
            <a:endParaRPr lang="en-US" sz="2667"/>
          </a:p>
        </p:txBody>
      </p:sp>
      <p:sp>
        <p:nvSpPr>
          <p:cNvPr id="4" name="Shape 2"/>
          <p:cNvSpPr/>
          <p:nvPr/>
        </p:nvSpPr>
        <p:spPr>
          <a:xfrm>
            <a:off x="9753600" y="121920"/>
            <a:ext cx="2072640" cy="609600"/>
          </a:xfrm>
          <a:prstGeom prst="roundRect">
            <a:avLst>
              <a:gd name="adj" fmla="val 16000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53600" y="12192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467"/>
          </a:p>
        </p:txBody>
      </p:sp>
      <p:sp>
        <p:nvSpPr>
          <p:cNvPr id="6" name="Shape 4"/>
          <p:cNvSpPr/>
          <p:nvPr/>
        </p:nvSpPr>
        <p:spPr>
          <a:xfrm>
            <a:off x="487680" y="1036320"/>
            <a:ext cx="11216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097280"/>
            <a:ext cx="10728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Why does Zipf's Law justify stop word removal?</a:t>
            </a:r>
            <a:endParaRPr lang="en-US" sz="1733"/>
          </a:p>
        </p:txBody>
      </p:sp>
      <p:sp>
        <p:nvSpPr>
          <p:cNvPr id="8" name="Text 6"/>
          <p:cNvSpPr/>
          <p:nvPr/>
        </p:nvSpPr>
        <p:spPr>
          <a:xfrm>
            <a:off x="914400" y="1548384"/>
            <a:ext cx="106070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Top 100 words cover ~50% of all text but carry almost no meaning. Removing them reduces noise dramatically with minimal information loss.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87680" y="2438400"/>
            <a:ext cx="11216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499360"/>
            <a:ext cx="10728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What does Heap's Law tell a system designer?</a:t>
            </a:r>
            <a:endParaRPr lang="en-US" sz="1733"/>
          </a:p>
        </p:txBody>
      </p:sp>
      <p:sp>
        <p:nvSpPr>
          <p:cNvPr id="11" name="Text 9"/>
          <p:cNvSpPr/>
          <p:nvPr/>
        </p:nvSpPr>
        <p:spPr>
          <a:xfrm>
            <a:off x="914400" y="2950464"/>
            <a:ext cx="106070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You can never have a complete vocabulary. New words always appear. 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487680" y="3840480"/>
            <a:ext cx="11216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901440"/>
            <a:ext cx="10728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Do these laws hold for Indian languages?</a:t>
            </a:r>
            <a:endParaRPr lang="en-US" sz="1733"/>
          </a:p>
        </p:txBody>
      </p:sp>
      <p:sp>
        <p:nvSpPr>
          <p:cNvPr id="14" name="Text 12"/>
          <p:cNvSpPr/>
          <p:nvPr/>
        </p:nvSpPr>
        <p:spPr>
          <a:xfrm>
            <a:off x="914400" y="4352544"/>
            <a:ext cx="106070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Approximately yes — but with different constants. Morphologically rich languages like Marathi have sparser distributions because one concept maps to many word forms.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487680" y="5242560"/>
            <a:ext cx="11216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5303520"/>
            <a:ext cx="10728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Alternative view — do these laws always hold?</a:t>
            </a:r>
            <a:endParaRPr lang="en-US" sz="1733"/>
          </a:p>
        </p:txBody>
      </p:sp>
      <p:sp>
        <p:nvSpPr>
          <p:cNvPr id="17" name="Text 15"/>
          <p:cNvSpPr/>
          <p:nvPr/>
        </p:nvSpPr>
        <p:spPr>
          <a:xfrm>
            <a:off x="914400" y="5754624"/>
            <a:ext cx="106070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Social media text, code, and highly technical domains show deviations. Zipf's Law is empirical, not universal. Always verify on your specific corpus.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99587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2CA6-3632-A5DC-6FC0-EA1E02D2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3195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Basic terms of text processing</a:t>
            </a:r>
            <a:endParaRPr lang="en-IN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3574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38567" y="481606"/>
            <a:ext cx="4146973" cy="533416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60"/>
              </a:spcBef>
            </a:pPr>
            <a:r>
              <a:rPr sz="3333" spc="7">
                <a:latin typeface="Arial MT"/>
                <a:cs typeface="Arial MT"/>
              </a:rPr>
              <a:t>Pre-Processing</a:t>
            </a:r>
            <a:r>
              <a:rPr sz="3333" spc="-120">
                <a:latin typeface="Arial MT"/>
                <a:cs typeface="Arial MT"/>
              </a:rPr>
              <a:t> </a:t>
            </a:r>
            <a:r>
              <a:rPr sz="3333" spc="7">
                <a:latin typeface="Arial MT"/>
                <a:cs typeface="Arial MT"/>
              </a:rPr>
              <a:t>Steps</a:t>
            </a:r>
            <a:endParaRPr sz="3333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7967" y="1158568"/>
            <a:ext cx="8122868" cy="562206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685521" y="4778067"/>
            <a:ext cx="288290" cy="167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rgbClr val="59595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IN" smtClean="0"/>
              <a:pPr marL="108585">
                <a:spcBef>
                  <a:spcPts val="5"/>
                </a:spcBef>
              </a:pPr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7942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F8195-CA1A-4EAE-B7AF-2D20F8429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Steps of NLP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790AD-B3AB-4147-87B2-BD92FBC7E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983"/>
            <a:ext cx="10515600" cy="5221356"/>
          </a:xfrm>
        </p:spPr>
        <p:txBody>
          <a:bodyPr>
            <a:normAutofit lnSpcReduction="10000"/>
          </a:bodyPr>
          <a:lstStyle/>
          <a:p>
            <a:r>
              <a:rPr lang="en-IN" b="1" i="0">
                <a:effectLst/>
              </a:rPr>
              <a:t>Sentence Segmentation</a:t>
            </a:r>
          </a:p>
          <a:p>
            <a:r>
              <a:rPr lang="en-IN" b="1" i="0">
                <a:effectLst/>
              </a:rPr>
              <a:t>Word Tokenization</a:t>
            </a:r>
            <a:endParaRPr lang="en-IN" b="1"/>
          </a:p>
          <a:p>
            <a:r>
              <a:rPr lang="en-IN" b="1" i="0">
                <a:effectLst/>
              </a:rPr>
              <a:t>Stemming</a:t>
            </a:r>
          </a:p>
          <a:p>
            <a:r>
              <a:rPr lang="en-IN" b="1" i="0">
                <a:effectLst/>
              </a:rPr>
              <a:t>POS tags</a:t>
            </a:r>
          </a:p>
          <a:p>
            <a:r>
              <a:rPr lang="en-IN" b="1" i="0">
                <a:effectLst/>
              </a:rPr>
              <a:t>Lemmatization</a:t>
            </a:r>
            <a:endParaRPr lang="en-IN" b="1"/>
          </a:p>
          <a:p>
            <a:r>
              <a:rPr lang="en-IN" b="1" i="0">
                <a:effectLst/>
              </a:rPr>
              <a:t>Identifying Stop Words</a:t>
            </a:r>
          </a:p>
          <a:p>
            <a:r>
              <a:rPr lang="en-IN" b="1" i="0">
                <a:effectLst/>
              </a:rPr>
              <a:t>Dependency Parsing</a:t>
            </a:r>
            <a:endParaRPr lang="en-IN" b="1"/>
          </a:p>
          <a:p>
            <a:r>
              <a:rPr lang="en-IN" b="1" i="0">
                <a:effectLst/>
              </a:rPr>
              <a:t>Noun phrases</a:t>
            </a:r>
          </a:p>
          <a:p>
            <a:r>
              <a:rPr lang="en-IN" b="1" i="0">
                <a:effectLst/>
              </a:rPr>
              <a:t>Named Entity Recognition (NER)</a:t>
            </a:r>
          </a:p>
          <a:p>
            <a:r>
              <a:rPr lang="en-IN" b="1" i="0">
                <a:effectLst/>
              </a:rPr>
              <a:t>Coreference resolution </a:t>
            </a:r>
          </a:p>
          <a:p>
            <a:r>
              <a:rPr lang="en-IN" b="1" i="0">
                <a:effectLst/>
              </a:rPr>
              <a:t> Chunking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798188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CA6B30-4844-981A-DEC7-5AF652883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8" y="1802295"/>
            <a:ext cx="12012043" cy="353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364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ED7EF-0856-9793-B925-F377638C5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0">
                <a:solidFill>
                  <a:srgbClr val="C00000"/>
                </a:solidFill>
                <a:effectLst/>
              </a:rPr>
              <a:t>Sentence Segmentation</a:t>
            </a:r>
            <a:br>
              <a:rPr lang="en-IN" b="1" i="0">
                <a:solidFill>
                  <a:srgbClr val="C00000"/>
                </a:solidFill>
                <a:effectLst/>
              </a:rPr>
            </a:br>
            <a:endParaRPr lang="en-IN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DBC43-F01D-CF24-4CD1-8F3A0C961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3757"/>
            <a:ext cx="10515600" cy="4613206"/>
          </a:xfrm>
        </p:spPr>
        <p:txBody>
          <a:bodyPr>
            <a:normAutofit lnSpcReduction="10000"/>
          </a:bodyPr>
          <a:lstStyle/>
          <a:p>
            <a:r>
              <a:rPr lang="en-US" b="1" u="sng"/>
              <a:t>The problem of deciding where the sentences begin and end.</a:t>
            </a:r>
          </a:p>
          <a:p>
            <a:r>
              <a:rPr lang="en-US" b="1">
                <a:solidFill>
                  <a:srgbClr val="002060"/>
                </a:solidFill>
              </a:rPr>
              <a:t>Challenges involved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/>
              <a:t>While ‘!’ , ‘?’ are quite unambiguous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b="1"/>
              <a:t>Periods “.” is quite ambiguous and can be used additionally for Abbreviations (</a:t>
            </a:r>
            <a:r>
              <a:rPr lang="en-IN" b="1" err="1"/>
              <a:t>Dr.</a:t>
            </a:r>
            <a:r>
              <a:rPr lang="en-IN" b="1"/>
              <a:t> , Mr.)</a:t>
            </a:r>
          </a:p>
          <a:p>
            <a:pPr marL="0" indent="0">
              <a:buNone/>
            </a:pPr>
            <a:r>
              <a:rPr lang="en-IN" b="1"/>
              <a:t>    Numbers (2.3%, 7.9)</a:t>
            </a:r>
          </a:p>
          <a:p>
            <a:r>
              <a:rPr lang="en-IN" b="1">
                <a:solidFill>
                  <a:srgbClr val="002060"/>
                </a:solidFill>
              </a:rPr>
              <a:t>Approach </a:t>
            </a:r>
            <a:r>
              <a:rPr lang="en-IN" b="1"/>
              <a:t>: Build a binary classifier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b="1"/>
              <a:t> For each “.”    : Decides </a:t>
            </a:r>
            <a:r>
              <a:rPr lang="en-IN" b="1" err="1"/>
              <a:t>EndOfSentence</a:t>
            </a:r>
            <a:r>
              <a:rPr lang="en-IN" b="1"/>
              <a:t>/</a:t>
            </a:r>
            <a:r>
              <a:rPr lang="en-IN" b="1" err="1"/>
              <a:t>NotEndOfSentense</a:t>
            </a:r>
            <a:endParaRPr lang="en-IN" b="1"/>
          </a:p>
          <a:p>
            <a:pPr>
              <a:buFont typeface="Wingdings" panose="05000000000000000000" pitchFamily="2" charset="2"/>
              <a:buChar char="ü"/>
            </a:pPr>
            <a:r>
              <a:rPr lang="en-IN" b="1"/>
              <a:t>Classifiers can be: hand- written rules, regular expressions or machine learning classifiers</a:t>
            </a:r>
          </a:p>
          <a:p>
            <a:pPr marL="0" indent="0">
              <a:buNone/>
            </a:pP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3194628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5F4F8-A412-04A3-DB1F-7EDDC6E21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Word Tokenization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5937-3EC7-4012-BCBC-D57A3732B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583" y="1865382"/>
            <a:ext cx="11582400" cy="4351338"/>
          </a:xfrm>
        </p:spPr>
        <p:txBody>
          <a:bodyPr>
            <a:normAutofit lnSpcReduction="10000"/>
          </a:bodyPr>
          <a:lstStyle/>
          <a:p>
            <a:r>
              <a:rPr lang="en-US" b="1"/>
              <a:t>Tokenization is the process of segmenting a string of characters into words.</a:t>
            </a:r>
          </a:p>
          <a:p>
            <a:r>
              <a:rPr lang="en-US" b="1"/>
              <a:t>How many words?</a:t>
            </a:r>
          </a:p>
          <a:p>
            <a:pPr marL="514350" indent="-514350">
              <a:buAutoNum type="arabicPeriod"/>
            </a:pPr>
            <a:r>
              <a:rPr lang="en-US" b="1"/>
              <a:t>Word token : An occurrence of a word or instance of type in running text</a:t>
            </a:r>
          </a:p>
          <a:p>
            <a:pPr marL="514350" indent="-514350">
              <a:buAutoNum type="arabicPeriod"/>
            </a:pPr>
            <a:r>
              <a:rPr lang="en-US" b="1"/>
              <a:t>Word type: element of vocabulary</a:t>
            </a:r>
          </a:p>
          <a:p>
            <a:r>
              <a:rPr lang="en-US" b="1"/>
              <a:t>Example:</a:t>
            </a:r>
          </a:p>
          <a:p>
            <a:pPr marL="0" indent="0">
              <a:buNone/>
            </a:pPr>
            <a:r>
              <a:rPr lang="en-US" b="1"/>
              <a:t>	I have a can opener; but I can’t open these cans.</a:t>
            </a:r>
          </a:p>
          <a:p>
            <a:pPr marL="0" indent="0">
              <a:buNone/>
            </a:pPr>
            <a:r>
              <a:rPr lang="en-US" b="1"/>
              <a:t>Word token: 11</a:t>
            </a:r>
          </a:p>
          <a:p>
            <a:pPr marL="0" indent="0">
              <a:buNone/>
            </a:pPr>
            <a:r>
              <a:rPr lang="en-US" b="1"/>
              <a:t>Word type: 10 </a:t>
            </a:r>
          </a:p>
          <a:p>
            <a:pPr marL="0" indent="0">
              <a:buNone/>
            </a:pPr>
            <a:r>
              <a:rPr lang="en-IN" b="1"/>
              <a:t>Word tokenization is also called as word segmentation.</a:t>
            </a:r>
          </a:p>
          <a:p>
            <a:pPr marL="0" indent="0">
              <a:buNone/>
            </a:pPr>
            <a:endParaRPr lang="en-US" b="1"/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390123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67" y="467134"/>
            <a:ext cx="10714963" cy="6133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85521" y="4778067"/>
            <a:ext cx="288290" cy="167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rgbClr val="59595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IN" smtClean="0"/>
              <a:pPr marL="108585">
                <a:spcBef>
                  <a:spcPts val="5"/>
                </a:spcBef>
              </a:pPr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8335" y="1"/>
            <a:ext cx="843664" cy="8337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627" y="703927"/>
            <a:ext cx="11015604" cy="59468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85521" y="4778067"/>
            <a:ext cx="288290" cy="167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rgbClr val="59595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IN" smtClean="0"/>
              <a:pPr marL="108585">
                <a:spcBef>
                  <a:spcPts val="5"/>
                </a:spcBef>
              </a:pPr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BBBD7-F3ED-6F0F-7221-C75E59437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271"/>
            <a:ext cx="10515600" cy="56984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Issues in word Tokenization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3F525-53BB-AE45-AC64-38658D020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557" y="821636"/>
            <a:ext cx="11741426" cy="5917094"/>
          </a:xfrm>
        </p:spPr>
        <p:txBody>
          <a:bodyPr>
            <a:noAutofit/>
          </a:bodyPr>
          <a:lstStyle/>
          <a:p>
            <a:r>
              <a:rPr lang="en-US" sz="2400" b="1"/>
              <a:t>Finland’s -&gt; Finland </a:t>
            </a:r>
            <a:r>
              <a:rPr lang="en-US" sz="2400" b="1" err="1"/>
              <a:t>Finlands</a:t>
            </a:r>
            <a:r>
              <a:rPr lang="en-US" sz="2400" b="1"/>
              <a:t> Finland’s</a:t>
            </a:r>
          </a:p>
          <a:p>
            <a:r>
              <a:rPr lang="en-US" sz="2400" b="1"/>
              <a:t> What’re, I’m, shouldn’t-&gt;What are, I am, should not</a:t>
            </a:r>
          </a:p>
          <a:p>
            <a:r>
              <a:rPr lang="en-IN" sz="2400" b="1"/>
              <a:t>San Francisco-&gt; one or two tokens?</a:t>
            </a:r>
          </a:p>
          <a:p>
            <a:r>
              <a:rPr lang="en-IN" sz="2400" b="1"/>
              <a:t>Handling Hyphens-&gt;show-time, hand- delivered, five-to-six, co-,multi-,meta-</a:t>
            </a:r>
          </a:p>
          <a:p>
            <a:r>
              <a:rPr lang="en-IN" sz="2400" b="1"/>
              <a:t>Language specific issues-</a:t>
            </a:r>
          </a:p>
          <a:p>
            <a:pPr eaLnBrk="1" hangingPunct="1"/>
            <a:r>
              <a:rPr lang="en-US" sz="2400" b="1">
                <a:solidFill>
                  <a:srgbClr val="002060"/>
                </a:solidFill>
              </a:rPr>
              <a:t>French</a:t>
            </a:r>
          </a:p>
          <a:p>
            <a:pPr lvl="1" eaLnBrk="1" hangingPunct="1"/>
            <a:r>
              <a:rPr lang="en-US" b="1" i="1" err="1"/>
              <a:t>L'ensemble</a:t>
            </a:r>
            <a:r>
              <a:rPr lang="en-US" b="1"/>
              <a:t> </a:t>
            </a:r>
            <a:r>
              <a:rPr lang="en-US" b="1">
                <a:sym typeface="Symbol" charset="2"/>
              </a:rPr>
              <a:t> one token or two?</a:t>
            </a:r>
          </a:p>
          <a:p>
            <a:pPr lvl="2" eaLnBrk="1" hangingPunct="1"/>
            <a:r>
              <a:rPr lang="en-US" sz="2400" b="1" i="1">
                <a:sym typeface="Symbol" charset="2"/>
              </a:rPr>
              <a:t>L </a:t>
            </a:r>
            <a:r>
              <a:rPr lang="en-US" sz="2400" b="1">
                <a:sym typeface="Symbol" charset="2"/>
              </a:rPr>
              <a:t>? </a:t>
            </a:r>
            <a:r>
              <a:rPr lang="en-US" sz="2400" b="1" i="1">
                <a:sym typeface="Symbol" charset="2"/>
              </a:rPr>
              <a:t>L’ </a:t>
            </a:r>
            <a:r>
              <a:rPr lang="en-US" sz="2400" b="1">
                <a:sym typeface="Symbol" charset="2"/>
              </a:rPr>
              <a:t>? </a:t>
            </a:r>
            <a:r>
              <a:rPr lang="en-US" sz="2400" b="1" i="1">
                <a:sym typeface="Symbol" charset="2"/>
              </a:rPr>
              <a:t>Le </a:t>
            </a:r>
            <a:r>
              <a:rPr lang="en-US" sz="2400" b="1">
                <a:sym typeface="Symbol" charset="2"/>
              </a:rPr>
              <a:t>?</a:t>
            </a:r>
          </a:p>
          <a:p>
            <a:pPr lvl="2" eaLnBrk="1" hangingPunct="1"/>
            <a:r>
              <a:rPr lang="en-US" sz="2400" b="1">
                <a:sym typeface="Symbol" charset="2"/>
              </a:rPr>
              <a:t>Want </a:t>
            </a:r>
            <a:r>
              <a:rPr lang="en-US" sz="2400" b="1" i="1" err="1">
                <a:sym typeface="Symbol" charset="2"/>
              </a:rPr>
              <a:t>l’ensemble</a:t>
            </a:r>
            <a:r>
              <a:rPr lang="en-US" sz="2400" b="1">
                <a:sym typeface="Symbol" charset="2"/>
              </a:rPr>
              <a:t> to match with </a:t>
            </a:r>
            <a:r>
              <a:rPr lang="en-US" sz="2400" b="1" i="1">
                <a:sym typeface="Symbol" charset="2"/>
              </a:rPr>
              <a:t>un ensemble</a:t>
            </a:r>
          </a:p>
          <a:p>
            <a:pPr lvl="1" eaLnBrk="1" hangingPunct="1"/>
            <a:endParaRPr lang="en-US" b="1" i="1">
              <a:sym typeface="Symbol" charset="2"/>
            </a:endParaRPr>
          </a:p>
          <a:p>
            <a:pPr eaLnBrk="1" hangingPunct="1"/>
            <a:r>
              <a:rPr lang="en-US" sz="2400" b="1">
                <a:solidFill>
                  <a:srgbClr val="002060"/>
                </a:solidFill>
                <a:sym typeface="Symbol" charset="2"/>
              </a:rPr>
              <a:t>German</a:t>
            </a:r>
            <a:r>
              <a:rPr lang="en-US" sz="2400" b="1">
                <a:sym typeface="Symbol" charset="2"/>
              </a:rPr>
              <a:t> noun compounds are not segmented</a:t>
            </a:r>
          </a:p>
          <a:p>
            <a:pPr lvl="1" eaLnBrk="1" hangingPunct="1"/>
            <a:r>
              <a:rPr lang="en-US" b="1" i="1" err="1">
                <a:sym typeface="Symbol" charset="2"/>
              </a:rPr>
              <a:t>Lebensversicherungsgesellschaftsangestellter</a:t>
            </a:r>
            <a:endParaRPr lang="en-US" b="1" i="1">
              <a:sym typeface="Symbol" charset="2"/>
            </a:endParaRPr>
          </a:p>
          <a:p>
            <a:pPr lvl="1" eaLnBrk="1" hangingPunct="1"/>
            <a:r>
              <a:rPr lang="en-US" b="1">
                <a:sym typeface="Symbol" charset="2"/>
              </a:rPr>
              <a:t>‘life insurance company employee’</a:t>
            </a:r>
          </a:p>
          <a:p>
            <a:pPr lvl="1" eaLnBrk="1" hangingPunct="1"/>
            <a:r>
              <a:rPr lang="en-US" b="1">
                <a:sym typeface="Symbol" charset="2"/>
              </a:rPr>
              <a:t>German information retrieval needs compound splitter</a:t>
            </a:r>
          </a:p>
          <a:p>
            <a:endParaRPr lang="en-IN" sz="2400" b="1"/>
          </a:p>
          <a:p>
            <a:pPr marL="0" indent="0">
              <a:buNone/>
            </a:pP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3438397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23E0DA-B668-E82E-6878-EFC4DE4A9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" y="309770"/>
            <a:ext cx="11477211" cy="2209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CB8B3C-D875-01B0-32AB-53726FAE8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709862"/>
            <a:ext cx="11171583" cy="1438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782F59-6497-0005-3DA3-B05F72776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83" y="4510707"/>
            <a:ext cx="115824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33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6F171-48D6-17C0-F964-B83CF4CDF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0574"/>
            <a:ext cx="10515600" cy="5726389"/>
          </a:xfrm>
        </p:spPr>
        <p:txBody>
          <a:bodyPr/>
          <a:lstStyle/>
          <a:p>
            <a:r>
              <a:rPr lang="en-US" b="1"/>
              <a:t>Sanskrit</a:t>
            </a:r>
          </a:p>
          <a:p>
            <a:pPr marL="0" indent="0">
              <a:buNone/>
            </a:pPr>
            <a:endParaRPr lang="en-IN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B87DD-0B25-9F24-E8B2-A9044E13E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56" y="1044127"/>
            <a:ext cx="11807687" cy="35551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BF40A5-063C-7C45-3179-EAF0BB982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" y="4842323"/>
            <a:ext cx="1212532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440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D311-DF76-BE71-F6A3-F11BAF36B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Longest word </a:t>
            </a:r>
            <a:br>
              <a:rPr lang="en-IN" b="1">
                <a:solidFill>
                  <a:srgbClr val="C00000"/>
                </a:solidFill>
              </a:rPr>
            </a:br>
            <a:r>
              <a:rPr lang="en-IN" b="1">
                <a:solidFill>
                  <a:srgbClr val="C00000"/>
                </a:solidFill>
              </a:rPr>
              <a:t>Source (Wikipedia)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C8AF3-36D0-F6AA-FEE8-348C04953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9BB467-1691-C3D6-DC0D-B4693BC38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20" y="1339297"/>
            <a:ext cx="11456298" cy="483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416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EDBE3-6BF8-3F6F-7798-532BE71A4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Text Normalization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4DE37-6E14-6153-7160-4BDCE3CC0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3200" b="1"/>
              <a:t>A single word can be written in multiple ways.</a:t>
            </a:r>
          </a:p>
          <a:p>
            <a:pPr>
              <a:lnSpc>
                <a:spcPct val="90000"/>
              </a:lnSpc>
            </a:pPr>
            <a:r>
              <a:rPr lang="en-US" sz="3200" b="1"/>
              <a:t>Every NLP task needs to do text normalization: 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800" b="1"/>
              <a:t>Segmenting/tokenizing words in running text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800" b="1"/>
              <a:t>Normalizing word formats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800" b="1"/>
              <a:t>Segmenting sentences in running text</a:t>
            </a:r>
            <a:endParaRPr lang="en-US" sz="3200" b="1"/>
          </a:p>
          <a:p>
            <a:pPr lvl="1">
              <a:lnSpc>
                <a:spcPct val="90000"/>
              </a:lnSpc>
              <a:buFont typeface="Wingdings" charset="2"/>
              <a:buNone/>
            </a:pPr>
            <a:endParaRPr lang="en-US" sz="2000" b="1">
              <a:latin typeface="Courier" charset="0"/>
            </a:endParaRPr>
          </a:p>
          <a:p>
            <a:pPr>
              <a:lnSpc>
                <a:spcPct val="90000"/>
              </a:lnSpc>
            </a:pPr>
            <a:endParaRPr lang="en-US" sz="1800" b="1">
              <a:latin typeface="Courier" charset="0"/>
            </a:endParaRPr>
          </a:p>
          <a:p>
            <a:pPr>
              <a:lnSpc>
                <a:spcPct val="90000"/>
              </a:lnSpc>
            </a:pPr>
            <a:endParaRPr lang="en-US" sz="1800" b="1"/>
          </a:p>
          <a:p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1834579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EF590-1835-90D0-E81C-B2D128E34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0504"/>
            <a:ext cx="10515600" cy="801066"/>
          </a:xfrm>
        </p:spPr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Normalization 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0C25E-B939-F7E3-6DD2-E86526C08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81570"/>
            <a:ext cx="12085983" cy="5095393"/>
          </a:xfrm>
        </p:spPr>
        <p:txBody>
          <a:bodyPr/>
          <a:lstStyle/>
          <a:p>
            <a:r>
              <a:rPr lang="en-US" b="1"/>
              <a:t>Need to “normalize” terms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/>
              <a:t>  Information retrieval : indexed text and query terms must have same form.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/>
              <a:t>  We want to match U.S.A and USA</a:t>
            </a:r>
          </a:p>
          <a:p>
            <a:r>
              <a:rPr lang="en-US" b="1"/>
              <a:t>We implicitly define equivalence classes of terms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/>
              <a:t>Example: deleting periods in a term like U.S.A to USA</a:t>
            </a:r>
          </a:p>
          <a:p>
            <a:r>
              <a:rPr lang="en-US" b="1"/>
              <a:t>Alternative: asymmetric expansion: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/>
              <a:t> Enter: window                Search: window, windows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/>
              <a:t>Enter : windows              Search: Windows, windows, window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/>
              <a:t>Enter : Windows             Search : Windows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11398725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34CE3-62F9-CECE-9A10-8F511CBF8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Case folding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13B87-C3EF-E7AF-60CE-308D79D24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/>
              <a:t>For applications like IR: reduce all letters to lower case</a:t>
            </a:r>
          </a:p>
          <a:p>
            <a:pPr marL="0" indent="0">
              <a:buNone/>
            </a:pPr>
            <a:r>
              <a:rPr lang="en-IN" b="1"/>
              <a:t>	Since users tend to use lower case</a:t>
            </a:r>
          </a:p>
          <a:p>
            <a:r>
              <a:rPr lang="en-IN" b="1"/>
              <a:t>Possible exception: upper case in mid-sentence?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b="1"/>
              <a:t>E.g. General Motors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b="1"/>
              <a:t>Fed vs fed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b="1"/>
              <a:t>SAIL vs sail</a:t>
            </a:r>
          </a:p>
          <a:p>
            <a:r>
              <a:rPr lang="en-IN" b="1"/>
              <a:t>For sentiment analysis, MT, information extraction</a:t>
            </a:r>
          </a:p>
          <a:p>
            <a:pPr marL="0" indent="0">
              <a:buNone/>
            </a:pPr>
            <a:r>
              <a:rPr lang="en-IN" b="1"/>
              <a:t>	Case is helpful (US vs us is important)</a:t>
            </a:r>
          </a:p>
        </p:txBody>
      </p:sp>
    </p:spTree>
    <p:extLst>
      <p:ext uri="{BB962C8B-B14F-4D97-AF65-F5344CB8AC3E}">
        <p14:creationId xmlns:p14="http://schemas.microsoft.com/office/powerpoint/2010/main" val="14772710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DFF3-FD7D-5E06-9478-8BDADBF25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Stemming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BEE28-1BCD-EF92-FD2F-2B87A828A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/>
              <a:t>Reduce terms to their stems </a:t>
            </a:r>
          </a:p>
          <a:p>
            <a:r>
              <a:rPr lang="en-IN" b="1"/>
              <a:t>Stemming is crude chopping of affixes</a:t>
            </a:r>
          </a:p>
          <a:p>
            <a:pPr marL="0" indent="0">
              <a:buNone/>
            </a:pPr>
            <a:r>
              <a:rPr lang="en-IN" b="1"/>
              <a:t>e.g. automate(s), automatic, automation all reduced to automat</a:t>
            </a:r>
          </a:p>
        </p:txBody>
      </p:sp>
    </p:spTree>
    <p:extLst>
      <p:ext uri="{BB962C8B-B14F-4D97-AF65-F5344CB8AC3E}">
        <p14:creationId xmlns:p14="http://schemas.microsoft.com/office/powerpoint/2010/main" val="1603082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1142A-26AC-DDA3-B0E6-B11B9CE53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POS tags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52849-2EC2-83EE-65D9-D77D6A518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/>
              <a:t>The significance of parts-of-speech (also known as POS, word classes, morphological classes, or lexical tags) for language processing is the large amount of information they give about a word and its neighbors.</a:t>
            </a:r>
          </a:p>
          <a:p>
            <a:pPr algn="just"/>
            <a:r>
              <a:rPr lang="en-US" b="1"/>
              <a:t>Eight parts-of-speech: noun, verb, pronoun, preposition, adverb, conjunction, participle, and articles.</a:t>
            </a:r>
          </a:p>
          <a:p>
            <a:pPr algn="just"/>
            <a:r>
              <a:rPr lang="en-US" b="1"/>
              <a:t>More recent lists of parts-of-speech (or </a:t>
            </a:r>
            <a:r>
              <a:rPr lang="en-US" b="1" err="1"/>
              <a:t>tagsets</a:t>
            </a:r>
            <a:r>
              <a:rPr lang="en-US" b="1"/>
              <a:t>) have many more word classes; 45 for the Penn Treebank (Marcus et al., 1993), 87 for the Brown corpus (Francis, 1979; Francis and Kucera, 1982), and 146 for the C7 </a:t>
            </a:r>
            <a:r>
              <a:rPr lang="en-US" b="1" err="1"/>
              <a:t>tagset</a:t>
            </a:r>
            <a:r>
              <a:rPr lang="en-US" b="1"/>
              <a:t> (Garside et al., 1997). </a:t>
            </a:r>
            <a:endParaRPr lang="en-IN" b="1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7317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C286A-FB4A-079D-71A8-C2F0FE559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Lemmatization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5907A-BF80-6431-55BB-5F9C64A35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/>
              <a:t>Reduces inflections or variant forms to base form</a:t>
            </a:r>
          </a:p>
          <a:p>
            <a:r>
              <a:rPr lang="en-IN" b="1"/>
              <a:t>Am, are, is-&gt; be</a:t>
            </a:r>
          </a:p>
          <a:p>
            <a:r>
              <a:rPr lang="en-IN" b="1"/>
              <a:t>Car, cars, car’s, cars’-&gt; car</a:t>
            </a:r>
          </a:p>
          <a:p>
            <a:r>
              <a:rPr lang="en-IN" b="1"/>
              <a:t>The boy’s cars are different colours-&gt; the boy car be different colour</a:t>
            </a:r>
          </a:p>
          <a:p>
            <a:r>
              <a:rPr lang="en-IN" b="1"/>
              <a:t>Lemmatization : have to find correct dictionary headword form</a:t>
            </a:r>
          </a:p>
          <a:p>
            <a:r>
              <a:rPr lang="en-IN" b="1"/>
              <a:t>Machine translation </a:t>
            </a:r>
          </a:p>
          <a:p>
            <a:pPr marL="0" indent="0">
              <a:buNone/>
            </a:pPr>
            <a:r>
              <a:rPr lang="en-IN" b="1"/>
              <a:t> Spanish </a:t>
            </a:r>
            <a:r>
              <a:rPr lang="en-IN" b="1" err="1"/>
              <a:t>quiero</a:t>
            </a:r>
            <a:r>
              <a:rPr lang="en-IN" b="1"/>
              <a:t>(‘I want’), </a:t>
            </a:r>
            <a:r>
              <a:rPr lang="en-IN" b="1" err="1"/>
              <a:t>quieres</a:t>
            </a:r>
            <a:r>
              <a:rPr lang="en-IN" b="1"/>
              <a:t>(‘you want’) same lemma as </a:t>
            </a:r>
            <a:r>
              <a:rPr lang="en-IN" b="1" err="1"/>
              <a:t>querer</a:t>
            </a:r>
            <a:r>
              <a:rPr lang="en-IN" b="1"/>
              <a:t> ‘want’</a:t>
            </a:r>
          </a:p>
          <a:p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11886511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D8744-AFCF-5363-0F04-FF9231D64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161A2-47FB-D7A9-2EF0-2B55413CB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9238AB-34C9-26E7-F95C-9846014D8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09" y="365126"/>
            <a:ext cx="11489633" cy="634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3406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0C17-3878-A7BA-3048-C9D216ABB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260"/>
            <a:ext cx="10515600" cy="721553"/>
          </a:xfrm>
        </p:spPr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Identifying of stop words 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43A56-3949-1C65-9B27-215C1383F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" y="1041812"/>
            <a:ext cx="11688418" cy="5495927"/>
          </a:xfrm>
        </p:spPr>
        <p:txBody>
          <a:bodyPr/>
          <a:lstStyle/>
          <a:p>
            <a:pPr algn="just"/>
            <a:r>
              <a:rPr lang="en-US" b="1"/>
              <a:t>Stop words are the commonly used words and are removed from the text as they do not add any value to the analysis. </a:t>
            </a:r>
          </a:p>
          <a:p>
            <a:pPr algn="just"/>
            <a:r>
              <a:rPr lang="en-US" b="1"/>
              <a:t>These words carry less or no meaning. </a:t>
            </a:r>
          </a:p>
          <a:p>
            <a:pPr algn="just"/>
            <a:r>
              <a:rPr lang="en-US" b="1"/>
              <a:t>NLTK library consists of a list of words that are considered stop words for the English language. Some of them are : [</a:t>
            </a:r>
            <a:r>
              <a:rPr lang="en-US" b="1" err="1"/>
              <a:t>i</a:t>
            </a:r>
            <a:r>
              <a:rPr lang="en-US" b="1"/>
              <a:t>, me, my, myself, we, our, ours, ourselves, you, you’re, you’ve, you’ll, you’d, your, yours, yourself, yourselves, he, most, other, some, such, no, nor, not, only, own, same, so, then, too, very, s, t, can, will, just, don, don’t, should, should’ve, now, </a:t>
            </a:r>
            <a:r>
              <a:rPr lang="en-US" b="1" err="1"/>
              <a:t>d,m</a:t>
            </a:r>
            <a:r>
              <a:rPr lang="en-US" b="1"/>
              <a:t>, o, re, y, aren’t, could, couldn’t, didn’t, didn’t] </a:t>
            </a:r>
          </a:p>
          <a:p>
            <a:pPr algn="just"/>
            <a:r>
              <a:rPr lang="en-US" b="1"/>
              <a:t>But it is not necessary to use the provided list as stop words as they should be chosen wisely based on the project.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41589531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BD575-C7CE-3021-FA83-1809179E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Filtering 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378BA-E4B5-F102-4DC8-572A4811D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/>
              <a:t>When we know what stop words are, we can use them to filter out from a given sentence.</a:t>
            </a:r>
          </a:p>
          <a:p>
            <a:pPr algn="just"/>
            <a:r>
              <a:rPr lang="en-US" b="1"/>
              <a:t>Filtering is the process of removing stop words or any unnecessary data from the sentence.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3320703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25692-4F3D-14AE-C4F3-44F287967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839"/>
            <a:ext cx="10515600" cy="6420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Dependency parsing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A38CF-6267-1316-CA72-6E5270CE7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304" y="781879"/>
            <a:ext cx="11860696" cy="5395084"/>
          </a:xfrm>
        </p:spPr>
        <p:txBody>
          <a:bodyPr/>
          <a:lstStyle/>
          <a:p>
            <a:pPr algn="just"/>
            <a:r>
              <a:rPr lang="en-US" b="1">
                <a:solidFill>
                  <a:srgbClr val="222222"/>
                </a:solidFill>
              </a:rPr>
              <a:t>T</a:t>
            </a:r>
            <a:r>
              <a:rPr lang="en-US" b="1" i="0">
                <a:solidFill>
                  <a:srgbClr val="222222"/>
                </a:solidFill>
                <a:effectLst/>
              </a:rPr>
              <a:t>he term Dependency Parsing (DP) refers to the process of examining the dependencies between the phrases of a sentence in order to determine its grammatical structure. A sentence is divided into many sections based mostly on this. The process is based on the assumption that there is a direct relationship between each linguistic unit in a sentence. These hyperlinks are called dependencies.</a:t>
            </a:r>
          </a:p>
          <a:p>
            <a:pPr algn="just"/>
            <a:r>
              <a:rPr lang="en-US" b="1" i="0">
                <a:solidFill>
                  <a:srgbClr val="222222"/>
                </a:solidFill>
                <a:effectLst/>
              </a:rPr>
              <a:t>Consider the following statement: “I prefer the morning flight through Denver.”</a:t>
            </a:r>
          </a:p>
          <a:p>
            <a:pPr algn="just"/>
            <a:endParaRPr lang="en-IN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D65111-7BDD-ED32-6134-1A6B14315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364" y="3598101"/>
            <a:ext cx="7648575" cy="312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650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B2634-4282-AFE0-060C-9D1B9905F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3826"/>
            <a:ext cx="10515600" cy="6109252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b="1" u="sng"/>
              <a:t>Noun phrases</a:t>
            </a:r>
          </a:p>
          <a:p>
            <a:pPr marL="0" indent="0" algn="just">
              <a:buNone/>
            </a:pPr>
            <a:r>
              <a:rPr lang="en-US" b="1"/>
              <a:t>An </a:t>
            </a:r>
            <a:r>
              <a:rPr lang="en-US" b="1" u="sng"/>
              <a:t>English</a:t>
            </a:r>
            <a:r>
              <a:rPr lang="en-US" b="1"/>
              <a:t> noun phrase can have determiners, numbers, quantifiers, and adjective phrases preceding the head noun, which can be followed by a number of postmodifiers.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b="1" u="sng"/>
              <a:t>Named Entity Recognition (NER)</a:t>
            </a:r>
          </a:p>
          <a:p>
            <a:pPr marL="0" indent="0" algn="just">
              <a:buNone/>
            </a:pPr>
            <a:r>
              <a:rPr lang="en-US" b="1"/>
              <a:t>Named Entity Recognition (NER) involves identifying entities such as places, names, objects.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b="1" u="sng"/>
              <a:t>Coreference resolution</a:t>
            </a:r>
          </a:p>
          <a:p>
            <a:pPr marL="0" indent="0" algn="just">
              <a:buNone/>
            </a:pPr>
            <a:r>
              <a:rPr lang="en-US" b="1"/>
              <a:t>Coreference resolution tries to resolve pronouns (</a:t>
            </a:r>
            <a:r>
              <a:rPr lang="en-US" b="1" err="1"/>
              <a:t>he,they</a:t>
            </a:r>
            <a:r>
              <a:rPr lang="en-US" b="1"/>
              <a:t> </a:t>
            </a:r>
            <a:r>
              <a:rPr lang="en-US" b="1" err="1"/>
              <a:t>etc</a:t>
            </a:r>
            <a:r>
              <a:rPr lang="en-US" b="1"/>
              <a:t>) to the correct entities.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23238382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E0C63-D941-7EA4-68A9-E9A209740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925"/>
            <a:ext cx="10515600" cy="56211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Chunking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237AEE-A441-0452-7CB5-402CB7EEC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61" y="681036"/>
            <a:ext cx="11423374" cy="5495928"/>
          </a:xfrm>
        </p:spPr>
        <p:txBody>
          <a:bodyPr>
            <a:normAutofit/>
          </a:bodyPr>
          <a:lstStyle/>
          <a:p>
            <a:pPr algn="just"/>
            <a:r>
              <a:rPr lang="en-US" sz="2400" b="1"/>
              <a:t>Chunking is the process of identifying and classifying the flat, non-overlapping segments of a sentence that constitute the basic non- recursive phrases corresponding to the major parts of speech found in most wide coverage grammars.</a:t>
            </a:r>
            <a:endParaRPr lang="en-IN" sz="24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D6965E-2DBA-EB35-CCCC-B037140D4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8462"/>
            <a:ext cx="6096000" cy="3486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AC73C8-0C51-0C6A-AEE6-4DFD1EF2F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18462"/>
            <a:ext cx="6096000" cy="359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792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C66900-3C53-7D25-8FB0-22F94EDC7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9" y="2888974"/>
            <a:ext cx="5565913" cy="35268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E5A83E-EAEA-6A99-46DE-72F5F7717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88" y="662608"/>
            <a:ext cx="6543675" cy="286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68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3BA981D0-DBF3-8931-FE70-57D3D0C99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44299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b="1">
                <a:solidFill>
                  <a:srgbClr val="C00000"/>
                </a:solidFill>
              </a:rPr>
              <a:t>Morphology </a:t>
            </a:r>
          </a:p>
        </p:txBody>
      </p:sp>
    </p:spTree>
    <p:extLst>
      <p:ext uri="{BB962C8B-B14F-4D97-AF65-F5344CB8AC3E}">
        <p14:creationId xmlns:p14="http://schemas.microsoft.com/office/powerpoint/2010/main" val="22172764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3F1D6-9AD8-0E5B-524A-94FAB8753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Morphology 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94F40-2558-3F72-822E-712EE7DE1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530"/>
            <a:ext cx="10515600" cy="5158345"/>
          </a:xfrm>
        </p:spPr>
        <p:txBody>
          <a:bodyPr/>
          <a:lstStyle/>
          <a:p>
            <a:r>
              <a:rPr lang="en-US" b="1"/>
              <a:t>Morphology studies the internal structure of words, how words are built up from smaller meaningful units called morphemes.</a:t>
            </a:r>
          </a:p>
          <a:p>
            <a:pPr marL="0" indent="0">
              <a:buNone/>
            </a:pPr>
            <a:r>
              <a:rPr lang="en-US" b="1"/>
              <a:t> </a:t>
            </a:r>
          </a:p>
          <a:p>
            <a:pPr marL="0" indent="0">
              <a:buNone/>
            </a:pPr>
            <a:r>
              <a:rPr lang="en-US" b="1"/>
              <a:t>cats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/>
              <a:t>      2 morphemes , cat and 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/>
              <a:t>      ‘s’ is a plural marker on nouns</a:t>
            </a:r>
          </a:p>
          <a:p>
            <a:pPr marL="0" indent="0">
              <a:buNone/>
            </a:pPr>
            <a:r>
              <a:rPr lang="en-IN" b="1"/>
              <a:t> unladylike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/>
              <a:t>      3 morphemes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/>
              <a:t>      un-’not’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/>
              <a:t>      lady ‘well- behaved woman’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/>
              <a:t>       - like  ‘ having the characteristic of’ </a:t>
            </a:r>
          </a:p>
        </p:txBody>
      </p:sp>
    </p:spTree>
    <p:extLst>
      <p:ext uri="{BB962C8B-B14F-4D97-AF65-F5344CB8AC3E}">
        <p14:creationId xmlns:p14="http://schemas.microsoft.com/office/powerpoint/2010/main" val="37250500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5904" y="121662"/>
            <a:ext cx="2193713" cy="51296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pc="7"/>
              <a:t>Morphology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5904" y="1297559"/>
            <a:ext cx="11210713" cy="4369872"/>
          </a:xfrm>
          <a:prstGeom prst="rect">
            <a:avLst/>
          </a:prstGeom>
        </p:spPr>
        <p:txBody>
          <a:bodyPr vert="horz" wrap="square" lIns="0" tIns="49107" rIns="0" bIns="0" rtlCol="0">
            <a:spAutoFit/>
          </a:bodyPr>
          <a:lstStyle/>
          <a:p>
            <a:pPr marL="547780" marR="6773" indent="-531693" defTabSz="1219170">
              <a:lnSpc>
                <a:spcPts val="3373"/>
              </a:lnSpc>
              <a:spcBef>
                <a:spcPts val="387"/>
              </a:spcBef>
              <a:buFont typeface="Arial MT"/>
              <a:buChar char="●"/>
              <a:tabLst>
                <a:tab pos="547780" algn="l"/>
                <a:tab pos="548626" algn="l"/>
              </a:tabLst>
            </a:pPr>
            <a:r>
              <a:rPr sz="2800">
                <a:solidFill>
                  <a:prstClr val="black"/>
                </a:solidFill>
                <a:cs typeface="Times New Roman"/>
              </a:rPr>
              <a:t>Morphology</a:t>
            </a:r>
            <a:r>
              <a:rPr sz="2800" spc="305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is</a:t>
            </a:r>
            <a:r>
              <a:rPr sz="2800" spc="305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the</a:t>
            </a:r>
            <a:r>
              <a:rPr sz="2800" spc="305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study</a:t>
            </a:r>
            <a:r>
              <a:rPr sz="2800" spc="313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of</a:t>
            </a:r>
            <a:r>
              <a:rPr sz="2800" spc="305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the</a:t>
            </a:r>
            <a:r>
              <a:rPr sz="2800" spc="305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way</a:t>
            </a:r>
            <a:r>
              <a:rPr sz="2800" spc="313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words</a:t>
            </a:r>
            <a:r>
              <a:rPr sz="2800" spc="305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are</a:t>
            </a:r>
            <a:r>
              <a:rPr sz="2800" spc="305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built</a:t>
            </a:r>
            <a:r>
              <a:rPr sz="2800" spc="305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up</a:t>
            </a:r>
            <a:r>
              <a:rPr sz="2800" spc="313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from</a:t>
            </a:r>
            <a:r>
              <a:rPr sz="2800" spc="305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smaller </a:t>
            </a:r>
            <a:r>
              <a:rPr sz="2800" spc="-713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meaning-bearing</a:t>
            </a:r>
            <a:r>
              <a:rPr sz="2800" spc="-7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units</a:t>
            </a:r>
            <a:r>
              <a:rPr sz="2800">
                <a:solidFill>
                  <a:prstClr val="black"/>
                </a:solidFill>
                <a:cs typeface="Times New Roman"/>
              </a:rPr>
              <a:t> called morphemes.</a:t>
            </a:r>
          </a:p>
          <a:p>
            <a:pPr marL="547780" indent="-531693" defTabSz="1219170">
              <a:lnSpc>
                <a:spcPts val="3193"/>
              </a:lnSpc>
              <a:buFont typeface="Arial MT"/>
              <a:buChar char="●"/>
              <a:tabLst>
                <a:tab pos="547780" algn="l"/>
                <a:tab pos="548626" algn="l"/>
              </a:tabLst>
            </a:pPr>
            <a:r>
              <a:rPr sz="2800" spc="-60">
                <a:solidFill>
                  <a:prstClr val="black"/>
                </a:solidFill>
                <a:cs typeface="Times New Roman"/>
              </a:rPr>
              <a:t>Two</a:t>
            </a:r>
            <a:r>
              <a:rPr sz="2800" spc="-7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broad</a:t>
            </a:r>
            <a:r>
              <a:rPr sz="2800">
                <a:solidFill>
                  <a:prstClr val="black"/>
                </a:solidFill>
                <a:cs typeface="Times New Roman"/>
              </a:rPr>
              <a:t> classes</a:t>
            </a:r>
            <a:r>
              <a:rPr sz="2800" spc="-7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of</a:t>
            </a:r>
            <a:r>
              <a:rPr sz="2800">
                <a:solidFill>
                  <a:prstClr val="black"/>
                </a:solidFill>
                <a:cs typeface="Times New Roman"/>
              </a:rPr>
              <a:t> morphemes can</a:t>
            </a:r>
            <a:r>
              <a:rPr sz="2800" spc="-7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be</a:t>
            </a:r>
            <a:r>
              <a:rPr sz="2800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distinguished:</a:t>
            </a:r>
            <a:endParaRPr sz="2800">
              <a:solidFill>
                <a:prstClr val="black"/>
              </a:solidFill>
              <a:cs typeface="Times New Roman"/>
            </a:endParaRPr>
          </a:p>
          <a:p>
            <a:pPr marL="1157363" marR="53339" lvl="1" indent="-586725" defTabSz="1219170">
              <a:lnSpc>
                <a:spcPts val="3373"/>
              </a:lnSpc>
              <a:spcBef>
                <a:spcPts val="160"/>
              </a:spcBef>
              <a:buFont typeface="Times New Roman"/>
              <a:buAutoNum type="arabicPeriod"/>
              <a:tabLst>
                <a:tab pos="1157363" algn="l"/>
                <a:tab pos="1158211" algn="l"/>
              </a:tabLst>
            </a:pPr>
            <a:r>
              <a:rPr sz="2800" b="1">
                <a:solidFill>
                  <a:prstClr val="black"/>
                </a:solidFill>
                <a:cs typeface="Times New Roman"/>
              </a:rPr>
              <a:t>Stems:</a:t>
            </a:r>
            <a:r>
              <a:rPr sz="2800" b="1" spc="593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the</a:t>
            </a:r>
            <a:r>
              <a:rPr sz="2800" spc="593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central</a:t>
            </a:r>
            <a:r>
              <a:rPr sz="2800" spc="587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morpheme</a:t>
            </a:r>
            <a:r>
              <a:rPr sz="2800" spc="593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of</a:t>
            </a:r>
            <a:r>
              <a:rPr sz="2800" spc="600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the</a:t>
            </a:r>
            <a:r>
              <a:rPr sz="2800" spc="587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word,</a:t>
            </a:r>
            <a:r>
              <a:rPr sz="2800" spc="600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supplying</a:t>
            </a:r>
            <a:r>
              <a:rPr sz="2800" spc="600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the</a:t>
            </a:r>
            <a:r>
              <a:rPr sz="2800" spc="587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main </a:t>
            </a:r>
            <a:r>
              <a:rPr sz="2800" spc="-713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meaning</a:t>
            </a:r>
          </a:p>
          <a:p>
            <a:pPr marL="1157363" lvl="1" indent="-586725" defTabSz="1219170">
              <a:lnSpc>
                <a:spcPts val="3193"/>
              </a:lnSpc>
              <a:buFont typeface="Times New Roman"/>
              <a:buAutoNum type="arabicPeriod"/>
              <a:tabLst>
                <a:tab pos="1157363" algn="l"/>
                <a:tab pos="1158211" algn="l"/>
              </a:tabLst>
            </a:pPr>
            <a:r>
              <a:rPr sz="2800" b="1">
                <a:solidFill>
                  <a:prstClr val="black"/>
                </a:solidFill>
                <a:cs typeface="Times New Roman"/>
              </a:rPr>
              <a:t>Affixes </a:t>
            </a:r>
            <a:r>
              <a:rPr sz="2800">
                <a:solidFill>
                  <a:prstClr val="black"/>
                </a:solidFill>
                <a:cs typeface="Times New Roman"/>
              </a:rPr>
              <a:t>: adding “additional”meanings</a:t>
            </a:r>
            <a:r>
              <a:rPr sz="2800" spc="-7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of</a:t>
            </a:r>
            <a:r>
              <a:rPr sz="2800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various</a:t>
            </a:r>
            <a:r>
              <a:rPr sz="2800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kinds.</a:t>
            </a:r>
            <a:endParaRPr sz="2800">
              <a:solidFill>
                <a:prstClr val="black"/>
              </a:solidFill>
              <a:cs typeface="Times New Roman"/>
            </a:endParaRPr>
          </a:p>
          <a:p>
            <a:pPr marL="547780" marR="16086" indent="-531693" defTabSz="1219170">
              <a:lnSpc>
                <a:spcPts val="3373"/>
              </a:lnSpc>
              <a:spcBef>
                <a:spcPts val="152"/>
              </a:spcBef>
              <a:buFont typeface="Arial MT"/>
              <a:buChar char="●"/>
              <a:tabLst>
                <a:tab pos="547780" algn="l"/>
                <a:tab pos="548626" algn="l"/>
              </a:tabLst>
            </a:pPr>
            <a:r>
              <a:rPr sz="2800">
                <a:solidFill>
                  <a:prstClr val="black"/>
                </a:solidFill>
                <a:cs typeface="Times New Roman"/>
              </a:rPr>
              <a:t>e.g</a:t>
            </a:r>
            <a:r>
              <a:rPr sz="2800" spc="320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the</a:t>
            </a:r>
            <a:r>
              <a:rPr sz="2800" spc="327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word</a:t>
            </a:r>
            <a:r>
              <a:rPr sz="2800" spc="320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fox</a:t>
            </a:r>
            <a:r>
              <a:rPr sz="2800" spc="333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consists</a:t>
            </a:r>
            <a:r>
              <a:rPr sz="2800" spc="320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of</a:t>
            </a:r>
            <a:r>
              <a:rPr sz="2800" spc="333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one</a:t>
            </a:r>
            <a:r>
              <a:rPr sz="2800" spc="333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morpheme</a:t>
            </a:r>
            <a:r>
              <a:rPr sz="2800" spc="320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(the</a:t>
            </a:r>
            <a:r>
              <a:rPr sz="2800" spc="333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morpheme</a:t>
            </a:r>
            <a:r>
              <a:rPr sz="2800" spc="320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fox)</a:t>
            </a:r>
            <a:r>
              <a:rPr sz="2800" spc="333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and </a:t>
            </a:r>
            <a:r>
              <a:rPr sz="2800" spc="-713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the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word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cats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consists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 of </a:t>
            </a:r>
            <a:r>
              <a:rPr sz="2800">
                <a:solidFill>
                  <a:prstClr val="black"/>
                </a:solidFill>
                <a:cs typeface="Times New Roman"/>
              </a:rPr>
              <a:t>two: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the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morpheme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cat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and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the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morpheme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-s.</a:t>
            </a:r>
          </a:p>
          <a:p>
            <a:pPr marL="547780" indent="-531693" defTabSz="1219170">
              <a:lnSpc>
                <a:spcPts val="3193"/>
              </a:lnSpc>
              <a:buFont typeface="Arial MT"/>
              <a:buChar char="●"/>
              <a:tabLst>
                <a:tab pos="547780" algn="l"/>
                <a:tab pos="548626" algn="l"/>
              </a:tabLst>
            </a:pPr>
            <a:r>
              <a:rPr sz="2800" spc="13">
                <a:solidFill>
                  <a:prstClr val="black"/>
                </a:solidFill>
                <a:cs typeface="Times New Roman"/>
              </a:rPr>
              <a:t>A</a:t>
            </a:r>
            <a:r>
              <a:rPr sz="2800" spc="220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morphological</a:t>
            </a:r>
            <a:r>
              <a:rPr sz="2800" spc="373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parser</a:t>
            </a:r>
            <a:r>
              <a:rPr sz="2800" spc="380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takes</a:t>
            </a:r>
            <a:r>
              <a:rPr sz="2800" spc="373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a</a:t>
            </a:r>
            <a:r>
              <a:rPr sz="2800" spc="380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word</a:t>
            </a:r>
            <a:r>
              <a:rPr sz="2800" spc="380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like</a:t>
            </a:r>
            <a:r>
              <a:rPr sz="2800" spc="373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cats</a:t>
            </a:r>
            <a:r>
              <a:rPr sz="2800" spc="373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and</a:t>
            </a:r>
            <a:r>
              <a:rPr sz="2800" spc="373">
                <a:solidFill>
                  <a:prstClr val="black"/>
                </a:solidFill>
                <a:cs typeface="Times New Roman"/>
              </a:rPr>
              <a:t> </a:t>
            </a:r>
            <a:r>
              <a:rPr sz="2800" spc="7">
                <a:solidFill>
                  <a:prstClr val="black"/>
                </a:solidFill>
                <a:cs typeface="Times New Roman"/>
              </a:rPr>
              <a:t>parses</a:t>
            </a:r>
            <a:r>
              <a:rPr sz="2800" spc="387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it</a:t>
            </a:r>
            <a:r>
              <a:rPr sz="2800" spc="373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into</a:t>
            </a:r>
            <a:r>
              <a:rPr sz="2800" spc="373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the</a:t>
            </a:r>
          </a:p>
          <a:p>
            <a:pPr marL="547780" defTabSz="1219170">
              <a:lnSpc>
                <a:spcPts val="3447"/>
              </a:lnSpc>
            </a:pPr>
            <a:r>
              <a:rPr sz="2800">
                <a:solidFill>
                  <a:prstClr val="black"/>
                </a:solidFill>
                <a:cs typeface="Times New Roman"/>
              </a:rPr>
              <a:t>two</a:t>
            </a:r>
            <a:r>
              <a:rPr sz="2800" spc="-13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morphemes</a:t>
            </a:r>
            <a:r>
              <a:rPr sz="2800" spc="-7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cat</a:t>
            </a:r>
            <a:r>
              <a:rPr sz="2800" spc="-7">
                <a:solidFill>
                  <a:prstClr val="black"/>
                </a:solidFill>
                <a:cs typeface="Times New Roman"/>
              </a:rPr>
              <a:t> </a:t>
            </a:r>
            <a:r>
              <a:rPr sz="2800">
                <a:solidFill>
                  <a:prstClr val="black"/>
                </a:solidFill>
                <a:cs typeface="Times New Roman"/>
              </a:rPr>
              <a:t>and</a:t>
            </a:r>
            <a:r>
              <a:rPr sz="2800" spc="-7">
                <a:solidFill>
                  <a:prstClr val="black"/>
                </a:solidFill>
                <a:cs typeface="Times New Roman"/>
              </a:rPr>
              <a:t> s.</a:t>
            </a:r>
            <a:endParaRPr sz="2800">
              <a:solidFill>
                <a:prstClr val="black"/>
              </a:solidFill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2967" y="0"/>
            <a:ext cx="2211493" cy="51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933">
              <a:spcBef>
                <a:spcPts val="120"/>
              </a:spcBef>
            </a:pPr>
            <a:r>
              <a:rPr sz="3267" spc="-20"/>
              <a:t>Morphology</a:t>
            </a:r>
            <a:endParaRPr sz="3267"/>
          </a:p>
        </p:txBody>
      </p:sp>
      <p:sp>
        <p:nvSpPr>
          <p:cNvPr id="5" name="object 5"/>
          <p:cNvSpPr txBox="1"/>
          <p:nvPr/>
        </p:nvSpPr>
        <p:spPr>
          <a:xfrm>
            <a:off x="512967" y="639717"/>
            <a:ext cx="11066779" cy="6211102"/>
          </a:xfrm>
          <a:prstGeom prst="rect">
            <a:avLst/>
          </a:prstGeom>
        </p:spPr>
        <p:txBody>
          <a:bodyPr vert="horz" wrap="square" lIns="0" tIns="240453" rIns="0" bIns="0" rtlCol="0">
            <a:spAutoFit/>
          </a:bodyPr>
          <a:lstStyle/>
          <a:p>
            <a:pPr marL="546086" indent="-530000">
              <a:spcBef>
                <a:spcPts val="1893"/>
              </a:spcBef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400" spc="-7">
                <a:cs typeface="Times New Roman"/>
              </a:rPr>
              <a:t>Morphology</a:t>
            </a:r>
            <a:r>
              <a:rPr sz="2400" spc="-27">
                <a:cs typeface="Times New Roman"/>
              </a:rPr>
              <a:t> </a:t>
            </a:r>
            <a:r>
              <a:rPr sz="2400" spc="-7">
                <a:cs typeface="Times New Roman"/>
              </a:rPr>
              <a:t>is</a:t>
            </a:r>
            <a:r>
              <a:rPr sz="2400" spc="-27">
                <a:cs typeface="Times New Roman"/>
              </a:rPr>
              <a:t> </a:t>
            </a:r>
            <a:r>
              <a:rPr sz="2400" spc="-7">
                <a:cs typeface="Times New Roman"/>
              </a:rPr>
              <a:t>the</a:t>
            </a:r>
            <a:r>
              <a:rPr sz="2400" spc="-20">
                <a:cs typeface="Times New Roman"/>
              </a:rPr>
              <a:t> </a:t>
            </a:r>
            <a:r>
              <a:rPr sz="2400" spc="-7">
                <a:cs typeface="Times New Roman"/>
              </a:rPr>
              <a:t>study</a:t>
            </a:r>
            <a:r>
              <a:rPr sz="2400" spc="-27">
                <a:cs typeface="Times New Roman"/>
              </a:rPr>
              <a:t> </a:t>
            </a:r>
            <a:r>
              <a:rPr sz="2400">
                <a:cs typeface="Times New Roman"/>
              </a:rPr>
              <a:t>of</a:t>
            </a:r>
            <a:r>
              <a:rPr sz="2400" spc="-13">
                <a:cs typeface="Times New Roman"/>
              </a:rPr>
              <a:t> </a:t>
            </a:r>
            <a:r>
              <a:rPr sz="2400" spc="-7">
                <a:cs typeface="Times New Roman"/>
              </a:rPr>
              <a:t>words.</a:t>
            </a:r>
            <a:endParaRPr sz="2400">
              <a:cs typeface="Times New Roman"/>
            </a:endParaRPr>
          </a:p>
          <a:p>
            <a:pPr marL="546086" marR="6773" indent="-530000">
              <a:lnSpc>
                <a:spcPct val="150000"/>
              </a:lnSpc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400" spc="-7">
                <a:cs typeface="Times New Roman"/>
              </a:rPr>
              <a:t>Morphemes</a:t>
            </a:r>
            <a:r>
              <a:rPr sz="2400" spc="247">
                <a:cs typeface="Times New Roman"/>
              </a:rPr>
              <a:t> </a:t>
            </a:r>
            <a:r>
              <a:rPr sz="2400" spc="-7">
                <a:cs typeface="Times New Roman"/>
              </a:rPr>
              <a:t>are</a:t>
            </a:r>
            <a:r>
              <a:rPr sz="2400" spc="253">
                <a:cs typeface="Times New Roman"/>
              </a:rPr>
              <a:t> </a:t>
            </a:r>
            <a:r>
              <a:rPr sz="2400" spc="-7">
                <a:cs typeface="Times New Roman"/>
              </a:rPr>
              <a:t>the</a:t>
            </a:r>
            <a:r>
              <a:rPr sz="2400" spc="253">
                <a:cs typeface="Times New Roman"/>
              </a:rPr>
              <a:t> </a:t>
            </a:r>
            <a:r>
              <a:rPr sz="2400" spc="-7">
                <a:cs typeface="Times New Roman"/>
              </a:rPr>
              <a:t>minimal</a:t>
            </a:r>
            <a:r>
              <a:rPr sz="2400" spc="253">
                <a:cs typeface="Times New Roman"/>
              </a:rPr>
              <a:t> </a:t>
            </a:r>
            <a:r>
              <a:rPr sz="2400">
                <a:cs typeface="Times New Roman"/>
              </a:rPr>
              <a:t>units</a:t>
            </a:r>
            <a:r>
              <a:rPr sz="2400" spc="260">
                <a:cs typeface="Times New Roman"/>
              </a:rPr>
              <a:t> </a:t>
            </a:r>
            <a:r>
              <a:rPr sz="2400">
                <a:cs typeface="Times New Roman"/>
              </a:rPr>
              <a:t>of</a:t>
            </a:r>
            <a:r>
              <a:rPr sz="2400" spc="260">
                <a:cs typeface="Times New Roman"/>
              </a:rPr>
              <a:t> </a:t>
            </a:r>
            <a:r>
              <a:rPr sz="2400" spc="-7">
                <a:cs typeface="Times New Roman"/>
              </a:rPr>
              <a:t>words</a:t>
            </a:r>
            <a:r>
              <a:rPr sz="2400" spc="247">
                <a:cs typeface="Times New Roman"/>
              </a:rPr>
              <a:t> </a:t>
            </a:r>
            <a:r>
              <a:rPr sz="2400" spc="-7">
                <a:cs typeface="Times New Roman"/>
              </a:rPr>
              <a:t>that</a:t>
            </a:r>
            <a:r>
              <a:rPr sz="2400" spc="253">
                <a:cs typeface="Times New Roman"/>
              </a:rPr>
              <a:t> </a:t>
            </a:r>
            <a:r>
              <a:rPr sz="2400">
                <a:cs typeface="Times New Roman"/>
              </a:rPr>
              <a:t>have</a:t>
            </a:r>
            <a:r>
              <a:rPr sz="2400" spc="260">
                <a:cs typeface="Times New Roman"/>
              </a:rPr>
              <a:t> </a:t>
            </a:r>
            <a:r>
              <a:rPr sz="2400">
                <a:cs typeface="Times New Roman"/>
              </a:rPr>
              <a:t>a</a:t>
            </a:r>
            <a:r>
              <a:rPr sz="2400" spc="253">
                <a:cs typeface="Times New Roman"/>
              </a:rPr>
              <a:t> </a:t>
            </a:r>
            <a:r>
              <a:rPr sz="2400" spc="-7">
                <a:cs typeface="Times New Roman"/>
              </a:rPr>
              <a:t>meaning</a:t>
            </a:r>
            <a:r>
              <a:rPr sz="2400" spc="253">
                <a:cs typeface="Times New Roman"/>
              </a:rPr>
              <a:t> </a:t>
            </a:r>
            <a:r>
              <a:rPr sz="2400" spc="-7">
                <a:cs typeface="Times New Roman"/>
              </a:rPr>
              <a:t>and </a:t>
            </a:r>
            <a:r>
              <a:rPr sz="2400" spc="-713">
                <a:cs typeface="Times New Roman"/>
              </a:rPr>
              <a:t> </a:t>
            </a:r>
            <a:r>
              <a:rPr sz="2400" spc="-7">
                <a:cs typeface="Times New Roman"/>
              </a:rPr>
              <a:t>cannot</a:t>
            </a:r>
            <a:r>
              <a:rPr sz="2400" spc="-13">
                <a:cs typeface="Times New Roman"/>
              </a:rPr>
              <a:t> </a:t>
            </a:r>
            <a:r>
              <a:rPr sz="2400">
                <a:cs typeface="Times New Roman"/>
              </a:rPr>
              <a:t>be </a:t>
            </a:r>
            <a:r>
              <a:rPr sz="2400" spc="-7">
                <a:cs typeface="Times New Roman"/>
              </a:rPr>
              <a:t>subdivided </a:t>
            </a:r>
            <a:r>
              <a:rPr sz="2400" spc="-27">
                <a:cs typeface="Times New Roman"/>
              </a:rPr>
              <a:t>further.</a:t>
            </a:r>
            <a:endParaRPr sz="2400">
              <a:cs typeface="Times New Roman"/>
            </a:endParaRPr>
          </a:p>
          <a:p>
            <a:pPr marL="546086" indent="-530000">
              <a:spcBef>
                <a:spcPts val="1760"/>
              </a:spcBef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400" b="1" spc="-7">
                <a:cs typeface="Times New Roman"/>
              </a:rPr>
              <a:t>There</a:t>
            </a:r>
            <a:r>
              <a:rPr sz="2400" b="1" spc="-20">
                <a:cs typeface="Times New Roman"/>
              </a:rPr>
              <a:t> </a:t>
            </a:r>
            <a:r>
              <a:rPr sz="2400" b="1" spc="-7">
                <a:cs typeface="Times New Roman"/>
              </a:rPr>
              <a:t>are</a:t>
            </a:r>
            <a:r>
              <a:rPr sz="2400" b="1" spc="-20">
                <a:cs typeface="Times New Roman"/>
              </a:rPr>
              <a:t> </a:t>
            </a:r>
            <a:r>
              <a:rPr sz="2400" b="1" spc="-7">
                <a:cs typeface="Times New Roman"/>
              </a:rPr>
              <a:t>two</a:t>
            </a:r>
            <a:r>
              <a:rPr sz="2400" b="1" spc="-20">
                <a:cs typeface="Times New Roman"/>
              </a:rPr>
              <a:t> </a:t>
            </a:r>
            <a:r>
              <a:rPr sz="2400" b="1" spc="-7">
                <a:cs typeface="Times New Roman"/>
              </a:rPr>
              <a:t>main</a:t>
            </a:r>
            <a:r>
              <a:rPr sz="2400" b="1" spc="-13">
                <a:cs typeface="Times New Roman"/>
              </a:rPr>
              <a:t> </a:t>
            </a:r>
            <a:r>
              <a:rPr sz="2400" b="1" spc="-7">
                <a:cs typeface="Times New Roman"/>
              </a:rPr>
              <a:t>types:</a:t>
            </a:r>
            <a:r>
              <a:rPr sz="2400" b="1" spc="-20">
                <a:cs typeface="Times New Roman"/>
              </a:rPr>
              <a:t> </a:t>
            </a:r>
            <a:r>
              <a:rPr sz="2400" b="1">
                <a:cs typeface="Times New Roman"/>
              </a:rPr>
              <a:t>free</a:t>
            </a:r>
            <a:r>
              <a:rPr sz="2400" b="1" spc="-13">
                <a:cs typeface="Times New Roman"/>
              </a:rPr>
              <a:t> </a:t>
            </a:r>
            <a:r>
              <a:rPr sz="2400" b="1" spc="-7">
                <a:cs typeface="Times New Roman"/>
              </a:rPr>
              <a:t>and</a:t>
            </a:r>
            <a:r>
              <a:rPr sz="2400" b="1" spc="-13">
                <a:cs typeface="Times New Roman"/>
              </a:rPr>
              <a:t> </a:t>
            </a:r>
            <a:r>
              <a:rPr sz="2400" b="1">
                <a:cs typeface="Times New Roman"/>
              </a:rPr>
              <a:t>bound.</a:t>
            </a:r>
          </a:p>
          <a:p>
            <a:pPr marL="546086" marR="6773" indent="-530000">
              <a:lnSpc>
                <a:spcPct val="150000"/>
              </a:lnSpc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400" spc="-7">
                <a:cs typeface="Times New Roman"/>
              </a:rPr>
              <a:t>Free</a:t>
            </a:r>
            <a:r>
              <a:rPr sz="2400" spc="313">
                <a:cs typeface="Times New Roman"/>
              </a:rPr>
              <a:t> </a:t>
            </a:r>
            <a:r>
              <a:rPr sz="2400" spc="-7">
                <a:cs typeface="Times New Roman"/>
              </a:rPr>
              <a:t>morphemes</a:t>
            </a:r>
            <a:r>
              <a:rPr sz="2400" spc="313">
                <a:cs typeface="Times New Roman"/>
              </a:rPr>
              <a:t> </a:t>
            </a:r>
            <a:r>
              <a:rPr sz="2400" spc="-7">
                <a:cs typeface="Times New Roman"/>
              </a:rPr>
              <a:t>can</a:t>
            </a:r>
            <a:r>
              <a:rPr sz="2400" spc="305">
                <a:cs typeface="Times New Roman"/>
              </a:rPr>
              <a:t> </a:t>
            </a:r>
            <a:r>
              <a:rPr sz="2400">
                <a:cs typeface="Times New Roman"/>
              </a:rPr>
              <a:t>occur</a:t>
            </a:r>
            <a:r>
              <a:rPr sz="2400" spc="320">
                <a:cs typeface="Times New Roman"/>
              </a:rPr>
              <a:t> </a:t>
            </a:r>
            <a:r>
              <a:rPr sz="2400" spc="-7">
                <a:cs typeface="Times New Roman"/>
              </a:rPr>
              <a:t>alone</a:t>
            </a:r>
            <a:r>
              <a:rPr sz="2400" spc="305">
                <a:cs typeface="Times New Roman"/>
              </a:rPr>
              <a:t> </a:t>
            </a:r>
            <a:r>
              <a:rPr sz="2400" spc="-7">
                <a:cs typeface="Times New Roman"/>
              </a:rPr>
              <a:t>and</a:t>
            </a:r>
            <a:r>
              <a:rPr sz="2400" spc="313">
                <a:cs typeface="Times New Roman"/>
              </a:rPr>
              <a:t> </a:t>
            </a:r>
            <a:r>
              <a:rPr sz="2400">
                <a:cs typeface="Times New Roman"/>
              </a:rPr>
              <a:t>bound</a:t>
            </a:r>
            <a:r>
              <a:rPr sz="2400" spc="320">
                <a:cs typeface="Times New Roman"/>
              </a:rPr>
              <a:t> </a:t>
            </a:r>
            <a:r>
              <a:rPr sz="2400" spc="-7">
                <a:cs typeface="Times New Roman"/>
              </a:rPr>
              <a:t>morphemes</a:t>
            </a:r>
            <a:r>
              <a:rPr sz="2400" spc="305">
                <a:cs typeface="Times New Roman"/>
              </a:rPr>
              <a:t> </a:t>
            </a:r>
            <a:r>
              <a:rPr sz="2400" spc="-7">
                <a:cs typeface="Times New Roman"/>
              </a:rPr>
              <a:t>must</a:t>
            </a:r>
            <a:r>
              <a:rPr sz="2400" spc="313">
                <a:cs typeface="Times New Roman"/>
              </a:rPr>
              <a:t> </a:t>
            </a:r>
            <a:r>
              <a:rPr sz="2400">
                <a:cs typeface="Times New Roman"/>
              </a:rPr>
              <a:t>occur </a:t>
            </a:r>
            <a:r>
              <a:rPr sz="2400" spc="-713">
                <a:cs typeface="Times New Roman"/>
              </a:rPr>
              <a:t> </a:t>
            </a:r>
            <a:r>
              <a:rPr sz="2400" spc="-7">
                <a:cs typeface="Times New Roman"/>
              </a:rPr>
              <a:t>with</a:t>
            </a:r>
            <a:r>
              <a:rPr sz="2400" spc="-13">
                <a:cs typeface="Times New Roman"/>
              </a:rPr>
              <a:t> </a:t>
            </a:r>
            <a:r>
              <a:rPr sz="2400" spc="-7">
                <a:cs typeface="Times New Roman"/>
              </a:rPr>
              <a:t>another morpheme.</a:t>
            </a:r>
            <a:endParaRPr lang="en-US" sz="2400" spc="-7">
              <a:cs typeface="Times New Roman"/>
            </a:endParaRPr>
          </a:p>
          <a:p>
            <a:pPr marL="546086" marR="6773" indent="-530000">
              <a:lnSpc>
                <a:spcPct val="150000"/>
              </a:lnSpc>
              <a:spcBef>
                <a:spcPts val="133"/>
              </a:spcBef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lang="en-US" sz="2400" spc="-7">
                <a:cs typeface="Times New Roman"/>
              </a:rPr>
              <a:t>An</a:t>
            </a:r>
            <a:r>
              <a:rPr lang="en-US" sz="2400" spc="113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example</a:t>
            </a:r>
            <a:r>
              <a:rPr lang="en-US" sz="2400" spc="107">
                <a:cs typeface="Times New Roman"/>
              </a:rPr>
              <a:t> </a:t>
            </a:r>
            <a:r>
              <a:rPr lang="en-US" sz="2400">
                <a:cs typeface="Times New Roman"/>
              </a:rPr>
              <a:t>of</a:t>
            </a:r>
            <a:r>
              <a:rPr lang="en-US" sz="2400" spc="113">
                <a:cs typeface="Times New Roman"/>
              </a:rPr>
              <a:t> </a:t>
            </a:r>
            <a:r>
              <a:rPr lang="en-US" sz="2400">
                <a:cs typeface="Times New Roman"/>
              </a:rPr>
              <a:t>a</a:t>
            </a:r>
            <a:r>
              <a:rPr lang="en-US" sz="2400" spc="107">
                <a:cs typeface="Times New Roman"/>
              </a:rPr>
              <a:t> </a:t>
            </a:r>
            <a:r>
              <a:rPr lang="en-US" sz="2400">
                <a:cs typeface="Times New Roman"/>
              </a:rPr>
              <a:t>free</a:t>
            </a:r>
            <a:r>
              <a:rPr lang="en-US" sz="2400" spc="113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morpheme</a:t>
            </a:r>
            <a:r>
              <a:rPr lang="en-US" sz="2400" spc="107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is</a:t>
            </a:r>
            <a:r>
              <a:rPr lang="en-US" sz="2400" spc="107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"bad",</a:t>
            </a:r>
            <a:r>
              <a:rPr lang="en-US" sz="2400" spc="113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and</a:t>
            </a:r>
            <a:r>
              <a:rPr lang="en-US" sz="2400" spc="107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an</a:t>
            </a:r>
            <a:r>
              <a:rPr lang="en-US" sz="2400" spc="107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example</a:t>
            </a:r>
            <a:r>
              <a:rPr lang="en-US" sz="2400" spc="107">
                <a:cs typeface="Times New Roman"/>
              </a:rPr>
              <a:t> </a:t>
            </a:r>
            <a:r>
              <a:rPr lang="en-US" sz="2400">
                <a:cs typeface="Times New Roman"/>
              </a:rPr>
              <a:t>of</a:t>
            </a:r>
            <a:r>
              <a:rPr lang="en-US" sz="2400" spc="120">
                <a:cs typeface="Times New Roman"/>
              </a:rPr>
              <a:t> </a:t>
            </a:r>
            <a:r>
              <a:rPr lang="en-US" sz="2400">
                <a:cs typeface="Times New Roman"/>
              </a:rPr>
              <a:t>a</a:t>
            </a:r>
            <a:r>
              <a:rPr lang="en-US" sz="2400" spc="107">
                <a:cs typeface="Times New Roman"/>
              </a:rPr>
              <a:t> </a:t>
            </a:r>
            <a:r>
              <a:rPr lang="en-US" sz="2400">
                <a:cs typeface="Times New Roman"/>
              </a:rPr>
              <a:t>bound </a:t>
            </a:r>
            <a:r>
              <a:rPr lang="en-US" sz="2400" spc="-713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morpheme</a:t>
            </a:r>
            <a:r>
              <a:rPr lang="en-US" sz="2400" spc="-13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is </a:t>
            </a:r>
            <a:r>
              <a:rPr lang="en-US" sz="2400" spc="-47">
                <a:cs typeface="Times New Roman"/>
              </a:rPr>
              <a:t>"</a:t>
            </a:r>
            <a:r>
              <a:rPr lang="en-US" sz="2400" spc="-47" err="1">
                <a:cs typeface="Times New Roman"/>
              </a:rPr>
              <a:t>ly</a:t>
            </a:r>
            <a:r>
              <a:rPr lang="en-US" sz="2400" spc="-47">
                <a:cs typeface="Times New Roman"/>
              </a:rPr>
              <a:t>.“</a:t>
            </a:r>
            <a:r>
              <a:rPr lang="en-US" sz="2400">
                <a:cs typeface="Times New Roman"/>
              </a:rPr>
              <a:t> It</a:t>
            </a:r>
            <a:r>
              <a:rPr lang="en-US" sz="2400" spc="-13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is</a:t>
            </a:r>
            <a:r>
              <a:rPr lang="en-US" sz="2400" spc="-13">
                <a:cs typeface="Times New Roman"/>
              </a:rPr>
              <a:t> </a:t>
            </a:r>
            <a:r>
              <a:rPr lang="en-US" sz="2400">
                <a:cs typeface="Times New Roman"/>
              </a:rPr>
              <a:t>bound</a:t>
            </a:r>
            <a:r>
              <a:rPr lang="en-US" sz="2400" spc="-7">
                <a:cs typeface="Times New Roman"/>
              </a:rPr>
              <a:t> </a:t>
            </a:r>
            <a:r>
              <a:rPr lang="en-US" sz="2400">
                <a:cs typeface="Times New Roman"/>
              </a:rPr>
              <a:t>because</a:t>
            </a:r>
            <a:r>
              <a:rPr lang="en-US" sz="2400" spc="-7">
                <a:cs typeface="Times New Roman"/>
              </a:rPr>
              <a:t> although</a:t>
            </a:r>
            <a:r>
              <a:rPr lang="en-US" sz="2400" spc="-13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it</a:t>
            </a:r>
            <a:r>
              <a:rPr lang="en-US" sz="2400" spc="-13">
                <a:cs typeface="Times New Roman"/>
              </a:rPr>
              <a:t> </a:t>
            </a:r>
            <a:r>
              <a:rPr lang="en-US" sz="2400">
                <a:cs typeface="Times New Roman"/>
              </a:rPr>
              <a:t>has</a:t>
            </a:r>
            <a:r>
              <a:rPr lang="en-US" sz="2400" spc="-7">
                <a:cs typeface="Times New Roman"/>
              </a:rPr>
              <a:t> meaning,</a:t>
            </a:r>
            <a:r>
              <a:rPr lang="en-US" sz="2400" spc="-13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it</a:t>
            </a:r>
            <a:r>
              <a:rPr lang="en-US" sz="2400" spc="-13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cannot</a:t>
            </a:r>
            <a:r>
              <a:rPr lang="en-US" sz="2400" spc="-13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stand</a:t>
            </a:r>
            <a:r>
              <a:rPr lang="en-US" sz="2400" spc="-13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alone.</a:t>
            </a:r>
            <a:r>
              <a:rPr lang="en-US" sz="2400">
                <a:cs typeface="Times New Roman"/>
              </a:rPr>
              <a:t> It</a:t>
            </a:r>
            <a:r>
              <a:rPr lang="en-US" sz="2400" spc="-13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must</a:t>
            </a:r>
            <a:r>
              <a:rPr lang="en-US" sz="2400" spc="-13">
                <a:cs typeface="Times New Roman"/>
              </a:rPr>
              <a:t> </a:t>
            </a:r>
            <a:r>
              <a:rPr lang="en-US" sz="2400">
                <a:cs typeface="Times New Roman"/>
              </a:rPr>
              <a:t>be</a:t>
            </a:r>
            <a:r>
              <a:rPr lang="en-US" sz="2400" spc="-7">
                <a:cs typeface="Times New Roman"/>
              </a:rPr>
              <a:t> attached</a:t>
            </a:r>
            <a:r>
              <a:rPr lang="en-US" sz="2400" spc="-13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to</a:t>
            </a:r>
            <a:r>
              <a:rPr lang="en-US" sz="2400" spc="-20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another</a:t>
            </a:r>
            <a:r>
              <a:rPr lang="en-US" sz="2400" spc="-13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morpheme</a:t>
            </a:r>
            <a:r>
              <a:rPr lang="en-US" sz="2400" spc="-13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to</a:t>
            </a:r>
            <a:r>
              <a:rPr lang="en-US" sz="2400" spc="-13">
                <a:cs typeface="Times New Roman"/>
              </a:rPr>
              <a:t> </a:t>
            </a:r>
            <a:r>
              <a:rPr lang="en-US" sz="2400">
                <a:cs typeface="Times New Roman"/>
              </a:rPr>
              <a:t>produce</a:t>
            </a:r>
            <a:r>
              <a:rPr lang="en-US" sz="2400" spc="-13">
                <a:cs typeface="Times New Roman"/>
              </a:rPr>
              <a:t> </a:t>
            </a:r>
            <a:r>
              <a:rPr lang="en-US" sz="2400">
                <a:cs typeface="Times New Roman"/>
              </a:rPr>
              <a:t>a</a:t>
            </a:r>
            <a:r>
              <a:rPr lang="en-US" sz="2400" spc="-13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word.</a:t>
            </a:r>
            <a:br>
              <a:rPr lang="en-US" sz="2400">
                <a:cs typeface="Times New Roman"/>
              </a:rPr>
            </a:br>
            <a:r>
              <a:rPr lang="en-US" sz="2400" spc="-7">
                <a:cs typeface="Times New Roman"/>
              </a:rPr>
              <a:t>Free morpheme: </a:t>
            </a:r>
            <a:r>
              <a:rPr lang="en-US" sz="2400">
                <a:cs typeface="Times New Roman"/>
              </a:rPr>
              <a:t>bad </a:t>
            </a:r>
            <a:r>
              <a:rPr lang="en-US" sz="2400" spc="7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Bound</a:t>
            </a:r>
            <a:r>
              <a:rPr lang="en-US" sz="2400" spc="-67">
                <a:cs typeface="Times New Roman"/>
              </a:rPr>
              <a:t> </a:t>
            </a:r>
            <a:r>
              <a:rPr lang="en-US" sz="2400" spc="-7">
                <a:cs typeface="Times New Roman"/>
              </a:rPr>
              <a:t>morpheme:</a:t>
            </a:r>
            <a:r>
              <a:rPr lang="en-US" sz="2400" spc="-67">
                <a:cs typeface="Times New Roman"/>
              </a:rPr>
              <a:t> </a:t>
            </a:r>
            <a:r>
              <a:rPr lang="en-US" sz="2400">
                <a:cs typeface="Times New Roman"/>
              </a:rPr>
              <a:t>-</a:t>
            </a:r>
            <a:r>
              <a:rPr lang="en-US" sz="2400" err="1">
                <a:cs typeface="Times New Roman"/>
              </a:rPr>
              <a:t>ly</a:t>
            </a:r>
            <a:r>
              <a:rPr lang="en-US" sz="2400">
                <a:cs typeface="Times New Roman"/>
              </a:rPr>
              <a:t> </a:t>
            </a:r>
            <a:r>
              <a:rPr lang="en-US" sz="2400" spc="-713">
                <a:cs typeface="Times New Roman"/>
              </a:rPr>
              <a:t> </a:t>
            </a:r>
            <a:r>
              <a:rPr lang="en-US" sz="2400" spc="-53">
                <a:cs typeface="Times New Roman"/>
              </a:rPr>
              <a:t>Word:</a:t>
            </a:r>
            <a:r>
              <a:rPr lang="en-US" sz="2400" spc="-7">
                <a:cs typeface="Times New Roman"/>
              </a:rPr>
              <a:t> </a:t>
            </a:r>
            <a:r>
              <a:rPr lang="en-US" sz="2400">
                <a:cs typeface="Times New Roman"/>
              </a:rPr>
              <a:t>badly</a:t>
            </a:r>
          </a:p>
          <a:p>
            <a:pPr marL="546086" marR="6773" indent="-530000">
              <a:lnSpc>
                <a:spcPct val="150000"/>
              </a:lnSpc>
              <a:buFont typeface="Arial MT"/>
              <a:buChar char="●"/>
              <a:tabLst>
                <a:tab pos="546086" algn="l"/>
                <a:tab pos="546932" algn="l"/>
              </a:tabLst>
            </a:pPr>
            <a:endParaRPr sz="2400"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2967" y="674341"/>
            <a:ext cx="1965960" cy="51296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pc="7"/>
              <a:t>Morpheme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2795" y="1395578"/>
            <a:ext cx="11070167" cy="40844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46086" marR="9313" indent="-530000" algn="just">
              <a:lnSpc>
                <a:spcPct val="150000"/>
              </a:lnSpc>
              <a:spcBef>
                <a:spcPts val="133"/>
              </a:spcBef>
              <a:buFont typeface="Arial MT"/>
              <a:buChar char="●"/>
              <a:tabLst>
                <a:tab pos="546932" algn="l"/>
              </a:tabLst>
            </a:pPr>
            <a:r>
              <a:rPr sz="2933" spc="-7">
                <a:latin typeface="Times New Roman"/>
                <a:cs typeface="Times New Roman"/>
              </a:rPr>
              <a:t>Morpheme is the smallest indivisible </a:t>
            </a:r>
            <a:r>
              <a:rPr sz="2933">
                <a:latin typeface="Times New Roman"/>
                <a:cs typeface="Times New Roman"/>
              </a:rPr>
              <a:t>unit of </a:t>
            </a:r>
            <a:r>
              <a:rPr sz="2933" spc="-7">
                <a:latin typeface="Times New Roman"/>
                <a:cs typeface="Times New Roman"/>
              </a:rPr>
              <a:t>semantic content and </a:t>
            </a:r>
            <a:r>
              <a:rPr sz="2933">
                <a:latin typeface="Times New Roman"/>
                <a:cs typeface="Times New Roman"/>
              </a:rPr>
              <a:t> grammatical</a:t>
            </a:r>
            <a:r>
              <a:rPr sz="2933" spc="-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function.</a:t>
            </a:r>
          </a:p>
          <a:p>
            <a:pPr marL="546086" marR="6773" indent="-530000" algn="just">
              <a:lnSpc>
                <a:spcPct val="150000"/>
              </a:lnSpc>
              <a:buFont typeface="Arial MT"/>
              <a:buChar char="●"/>
              <a:tabLst>
                <a:tab pos="546932" algn="l"/>
              </a:tabLst>
            </a:pPr>
            <a:r>
              <a:rPr sz="2933" spc="-7">
                <a:latin typeface="Times New Roman"/>
                <a:cs typeface="Times New Roman"/>
              </a:rPr>
              <a:t>Morpheme</a:t>
            </a:r>
            <a:r>
              <a:rPr sz="293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is</a:t>
            </a:r>
            <a:r>
              <a:rPr sz="293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the</a:t>
            </a:r>
            <a:r>
              <a:rPr sz="293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minimal</a:t>
            </a:r>
            <a:r>
              <a:rPr sz="2933">
                <a:latin typeface="Times New Roman"/>
                <a:cs typeface="Times New Roman"/>
              </a:rPr>
              <a:t> unit</a:t>
            </a:r>
            <a:r>
              <a:rPr sz="2933" spc="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of</a:t>
            </a:r>
            <a:r>
              <a:rPr sz="2933" spc="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a</a:t>
            </a:r>
            <a:r>
              <a:rPr sz="2933" spc="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language</a:t>
            </a:r>
            <a:r>
              <a:rPr sz="293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which</a:t>
            </a:r>
            <a:r>
              <a:rPr sz="2933">
                <a:latin typeface="Times New Roman"/>
                <a:cs typeface="Times New Roman"/>
              </a:rPr>
              <a:t> has</a:t>
            </a:r>
            <a:r>
              <a:rPr sz="2933" spc="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a </a:t>
            </a:r>
            <a:r>
              <a:rPr sz="2933" spc="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meaning,lexical </a:t>
            </a:r>
            <a:r>
              <a:rPr sz="2933">
                <a:latin typeface="Times New Roman"/>
                <a:cs typeface="Times New Roman"/>
              </a:rPr>
              <a:t>or grammatical, </a:t>
            </a:r>
            <a:r>
              <a:rPr sz="2933" spc="-7">
                <a:latin typeface="Times New Roman"/>
                <a:cs typeface="Times New Roman"/>
              </a:rPr>
              <a:t>and cannot </a:t>
            </a:r>
            <a:r>
              <a:rPr sz="2933">
                <a:latin typeface="Times New Roman"/>
                <a:cs typeface="Times New Roman"/>
              </a:rPr>
              <a:t>be divided </a:t>
            </a:r>
            <a:r>
              <a:rPr sz="2933" spc="-7">
                <a:latin typeface="Times New Roman"/>
                <a:cs typeface="Times New Roman"/>
              </a:rPr>
              <a:t>into </a:t>
            </a:r>
            <a:r>
              <a:rPr sz="2933">
                <a:latin typeface="Times New Roman"/>
                <a:cs typeface="Times New Roman"/>
              </a:rPr>
              <a:t>further </a:t>
            </a:r>
            <a:r>
              <a:rPr sz="2933" spc="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smaller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units.</a:t>
            </a:r>
          </a:p>
          <a:p>
            <a:pPr marL="546086" indent="-530000" algn="just">
              <a:spcBef>
                <a:spcPts val="1760"/>
              </a:spcBef>
              <a:buFont typeface="Arial MT"/>
              <a:buChar char="●"/>
              <a:tabLst>
                <a:tab pos="546932" algn="l"/>
              </a:tabLst>
            </a:pPr>
            <a:r>
              <a:rPr sz="2933" spc="-7">
                <a:latin typeface="Times New Roman"/>
                <a:cs typeface="Times New Roman"/>
              </a:rPr>
              <a:t>They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are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the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minimal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building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blocks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of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meaning.</a:t>
            </a:r>
            <a:endParaRPr sz="293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2967" y="674341"/>
            <a:ext cx="2854960" cy="51296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pc="-13"/>
              <a:t>Free</a:t>
            </a:r>
            <a:r>
              <a:rPr spc="-73"/>
              <a:t> </a:t>
            </a:r>
            <a:r>
              <a:rPr spc="7"/>
              <a:t>Morpheme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714415" y="1860769"/>
            <a:ext cx="10585931" cy="45512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02812" marR="6773" indent="-530000">
              <a:lnSpc>
                <a:spcPct val="150000"/>
              </a:lnSpc>
              <a:spcBef>
                <a:spcPts val="133"/>
              </a:spcBef>
              <a:buFont typeface="Arial MT"/>
              <a:buChar char="●"/>
              <a:tabLst>
                <a:tab pos="602812" algn="l"/>
                <a:tab pos="603658" algn="l"/>
                <a:tab pos="1440991" algn="l"/>
                <a:tab pos="3349330" algn="l"/>
                <a:tab pos="3978387" algn="l"/>
                <a:tab pos="4937637" algn="l"/>
                <a:tab pos="5669985" algn="l"/>
                <a:tab pos="6361694" algn="l"/>
                <a:tab pos="7323484" algn="l"/>
                <a:tab pos="8303052" algn="l"/>
                <a:tab pos="8788180" algn="l"/>
                <a:tab pos="9874426" algn="l"/>
                <a:tab pos="10586455" algn="l"/>
              </a:tabLst>
            </a:pPr>
            <a:r>
              <a:rPr spc="-7">
                <a:latin typeface="+mn-lt"/>
              </a:rPr>
              <a:t>Fre</a:t>
            </a:r>
            <a:r>
              <a:rPr>
                <a:latin typeface="+mn-lt"/>
              </a:rPr>
              <a:t>e	</a:t>
            </a:r>
            <a:r>
              <a:rPr spc="-7">
                <a:latin typeface="+mn-lt"/>
              </a:rPr>
              <a:t>morpheme</a:t>
            </a:r>
            <a:r>
              <a:rPr>
                <a:latin typeface="+mn-lt"/>
              </a:rPr>
              <a:t>s	</a:t>
            </a:r>
            <a:r>
              <a:rPr spc="-7">
                <a:latin typeface="+mn-lt"/>
              </a:rPr>
              <a:t>ar</a:t>
            </a:r>
            <a:r>
              <a:rPr>
                <a:latin typeface="+mn-lt"/>
              </a:rPr>
              <a:t>e	</a:t>
            </a:r>
            <a:r>
              <a:rPr spc="-7">
                <a:latin typeface="+mn-lt"/>
              </a:rPr>
              <a:t>thos</a:t>
            </a:r>
            <a:r>
              <a:rPr>
                <a:latin typeface="+mn-lt"/>
              </a:rPr>
              <a:t>e	</a:t>
            </a:r>
            <a:r>
              <a:rPr spc="-7">
                <a:latin typeface="+mn-lt"/>
              </a:rPr>
              <a:t>tha</a:t>
            </a:r>
            <a:r>
              <a:rPr>
                <a:latin typeface="+mn-lt"/>
              </a:rPr>
              <a:t>t	</a:t>
            </a:r>
            <a:r>
              <a:rPr spc="-7">
                <a:latin typeface="+mn-lt"/>
              </a:rPr>
              <a:t>ca</a:t>
            </a:r>
            <a:r>
              <a:rPr>
                <a:latin typeface="+mn-lt"/>
              </a:rPr>
              <a:t>n	</a:t>
            </a:r>
            <a:r>
              <a:rPr spc="-7">
                <a:latin typeface="+mn-lt"/>
              </a:rPr>
              <a:t>stan</a:t>
            </a:r>
            <a:r>
              <a:rPr>
                <a:latin typeface="+mn-lt"/>
              </a:rPr>
              <a:t>d	</a:t>
            </a:r>
            <a:r>
              <a:rPr spc="-7">
                <a:latin typeface="+mn-lt"/>
              </a:rPr>
              <a:t>alon</a:t>
            </a:r>
            <a:r>
              <a:rPr>
                <a:latin typeface="+mn-lt"/>
              </a:rPr>
              <a:t>e	</a:t>
            </a:r>
            <a:r>
              <a:rPr spc="-7">
                <a:latin typeface="+mn-lt"/>
              </a:rPr>
              <a:t>a</a:t>
            </a:r>
            <a:r>
              <a:rPr>
                <a:latin typeface="+mn-lt"/>
              </a:rPr>
              <a:t>s	</a:t>
            </a:r>
            <a:r>
              <a:rPr spc="-7">
                <a:latin typeface="+mn-lt"/>
              </a:rPr>
              <a:t>word</a:t>
            </a:r>
            <a:r>
              <a:rPr>
                <a:latin typeface="+mn-lt"/>
              </a:rPr>
              <a:t>s	</a:t>
            </a:r>
            <a:r>
              <a:rPr spc="-7">
                <a:latin typeface="+mn-lt"/>
              </a:rPr>
              <a:t>an</a:t>
            </a:r>
            <a:r>
              <a:rPr>
                <a:latin typeface="+mn-lt"/>
              </a:rPr>
              <a:t>d	</a:t>
            </a:r>
            <a:r>
              <a:rPr spc="-7">
                <a:latin typeface="+mn-lt"/>
              </a:rPr>
              <a:t>can  </a:t>
            </a:r>
            <a:r>
              <a:rPr>
                <a:latin typeface="+mn-lt"/>
              </a:rPr>
              <a:t>function</a:t>
            </a:r>
            <a:r>
              <a:rPr spc="-7">
                <a:latin typeface="+mn-lt"/>
              </a:rPr>
              <a:t> </a:t>
            </a:r>
            <a:r>
              <a:rPr spc="-20">
                <a:latin typeface="+mn-lt"/>
              </a:rPr>
              <a:t>independently.</a:t>
            </a:r>
          </a:p>
          <a:p>
            <a:pPr marL="602812" indent="-530000">
              <a:spcBef>
                <a:spcPts val="1760"/>
              </a:spcBef>
              <a:buFont typeface="Arial MT"/>
              <a:buChar char="●"/>
              <a:tabLst>
                <a:tab pos="602812" algn="l"/>
                <a:tab pos="603658" algn="l"/>
              </a:tabLst>
            </a:pPr>
            <a:r>
              <a:rPr spc="-7">
                <a:latin typeface="+mn-lt"/>
              </a:rPr>
              <a:t>For</a:t>
            </a:r>
            <a:r>
              <a:rPr spc="-27">
                <a:latin typeface="+mn-lt"/>
              </a:rPr>
              <a:t> </a:t>
            </a:r>
            <a:r>
              <a:rPr spc="-7">
                <a:latin typeface="+mn-lt"/>
              </a:rPr>
              <a:t>Example:</a:t>
            </a:r>
            <a:r>
              <a:rPr spc="-20">
                <a:latin typeface="+mn-lt"/>
              </a:rPr>
              <a:t> </a:t>
            </a:r>
            <a:r>
              <a:rPr spc="-7">
                <a:latin typeface="+mn-lt"/>
              </a:rPr>
              <a:t>cat,</a:t>
            </a:r>
            <a:r>
              <a:rPr spc="-20">
                <a:latin typeface="+mn-lt"/>
              </a:rPr>
              <a:t> </a:t>
            </a:r>
            <a:r>
              <a:rPr>
                <a:latin typeface="+mn-lt"/>
              </a:rPr>
              <a:t>boat,</a:t>
            </a:r>
            <a:r>
              <a:rPr spc="-13">
                <a:latin typeface="+mn-lt"/>
              </a:rPr>
              <a:t> </a:t>
            </a:r>
            <a:r>
              <a:rPr>
                <a:latin typeface="+mn-lt"/>
              </a:rPr>
              <a:t>on,</a:t>
            </a:r>
            <a:r>
              <a:rPr spc="-13">
                <a:latin typeface="+mn-lt"/>
              </a:rPr>
              <a:t> </a:t>
            </a:r>
            <a:r>
              <a:rPr spc="-7">
                <a:latin typeface="+mn-lt"/>
              </a:rPr>
              <a:t>in</a:t>
            </a:r>
            <a:r>
              <a:rPr spc="-27">
                <a:latin typeface="+mn-lt"/>
              </a:rPr>
              <a:t> </a:t>
            </a:r>
            <a:r>
              <a:rPr spc="-7">
                <a:latin typeface="+mn-lt"/>
              </a:rPr>
              <a:t>etc.</a:t>
            </a:r>
          </a:p>
          <a:p>
            <a:pPr marL="602812" indent="-530000">
              <a:spcBef>
                <a:spcPts val="1760"/>
              </a:spcBef>
              <a:buFont typeface="Arial MT"/>
              <a:buChar char="●"/>
              <a:tabLst>
                <a:tab pos="602812" algn="l"/>
                <a:tab pos="603658" algn="l"/>
              </a:tabLst>
            </a:pPr>
            <a:r>
              <a:rPr spc="-7">
                <a:latin typeface="+mn-lt"/>
              </a:rPr>
              <a:t>Free</a:t>
            </a:r>
            <a:r>
              <a:rPr spc="-27">
                <a:latin typeface="+mn-lt"/>
              </a:rPr>
              <a:t> </a:t>
            </a:r>
            <a:r>
              <a:rPr spc="-7">
                <a:latin typeface="+mn-lt"/>
              </a:rPr>
              <a:t>morphemes</a:t>
            </a:r>
            <a:r>
              <a:rPr spc="-20">
                <a:latin typeface="+mn-lt"/>
              </a:rPr>
              <a:t> </a:t>
            </a:r>
            <a:r>
              <a:rPr spc="-7">
                <a:latin typeface="+mn-lt"/>
              </a:rPr>
              <a:t>are</a:t>
            </a:r>
            <a:r>
              <a:rPr spc="-20">
                <a:latin typeface="+mn-lt"/>
              </a:rPr>
              <a:t> </a:t>
            </a:r>
            <a:r>
              <a:rPr spc="-7">
                <a:latin typeface="+mn-lt"/>
              </a:rPr>
              <a:t>examples</a:t>
            </a:r>
            <a:r>
              <a:rPr spc="-20">
                <a:latin typeface="+mn-lt"/>
              </a:rPr>
              <a:t> </a:t>
            </a:r>
            <a:r>
              <a:rPr>
                <a:latin typeface="+mn-lt"/>
              </a:rPr>
              <a:t>of</a:t>
            </a:r>
            <a:r>
              <a:rPr spc="-13">
                <a:latin typeface="+mn-lt"/>
              </a:rPr>
              <a:t> </a:t>
            </a:r>
            <a:r>
              <a:rPr>
                <a:latin typeface="+mn-lt"/>
              </a:rPr>
              <a:t>‘lexical</a:t>
            </a:r>
            <a:r>
              <a:rPr spc="-20">
                <a:latin typeface="+mn-lt"/>
              </a:rPr>
              <a:t> </a:t>
            </a:r>
            <a:r>
              <a:rPr spc="-7">
                <a:latin typeface="+mn-lt"/>
              </a:rPr>
              <a:t>morphemes’.</a:t>
            </a:r>
          </a:p>
          <a:p>
            <a:pPr marL="602812" indent="-530000">
              <a:spcBef>
                <a:spcPts val="1760"/>
              </a:spcBef>
              <a:buFont typeface="Arial MT"/>
              <a:buChar char="●"/>
              <a:tabLst>
                <a:tab pos="602812" algn="l"/>
                <a:tab pos="603658" algn="l"/>
              </a:tabLst>
            </a:pPr>
            <a:r>
              <a:rPr spc="-7">
                <a:latin typeface="+mn-lt"/>
              </a:rPr>
              <a:t>They</a:t>
            </a:r>
            <a:r>
              <a:rPr spc="-27">
                <a:latin typeface="+mn-lt"/>
              </a:rPr>
              <a:t> </a:t>
            </a:r>
            <a:r>
              <a:rPr spc="-7">
                <a:latin typeface="+mn-lt"/>
              </a:rPr>
              <a:t>are</a:t>
            </a:r>
            <a:r>
              <a:rPr spc="-20">
                <a:latin typeface="+mn-lt"/>
              </a:rPr>
              <a:t> </a:t>
            </a:r>
            <a:r>
              <a:rPr>
                <a:latin typeface="+mn-lt"/>
              </a:rPr>
              <a:t>nouns,</a:t>
            </a:r>
            <a:r>
              <a:rPr spc="-13">
                <a:latin typeface="+mn-lt"/>
              </a:rPr>
              <a:t> </a:t>
            </a:r>
            <a:r>
              <a:rPr spc="-7">
                <a:latin typeface="+mn-lt"/>
              </a:rPr>
              <a:t>adjectives,</a:t>
            </a:r>
            <a:r>
              <a:rPr spc="-27">
                <a:latin typeface="+mn-lt"/>
              </a:rPr>
              <a:t> </a:t>
            </a:r>
            <a:r>
              <a:rPr>
                <a:latin typeface="+mn-lt"/>
              </a:rPr>
              <a:t>verbs,prepositions</a:t>
            </a:r>
            <a:r>
              <a:rPr spc="-13">
                <a:latin typeface="+mn-lt"/>
              </a:rPr>
              <a:t> </a:t>
            </a:r>
            <a:r>
              <a:rPr>
                <a:latin typeface="+mn-lt"/>
              </a:rPr>
              <a:t>or</a:t>
            </a:r>
            <a:r>
              <a:rPr spc="-13">
                <a:latin typeface="+mn-lt"/>
              </a:rPr>
              <a:t> </a:t>
            </a:r>
            <a:r>
              <a:rPr spc="-7">
                <a:latin typeface="+mn-lt"/>
              </a:rPr>
              <a:t>adverbs.</a:t>
            </a:r>
          </a:p>
          <a:p>
            <a:pPr marL="602812" indent="-530000">
              <a:spcBef>
                <a:spcPts val="1760"/>
              </a:spcBef>
              <a:buFont typeface="Arial MT"/>
              <a:buChar char="●"/>
              <a:tabLst>
                <a:tab pos="602812" algn="l"/>
                <a:tab pos="603658" algn="l"/>
              </a:tabLst>
            </a:pPr>
            <a:r>
              <a:rPr spc="-7">
                <a:latin typeface="+mn-lt"/>
              </a:rPr>
              <a:t>Suc</a:t>
            </a:r>
            <a:r>
              <a:rPr>
                <a:latin typeface="+mn-lt"/>
              </a:rPr>
              <a:t>h</a:t>
            </a:r>
            <a:r>
              <a:rPr spc="-7">
                <a:latin typeface="+mn-lt"/>
              </a:rPr>
              <a:t> morpheme</a:t>
            </a:r>
            <a:r>
              <a:rPr>
                <a:latin typeface="+mn-lt"/>
              </a:rPr>
              <a:t>s</a:t>
            </a:r>
            <a:r>
              <a:rPr spc="-7">
                <a:latin typeface="+mn-lt"/>
              </a:rPr>
              <a:t> carr</a:t>
            </a:r>
            <a:r>
              <a:rPr>
                <a:latin typeface="+mn-lt"/>
              </a:rPr>
              <a:t>y</a:t>
            </a:r>
            <a:r>
              <a:rPr spc="-7">
                <a:latin typeface="+mn-lt"/>
              </a:rPr>
              <a:t> mos</a:t>
            </a:r>
            <a:r>
              <a:rPr>
                <a:latin typeface="+mn-lt"/>
              </a:rPr>
              <a:t>t</a:t>
            </a:r>
            <a:r>
              <a:rPr spc="-7">
                <a:latin typeface="+mn-lt"/>
              </a:rPr>
              <a:t> </a:t>
            </a:r>
            <a:r>
              <a:rPr>
                <a:latin typeface="+mn-lt"/>
              </a:rPr>
              <a:t>of </a:t>
            </a:r>
            <a:r>
              <a:rPr spc="-7">
                <a:latin typeface="+mn-lt"/>
              </a:rPr>
              <a:t>th</a:t>
            </a:r>
            <a:r>
              <a:rPr>
                <a:latin typeface="+mn-lt"/>
              </a:rPr>
              <a:t>e</a:t>
            </a:r>
            <a:r>
              <a:rPr spc="-7">
                <a:latin typeface="+mn-lt"/>
              </a:rPr>
              <a:t> </a:t>
            </a:r>
            <a:r>
              <a:rPr>
                <a:latin typeface="+mn-lt"/>
              </a:rPr>
              <a:t>‘semantic </a:t>
            </a:r>
            <a:r>
              <a:rPr spc="-7">
                <a:latin typeface="+mn-lt"/>
              </a:rPr>
              <a:t>content</a:t>
            </a:r>
            <a:r>
              <a:rPr>
                <a:latin typeface="+mn-lt"/>
              </a:rPr>
              <a:t>’</a:t>
            </a:r>
            <a:r>
              <a:rPr spc="-220">
                <a:latin typeface="+mn-lt"/>
              </a:rPr>
              <a:t> </a:t>
            </a:r>
            <a:r>
              <a:rPr>
                <a:latin typeface="+mn-lt"/>
              </a:rPr>
              <a:t>of utterances.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2967" y="674341"/>
            <a:ext cx="3226647" cy="51296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pc="7"/>
              <a:t>Bound</a:t>
            </a:r>
            <a:r>
              <a:rPr spc="-87"/>
              <a:t> </a:t>
            </a:r>
            <a:r>
              <a:rPr spc="7"/>
              <a:t>Morpheme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2795" y="1395578"/>
            <a:ext cx="11059160" cy="340745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46086" marR="7620" indent="-530000">
              <a:lnSpc>
                <a:spcPct val="150000"/>
              </a:lnSpc>
              <a:spcBef>
                <a:spcPts val="133"/>
              </a:spcBef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spc="-7">
                <a:latin typeface="+mj-lt"/>
                <a:cs typeface="Times New Roman"/>
              </a:rPr>
              <a:t>Bound</a:t>
            </a:r>
            <a:r>
              <a:rPr sz="2933" spc="253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morphemes</a:t>
            </a:r>
            <a:r>
              <a:rPr sz="2933" spc="267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are</a:t>
            </a:r>
            <a:r>
              <a:rPr sz="2933" spc="267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those</a:t>
            </a:r>
            <a:r>
              <a:rPr sz="2933" spc="267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that</a:t>
            </a:r>
            <a:r>
              <a:rPr sz="2933" spc="267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can</a:t>
            </a:r>
            <a:r>
              <a:rPr sz="2933" spc="260">
                <a:latin typeface="+mj-lt"/>
                <a:cs typeface="Times New Roman"/>
              </a:rPr>
              <a:t> </a:t>
            </a:r>
            <a:r>
              <a:rPr sz="2933">
                <a:latin typeface="+mj-lt"/>
                <a:cs typeface="Times New Roman"/>
              </a:rPr>
              <a:t>occur</a:t>
            </a:r>
            <a:r>
              <a:rPr sz="2933" spc="267">
                <a:latin typeface="+mj-lt"/>
                <a:cs typeface="Times New Roman"/>
              </a:rPr>
              <a:t> </a:t>
            </a:r>
            <a:r>
              <a:rPr sz="2933">
                <a:latin typeface="+mj-lt"/>
                <a:cs typeface="Times New Roman"/>
              </a:rPr>
              <a:t>only</a:t>
            </a:r>
            <a:r>
              <a:rPr sz="2933" spc="267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in</a:t>
            </a:r>
            <a:r>
              <a:rPr sz="2933" spc="267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combination,</a:t>
            </a:r>
            <a:r>
              <a:rPr sz="2933" spc="267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i.e. </a:t>
            </a:r>
            <a:r>
              <a:rPr sz="2933" spc="-713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they</a:t>
            </a:r>
            <a:r>
              <a:rPr sz="2933" spc="-13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are </a:t>
            </a:r>
            <a:r>
              <a:rPr sz="2933">
                <a:latin typeface="+mj-lt"/>
                <a:cs typeface="Times New Roman"/>
              </a:rPr>
              <a:t>parts of a</a:t>
            </a:r>
            <a:r>
              <a:rPr sz="2933" spc="-13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word.</a:t>
            </a:r>
            <a:endParaRPr sz="2933">
              <a:latin typeface="+mj-lt"/>
              <a:cs typeface="Times New Roman"/>
            </a:endParaRPr>
          </a:p>
          <a:p>
            <a:pPr marL="546086" marR="6773" indent="-530000">
              <a:lnSpc>
                <a:spcPct val="150000"/>
              </a:lnSpc>
              <a:buFont typeface="Arial MT"/>
              <a:buChar char="●"/>
              <a:tabLst>
                <a:tab pos="546086" algn="l"/>
                <a:tab pos="546932" algn="l"/>
                <a:tab pos="1730543" algn="l"/>
                <a:tab pos="3657509" algn="l"/>
                <a:tab pos="4882605" algn="l"/>
                <a:tab pos="6065368" algn="l"/>
                <a:tab pos="6548803" algn="l"/>
                <a:tab pos="8495241" algn="l"/>
                <a:tab pos="9351200" algn="l"/>
                <a:tab pos="9710177" algn="l"/>
                <a:tab pos="10505177" algn="l"/>
              </a:tabLst>
            </a:pPr>
            <a:r>
              <a:rPr sz="2933" spc="-7">
                <a:latin typeface="+mj-lt"/>
                <a:cs typeface="Times New Roman"/>
              </a:rPr>
              <a:t>Boun</a:t>
            </a:r>
            <a:r>
              <a:rPr sz="2933">
                <a:latin typeface="+mj-lt"/>
                <a:cs typeface="Times New Roman"/>
              </a:rPr>
              <a:t>d	</a:t>
            </a:r>
            <a:r>
              <a:rPr sz="2933" spc="-7">
                <a:latin typeface="+mj-lt"/>
                <a:cs typeface="Times New Roman"/>
              </a:rPr>
              <a:t>morpheme</a:t>
            </a:r>
            <a:r>
              <a:rPr sz="2933">
                <a:latin typeface="+mj-lt"/>
                <a:cs typeface="Times New Roman"/>
              </a:rPr>
              <a:t>s	</a:t>
            </a:r>
            <a:r>
              <a:rPr sz="2933" spc="-7">
                <a:latin typeface="+mj-lt"/>
                <a:cs typeface="Times New Roman"/>
              </a:rPr>
              <a:t>alway</a:t>
            </a:r>
            <a:r>
              <a:rPr sz="2933">
                <a:latin typeface="+mj-lt"/>
                <a:cs typeface="Times New Roman"/>
              </a:rPr>
              <a:t>s	</a:t>
            </a:r>
            <a:r>
              <a:rPr sz="2933" spc="-7">
                <a:latin typeface="+mj-lt"/>
                <a:cs typeface="Times New Roman"/>
              </a:rPr>
              <a:t>appea</a:t>
            </a:r>
            <a:r>
              <a:rPr sz="2933">
                <a:latin typeface="+mj-lt"/>
                <a:cs typeface="Times New Roman"/>
              </a:rPr>
              <a:t>r	</a:t>
            </a:r>
            <a:r>
              <a:rPr sz="2933" spc="-7">
                <a:latin typeface="+mj-lt"/>
                <a:cs typeface="Times New Roman"/>
              </a:rPr>
              <a:t>i</a:t>
            </a:r>
            <a:r>
              <a:rPr sz="2933">
                <a:latin typeface="+mj-lt"/>
                <a:cs typeface="Times New Roman"/>
              </a:rPr>
              <a:t>n	</a:t>
            </a:r>
            <a:r>
              <a:rPr sz="2933" spc="-7">
                <a:latin typeface="+mj-lt"/>
                <a:cs typeface="Times New Roman"/>
              </a:rPr>
              <a:t>conjunctio</a:t>
            </a:r>
            <a:r>
              <a:rPr sz="2933">
                <a:latin typeface="+mj-lt"/>
                <a:cs typeface="Times New Roman"/>
              </a:rPr>
              <a:t>n	</a:t>
            </a:r>
            <a:r>
              <a:rPr sz="2933" spc="-7">
                <a:latin typeface="+mj-lt"/>
                <a:cs typeface="Times New Roman"/>
              </a:rPr>
              <a:t>wit</a:t>
            </a:r>
            <a:r>
              <a:rPr sz="2933">
                <a:latin typeface="+mj-lt"/>
                <a:cs typeface="Times New Roman"/>
              </a:rPr>
              <a:t>h	a	root	</a:t>
            </a:r>
            <a:r>
              <a:rPr sz="2933" spc="-7">
                <a:latin typeface="+mj-lt"/>
                <a:cs typeface="Times New Roman"/>
              </a:rPr>
              <a:t>and  sometimes</a:t>
            </a:r>
            <a:r>
              <a:rPr sz="2933" spc="-13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with </a:t>
            </a:r>
            <a:r>
              <a:rPr sz="2933">
                <a:latin typeface="+mj-lt"/>
                <a:cs typeface="Times New Roman"/>
              </a:rPr>
              <a:t>other</a:t>
            </a:r>
            <a:r>
              <a:rPr sz="2933" spc="-7">
                <a:latin typeface="+mj-lt"/>
                <a:cs typeface="Times New Roman"/>
              </a:rPr>
              <a:t> </a:t>
            </a:r>
            <a:r>
              <a:rPr sz="2933">
                <a:latin typeface="+mj-lt"/>
                <a:cs typeface="Times New Roman"/>
              </a:rPr>
              <a:t>bound </a:t>
            </a:r>
            <a:r>
              <a:rPr sz="2933" spc="-7">
                <a:latin typeface="+mj-lt"/>
                <a:cs typeface="Times New Roman"/>
              </a:rPr>
              <a:t>morphemes.</a:t>
            </a:r>
            <a:endParaRPr sz="2933">
              <a:latin typeface="+mj-lt"/>
              <a:cs typeface="Times New Roman"/>
            </a:endParaRPr>
          </a:p>
          <a:p>
            <a:pPr marL="546086" indent="-530000">
              <a:spcBef>
                <a:spcPts val="1760"/>
              </a:spcBef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spc="-7">
                <a:latin typeface="+mj-lt"/>
                <a:cs typeface="Times New Roman"/>
              </a:rPr>
              <a:t>For</a:t>
            </a:r>
            <a:r>
              <a:rPr sz="2933" spc="-27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Example:</a:t>
            </a:r>
            <a:r>
              <a:rPr sz="2933" spc="-20">
                <a:latin typeface="+mj-lt"/>
                <a:cs typeface="Times New Roman"/>
              </a:rPr>
              <a:t> </a:t>
            </a:r>
            <a:r>
              <a:rPr sz="2933">
                <a:latin typeface="+mj-lt"/>
                <a:cs typeface="Times New Roman"/>
              </a:rPr>
              <a:t>-s,</a:t>
            </a:r>
            <a:r>
              <a:rPr sz="2933" spc="-13">
                <a:latin typeface="+mj-lt"/>
                <a:cs typeface="Times New Roman"/>
              </a:rPr>
              <a:t> </a:t>
            </a:r>
            <a:r>
              <a:rPr sz="2933" spc="-33">
                <a:latin typeface="+mj-lt"/>
                <a:cs typeface="Times New Roman"/>
              </a:rPr>
              <a:t>-er,</a:t>
            </a:r>
            <a:r>
              <a:rPr sz="2933" spc="-13">
                <a:latin typeface="+mj-lt"/>
                <a:cs typeface="Times New Roman"/>
              </a:rPr>
              <a:t> </a:t>
            </a:r>
            <a:r>
              <a:rPr sz="2933">
                <a:latin typeface="+mj-lt"/>
                <a:cs typeface="Times New Roman"/>
              </a:rPr>
              <a:t>-ing,</a:t>
            </a:r>
            <a:r>
              <a:rPr sz="2933" spc="-13">
                <a:latin typeface="+mj-lt"/>
                <a:cs typeface="Times New Roman"/>
              </a:rPr>
              <a:t> </a:t>
            </a:r>
            <a:r>
              <a:rPr sz="2933">
                <a:latin typeface="+mj-lt"/>
                <a:cs typeface="Times New Roman"/>
              </a:rPr>
              <a:t>-ment</a:t>
            </a:r>
            <a:r>
              <a:rPr sz="2933" spc="-20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etc.</a:t>
            </a:r>
            <a:endParaRPr sz="2933">
              <a:latin typeface="+mj-lt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92795" y="1484985"/>
            <a:ext cx="11046460" cy="354896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46086" marR="8466" indent="-530000">
              <a:lnSpc>
                <a:spcPct val="130000"/>
              </a:lnSpc>
              <a:spcBef>
                <a:spcPts val="133"/>
              </a:spcBef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spc="-7">
                <a:latin typeface="+mj-lt"/>
                <a:cs typeface="Times New Roman"/>
              </a:rPr>
              <a:t>Some</a:t>
            </a:r>
            <a:r>
              <a:rPr sz="2933" spc="540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morphemes</a:t>
            </a:r>
            <a:r>
              <a:rPr sz="2933" spc="540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like</a:t>
            </a:r>
            <a:r>
              <a:rPr sz="2933" spc="540">
                <a:latin typeface="+mj-lt"/>
                <a:cs typeface="Times New Roman"/>
              </a:rPr>
              <a:t> </a:t>
            </a:r>
            <a:r>
              <a:rPr sz="2933" spc="-53">
                <a:latin typeface="+mj-lt"/>
                <a:cs typeface="Times New Roman"/>
              </a:rPr>
              <a:t>boy,</a:t>
            </a:r>
            <a:r>
              <a:rPr sz="2933" spc="545">
                <a:latin typeface="+mj-lt"/>
                <a:cs typeface="Times New Roman"/>
              </a:rPr>
              <a:t> </a:t>
            </a:r>
            <a:r>
              <a:rPr sz="2933">
                <a:latin typeface="+mj-lt"/>
                <a:cs typeface="Times New Roman"/>
              </a:rPr>
              <a:t>desire,</a:t>
            </a:r>
            <a:r>
              <a:rPr sz="2933" spc="540">
                <a:latin typeface="+mj-lt"/>
                <a:cs typeface="Times New Roman"/>
              </a:rPr>
              <a:t> </a:t>
            </a:r>
            <a:r>
              <a:rPr sz="2933">
                <a:latin typeface="+mj-lt"/>
                <a:cs typeface="Times New Roman"/>
              </a:rPr>
              <a:t>gentle,</a:t>
            </a:r>
            <a:r>
              <a:rPr sz="2933" spc="545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and</a:t>
            </a:r>
            <a:r>
              <a:rPr sz="2933" spc="540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man</a:t>
            </a:r>
            <a:r>
              <a:rPr sz="2933" spc="540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may</a:t>
            </a:r>
            <a:r>
              <a:rPr sz="2933" spc="540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constitute </a:t>
            </a:r>
            <a:r>
              <a:rPr sz="2933" spc="-713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words</a:t>
            </a:r>
            <a:r>
              <a:rPr sz="2933" spc="-13">
                <a:latin typeface="+mj-lt"/>
                <a:cs typeface="Times New Roman"/>
              </a:rPr>
              <a:t> </a:t>
            </a:r>
            <a:r>
              <a:rPr sz="2933">
                <a:latin typeface="+mj-lt"/>
                <a:cs typeface="Times New Roman"/>
              </a:rPr>
              <a:t>by </a:t>
            </a:r>
            <a:r>
              <a:rPr sz="2933" spc="-7">
                <a:latin typeface="+mj-lt"/>
                <a:cs typeface="Times New Roman"/>
              </a:rPr>
              <a:t>themselves.</a:t>
            </a:r>
            <a:endParaRPr sz="2933">
              <a:latin typeface="+mj-lt"/>
              <a:cs typeface="Times New Roman"/>
            </a:endParaRPr>
          </a:p>
          <a:p>
            <a:pPr marL="546086" indent="-530000">
              <a:spcBef>
                <a:spcPts val="1053"/>
              </a:spcBef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spc="-7">
                <a:latin typeface="+mj-lt"/>
                <a:cs typeface="Times New Roman"/>
              </a:rPr>
              <a:t>These</a:t>
            </a:r>
            <a:r>
              <a:rPr sz="2933" spc="-40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are</a:t>
            </a:r>
            <a:r>
              <a:rPr sz="2933" spc="-33">
                <a:latin typeface="+mj-lt"/>
                <a:cs typeface="Times New Roman"/>
              </a:rPr>
              <a:t> </a:t>
            </a:r>
            <a:r>
              <a:rPr sz="2933">
                <a:latin typeface="+mj-lt"/>
                <a:cs typeface="Times New Roman"/>
              </a:rPr>
              <a:t>free</a:t>
            </a:r>
            <a:r>
              <a:rPr sz="2933" spc="-27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morphemes.</a:t>
            </a:r>
            <a:endParaRPr sz="2933">
              <a:latin typeface="+mj-lt"/>
              <a:cs typeface="Times New Roman"/>
            </a:endParaRPr>
          </a:p>
          <a:p>
            <a:pPr marL="546086" marR="6773" indent="-530000">
              <a:lnSpc>
                <a:spcPct val="130000"/>
              </a:lnSpc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spc="-7">
                <a:latin typeface="+mj-lt"/>
                <a:cs typeface="Times New Roman"/>
              </a:rPr>
              <a:t>Other</a:t>
            </a:r>
            <a:r>
              <a:rPr sz="2933" spc="267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morphemes</a:t>
            </a:r>
            <a:r>
              <a:rPr sz="2933" spc="260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like</a:t>
            </a:r>
            <a:r>
              <a:rPr sz="2933" spc="260">
                <a:latin typeface="+mj-lt"/>
                <a:cs typeface="Times New Roman"/>
              </a:rPr>
              <a:t> </a:t>
            </a:r>
            <a:r>
              <a:rPr sz="2933">
                <a:latin typeface="+mj-lt"/>
                <a:cs typeface="Times New Roman"/>
              </a:rPr>
              <a:t>-ish,</a:t>
            </a:r>
            <a:r>
              <a:rPr sz="2933" spc="267">
                <a:latin typeface="+mj-lt"/>
                <a:cs typeface="Times New Roman"/>
              </a:rPr>
              <a:t> </a:t>
            </a:r>
            <a:r>
              <a:rPr sz="2933">
                <a:latin typeface="+mj-lt"/>
                <a:cs typeface="Times New Roman"/>
              </a:rPr>
              <a:t>-ness,</a:t>
            </a:r>
            <a:r>
              <a:rPr sz="2933" spc="267">
                <a:latin typeface="+mj-lt"/>
                <a:cs typeface="Times New Roman"/>
              </a:rPr>
              <a:t> </a:t>
            </a:r>
            <a:r>
              <a:rPr sz="2933" spc="-53">
                <a:latin typeface="+mj-lt"/>
                <a:cs typeface="Times New Roman"/>
              </a:rPr>
              <a:t>-ly,</a:t>
            </a:r>
            <a:r>
              <a:rPr sz="2933" spc="267">
                <a:latin typeface="+mj-lt"/>
                <a:cs typeface="Times New Roman"/>
              </a:rPr>
              <a:t> </a:t>
            </a:r>
            <a:r>
              <a:rPr sz="2933">
                <a:latin typeface="+mj-lt"/>
                <a:cs typeface="Times New Roman"/>
              </a:rPr>
              <a:t>pre-,</a:t>
            </a:r>
            <a:r>
              <a:rPr sz="2933" spc="267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trans-,</a:t>
            </a:r>
            <a:r>
              <a:rPr sz="2933" spc="260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and</a:t>
            </a:r>
            <a:r>
              <a:rPr sz="2933" spc="260">
                <a:latin typeface="+mj-lt"/>
                <a:cs typeface="Times New Roman"/>
              </a:rPr>
              <a:t> </a:t>
            </a:r>
            <a:r>
              <a:rPr sz="2933">
                <a:latin typeface="+mj-lt"/>
                <a:cs typeface="Times New Roman"/>
              </a:rPr>
              <a:t>un-</a:t>
            </a:r>
            <a:r>
              <a:rPr sz="2933" spc="267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are</a:t>
            </a:r>
            <a:r>
              <a:rPr sz="2933" spc="260">
                <a:latin typeface="+mj-lt"/>
                <a:cs typeface="Times New Roman"/>
              </a:rPr>
              <a:t> </a:t>
            </a:r>
            <a:r>
              <a:rPr sz="2933">
                <a:latin typeface="+mj-lt"/>
                <a:cs typeface="Times New Roman"/>
              </a:rPr>
              <a:t>never </a:t>
            </a:r>
            <a:r>
              <a:rPr sz="2933" spc="-713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words</a:t>
            </a:r>
            <a:r>
              <a:rPr sz="2933" spc="-13">
                <a:latin typeface="+mj-lt"/>
                <a:cs typeface="Times New Roman"/>
              </a:rPr>
              <a:t> </a:t>
            </a:r>
            <a:r>
              <a:rPr sz="2933">
                <a:latin typeface="+mj-lt"/>
                <a:cs typeface="Times New Roman"/>
              </a:rPr>
              <a:t>by </a:t>
            </a:r>
            <a:r>
              <a:rPr sz="2933" spc="-7">
                <a:latin typeface="+mj-lt"/>
                <a:cs typeface="Times New Roman"/>
              </a:rPr>
              <a:t>themselves</a:t>
            </a:r>
            <a:r>
              <a:rPr sz="2933" spc="-13">
                <a:latin typeface="+mj-lt"/>
                <a:cs typeface="Times New Roman"/>
              </a:rPr>
              <a:t> </a:t>
            </a:r>
            <a:r>
              <a:rPr sz="2933">
                <a:latin typeface="+mj-lt"/>
                <a:cs typeface="Times New Roman"/>
              </a:rPr>
              <a:t>but </a:t>
            </a:r>
            <a:r>
              <a:rPr sz="2933" spc="-7">
                <a:latin typeface="+mj-lt"/>
                <a:cs typeface="Times New Roman"/>
              </a:rPr>
              <a:t>are</a:t>
            </a:r>
            <a:r>
              <a:rPr sz="2933" spc="-13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always </a:t>
            </a:r>
            <a:r>
              <a:rPr sz="2933">
                <a:latin typeface="+mj-lt"/>
                <a:cs typeface="Times New Roman"/>
              </a:rPr>
              <a:t>parts of</a:t>
            </a:r>
            <a:r>
              <a:rPr sz="2933" spc="-7">
                <a:latin typeface="+mj-lt"/>
                <a:cs typeface="Times New Roman"/>
              </a:rPr>
              <a:t> words.</a:t>
            </a:r>
            <a:endParaRPr sz="2933">
              <a:latin typeface="+mj-lt"/>
              <a:cs typeface="Times New Roman"/>
            </a:endParaRPr>
          </a:p>
          <a:p>
            <a:pPr marL="546086" indent="-530000">
              <a:spcBef>
                <a:spcPts val="1053"/>
              </a:spcBef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spc="-7">
                <a:latin typeface="+mj-lt"/>
                <a:cs typeface="Times New Roman"/>
              </a:rPr>
              <a:t>These</a:t>
            </a:r>
            <a:r>
              <a:rPr sz="2933" spc="-27">
                <a:latin typeface="+mj-lt"/>
                <a:cs typeface="Times New Roman"/>
              </a:rPr>
              <a:t> </a:t>
            </a:r>
            <a:r>
              <a:rPr sz="2933" spc="-13">
                <a:latin typeface="+mj-lt"/>
                <a:cs typeface="Times New Roman"/>
              </a:rPr>
              <a:t>affixes</a:t>
            </a:r>
            <a:r>
              <a:rPr sz="2933" spc="-20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are</a:t>
            </a:r>
            <a:r>
              <a:rPr sz="2933" spc="-20">
                <a:latin typeface="+mj-lt"/>
                <a:cs typeface="Times New Roman"/>
              </a:rPr>
              <a:t> </a:t>
            </a:r>
            <a:r>
              <a:rPr sz="2933">
                <a:latin typeface="+mj-lt"/>
                <a:cs typeface="Times New Roman"/>
              </a:rPr>
              <a:t>bound</a:t>
            </a:r>
            <a:r>
              <a:rPr sz="2933" spc="-20">
                <a:latin typeface="+mj-lt"/>
                <a:cs typeface="Times New Roman"/>
              </a:rPr>
              <a:t> </a:t>
            </a:r>
            <a:r>
              <a:rPr sz="2933" spc="-7">
                <a:latin typeface="+mj-lt"/>
                <a:cs typeface="Times New Roman"/>
              </a:rPr>
              <a:t>morphemes.</a:t>
            </a:r>
            <a:endParaRPr sz="2933">
              <a:latin typeface="+mj-lt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FAF30-4FAD-F61F-B134-53A7B136A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Types of morphemes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FE04C-BA08-A49F-17D1-58B8FA067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u="sng"/>
              <a:t>Allomorphs </a:t>
            </a:r>
          </a:p>
          <a:p>
            <a:pPr marL="0" indent="0">
              <a:buNone/>
            </a:pPr>
            <a:r>
              <a:rPr lang="en-US" b="1"/>
              <a:t>Variants of the same morpheme, but can not be replaced by one another.</a:t>
            </a:r>
          </a:p>
          <a:p>
            <a:pPr marL="0" indent="0">
              <a:buNone/>
            </a:pPr>
            <a:r>
              <a:rPr lang="en-US" b="1"/>
              <a:t>Example: opposite:</a:t>
            </a:r>
          </a:p>
          <a:p>
            <a:pPr marL="0" indent="0">
              <a:buNone/>
            </a:pPr>
            <a:r>
              <a:rPr lang="en-US" b="1"/>
              <a:t>   un-happy</a:t>
            </a:r>
          </a:p>
          <a:p>
            <a:pPr marL="0" indent="0">
              <a:buNone/>
            </a:pPr>
            <a:r>
              <a:rPr lang="en-US" b="1"/>
              <a:t>   in-comprehensible</a:t>
            </a:r>
          </a:p>
          <a:p>
            <a:pPr marL="0" indent="0">
              <a:buNone/>
            </a:pPr>
            <a:r>
              <a:rPr lang="en-US" b="1"/>
              <a:t>   im- possible</a:t>
            </a:r>
          </a:p>
          <a:p>
            <a:pPr marL="0" indent="0">
              <a:buNone/>
            </a:pPr>
            <a:r>
              <a:rPr lang="en-US" b="1"/>
              <a:t>   </a:t>
            </a:r>
            <a:r>
              <a:rPr lang="en-US" b="1" err="1"/>
              <a:t>ir</a:t>
            </a:r>
            <a:r>
              <a:rPr lang="en-US" b="1"/>
              <a:t>- rational</a:t>
            </a:r>
          </a:p>
          <a:p>
            <a:r>
              <a:rPr lang="en-US" b="1" u="sng"/>
              <a:t>Bound and free morphemes</a:t>
            </a:r>
          </a:p>
          <a:p>
            <a:pPr marL="514350" indent="-514350">
              <a:buAutoNum type="arabicPeriod"/>
            </a:pPr>
            <a:r>
              <a:rPr lang="en-US" b="1"/>
              <a:t>Bound </a:t>
            </a:r>
          </a:p>
          <a:p>
            <a:pPr marL="0" indent="0">
              <a:buNone/>
            </a:pPr>
            <a:r>
              <a:rPr lang="en-US" b="1"/>
              <a:t>  can not appear as a word by itself</a:t>
            </a:r>
          </a:p>
          <a:p>
            <a:pPr marL="0" indent="0">
              <a:buNone/>
            </a:pPr>
            <a:r>
              <a:rPr lang="en-IN" b="1"/>
              <a:t>  -s (dog-s), -</a:t>
            </a:r>
            <a:r>
              <a:rPr lang="en-IN" b="1" err="1"/>
              <a:t>ly</a:t>
            </a:r>
            <a:r>
              <a:rPr lang="en-IN" b="1"/>
              <a:t> (quick-</a:t>
            </a:r>
            <a:r>
              <a:rPr lang="en-IN" b="1" err="1"/>
              <a:t>ly</a:t>
            </a:r>
            <a:r>
              <a:rPr lang="en-IN" b="1"/>
              <a:t>), -ed (walk-ed)</a:t>
            </a:r>
          </a:p>
          <a:p>
            <a:pPr marL="0" indent="0">
              <a:buNone/>
            </a:pP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40675921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957A1-5759-6AF0-90D8-E2AB41AA1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73" y="357808"/>
            <a:ext cx="11396869" cy="6162261"/>
          </a:xfrm>
        </p:spPr>
        <p:txBody>
          <a:bodyPr/>
          <a:lstStyle/>
          <a:p>
            <a:pPr marL="0" indent="0">
              <a:buNone/>
            </a:pPr>
            <a:r>
              <a:rPr lang="en-IN" b="1"/>
              <a:t>2. Free morphemes</a:t>
            </a:r>
          </a:p>
          <a:p>
            <a:pPr marL="0" indent="0">
              <a:buNone/>
            </a:pPr>
            <a:r>
              <a:rPr lang="en-IN" b="1"/>
              <a:t>     Can appear as a word by itself; often can combine with other morphemes too.</a:t>
            </a:r>
          </a:p>
          <a:p>
            <a:pPr marL="0" indent="0">
              <a:buNone/>
            </a:pPr>
            <a:r>
              <a:rPr lang="en-IN" b="1"/>
              <a:t> </a:t>
            </a:r>
            <a:r>
              <a:rPr lang="en-IN" b="1" err="1"/>
              <a:t>eg.</a:t>
            </a:r>
            <a:r>
              <a:rPr lang="en-IN" b="1"/>
              <a:t>   house (house-s), walk (walk-ed), of, the, or</a:t>
            </a:r>
          </a:p>
        </p:txBody>
      </p:sp>
    </p:spTree>
    <p:extLst>
      <p:ext uri="{BB962C8B-B14F-4D97-AF65-F5344CB8AC3E}">
        <p14:creationId xmlns:p14="http://schemas.microsoft.com/office/powerpoint/2010/main" val="11621564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CBEB9-4C0F-6803-ACDD-49ACE6885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Stems and affixes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2D01D-2415-102F-491F-338205F36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304" y="1825625"/>
            <a:ext cx="11022496" cy="4351338"/>
          </a:xfrm>
        </p:spPr>
        <p:txBody>
          <a:bodyPr/>
          <a:lstStyle/>
          <a:p>
            <a:r>
              <a:rPr lang="en-IN" b="1"/>
              <a:t>Stems (roots): The core meaning bearing units</a:t>
            </a:r>
          </a:p>
          <a:p>
            <a:r>
              <a:rPr lang="en-IN" b="1"/>
              <a:t>Affixes : Bits and pieces adhering to stems to change their meanings and grammatical functions</a:t>
            </a:r>
          </a:p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r>
              <a:rPr lang="en-IN" b="1"/>
              <a:t>*Mostly, stems are free morphemes and affixes are bound morphemes.</a:t>
            </a:r>
          </a:p>
        </p:txBody>
      </p:sp>
    </p:spTree>
    <p:extLst>
      <p:ext uri="{BB962C8B-B14F-4D97-AF65-F5344CB8AC3E}">
        <p14:creationId xmlns:p14="http://schemas.microsoft.com/office/powerpoint/2010/main" val="5040219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B9C7-6BA9-8073-2408-634676321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4562"/>
          </a:xfrm>
        </p:spPr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Types of affixes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19D07-D7AF-54E8-97AF-62677B272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675861"/>
            <a:ext cx="11516138" cy="601648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b="1">
                <a:solidFill>
                  <a:srgbClr val="002060"/>
                </a:solidFill>
              </a:rPr>
              <a:t>1. Prefix : precede the stem</a:t>
            </a:r>
          </a:p>
          <a:p>
            <a:pPr marL="0" indent="0" algn="just">
              <a:buNone/>
            </a:pPr>
            <a:r>
              <a:rPr lang="en-IN" b="1"/>
              <a:t>    In English-&gt;un-, anti- etc</a:t>
            </a:r>
          </a:p>
          <a:p>
            <a:pPr marL="0" indent="0" algn="just">
              <a:buNone/>
            </a:pPr>
            <a:r>
              <a:rPr lang="en-IN" b="1"/>
              <a:t>    In Sanskrit -&gt;a-, </a:t>
            </a:r>
            <a:r>
              <a:rPr lang="en-IN" b="1" err="1"/>
              <a:t>ati</a:t>
            </a:r>
            <a:r>
              <a:rPr lang="en-IN" b="1"/>
              <a:t>-, </a:t>
            </a:r>
            <a:r>
              <a:rPr lang="en-IN" b="1" err="1"/>
              <a:t>pra</a:t>
            </a:r>
            <a:r>
              <a:rPr lang="en-IN" b="1"/>
              <a:t>-</a:t>
            </a:r>
          </a:p>
          <a:p>
            <a:pPr marL="0" indent="0" algn="just">
              <a:buNone/>
            </a:pPr>
            <a:r>
              <a:rPr lang="en-IN" b="1"/>
              <a:t>    e.g. un-happy, pre- existing</a:t>
            </a:r>
          </a:p>
          <a:p>
            <a:pPr marL="0" indent="0" algn="just">
              <a:buNone/>
            </a:pPr>
            <a:r>
              <a:rPr lang="en-IN" b="1">
                <a:solidFill>
                  <a:srgbClr val="002060"/>
                </a:solidFill>
              </a:rPr>
              <a:t>2. Suffix : follow the stem</a:t>
            </a:r>
          </a:p>
          <a:p>
            <a:pPr marL="0" indent="0" algn="just">
              <a:buNone/>
            </a:pPr>
            <a:r>
              <a:rPr lang="en-IN" b="1"/>
              <a:t>      In English-&gt; -</a:t>
            </a:r>
            <a:r>
              <a:rPr lang="en-IN" b="1" err="1"/>
              <a:t>ity</a:t>
            </a:r>
            <a:r>
              <a:rPr lang="en-IN" b="1"/>
              <a:t>, -</a:t>
            </a:r>
            <a:r>
              <a:rPr lang="en-IN" b="1" err="1"/>
              <a:t>ation</a:t>
            </a:r>
            <a:r>
              <a:rPr lang="en-IN" b="1"/>
              <a:t> etc</a:t>
            </a:r>
          </a:p>
          <a:p>
            <a:pPr marL="0" indent="0" algn="just">
              <a:buNone/>
            </a:pPr>
            <a:r>
              <a:rPr lang="en-IN" b="1"/>
              <a:t>      In Hindi -&gt; -</a:t>
            </a:r>
            <a:r>
              <a:rPr lang="en-IN" b="1" err="1"/>
              <a:t>taa</a:t>
            </a:r>
            <a:r>
              <a:rPr lang="en-IN" b="1"/>
              <a:t>, -</a:t>
            </a:r>
            <a:r>
              <a:rPr lang="en-IN" b="1" err="1"/>
              <a:t>ke</a:t>
            </a:r>
            <a:r>
              <a:rPr lang="en-IN" b="1"/>
              <a:t>, -ka etc</a:t>
            </a:r>
          </a:p>
          <a:p>
            <a:pPr marL="0" indent="0" algn="just">
              <a:buNone/>
            </a:pPr>
            <a:r>
              <a:rPr lang="en-IN" b="1"/>
              <a:t>      e.g. talk-</a:t>
            </a:r>
            <a:r>
              <a:rPr lang="en-IN" b="1" err="1"/>
              <a:t>ing</a:t>
            </a:r>
            <a:r>
              <a:rPr lang="en-IN" b="1"/>
              <a:t>, quick-</a:t>
            </a:r>
            <a:r>
              <a:rPr lang="en-IN" b="1" err="1"/>
              <a:t>ly</a:t>
            </a:r>
            <a:endParaRPr lang="en-IN" b="1"/>
          </a:p>
          <a:p>
            <a:pPr marL="0" indent="0" algn="just">
              <a:buNone/>
            </a:pPr>
            <a:r>
              <a:rPr lang="en-IN" b="1">
                <a:solidFill>
                  <a:srgbClr val="002060"/>
                </a:solidFill>
              </a:rPr>
              <a:t>3. circumfixes: do both</a:t>
            </a:r>
          </a:p>
          <a:p>
            <a:pPr marL="0" indent="0" algn="just">
              <a:buNone/>
            </a:pPr>
            <a:r>
              <a:rPr lang="en-IN" b="1"/>
              <a:t>      In German, the past parti</a:t>
            </a:r>
            <a:r>
              <a:rPr lang="en-US" b="1" err="1"/>
              <a:t>ciple</a:t>
            </a:r>
            <a:r>
              <a:rPr lang="en-US" b="1"/>
              <a:t> of some verbs is formed by adding </a:t>
            </a:r>
            <a:r>
              <a:rPr lang="en-US" b="1" err="1"/>
              <a:t>ge</a:t>
            </a:r>
            <a:r>
              <a:rPr lang="en-US" b="1"/>
              <a:t>- to the beginning of the stem and -t to the end; so the past participle of the verb </a:t>
            </a:r>
            <a:r>
              <a:rPr lang="en-US" b="1" err="1"/>
              <a:t>sagen</a:t>
            </a:r>
            <a:r>
              <a:rPr lang="en-US" b="1"/>
              <a:t> (to say) is </a:t>
            </a:r>
            <a:r>
              <a:rPr lang="en-US" b="1" err="1"/>
              <a:t>gesagt</a:t>
            </a:r>
            <a:r>
              <a:rPr lang="en-US" b="1"/>
              <a:t> (said). </a:t>
            </a:r>
          </a:p>
          <a:p>
            <a:pPr marL="0" indent="0" algn="just">
              <a:buNone/>
            </a:pPr>
            <a:r>
              <a:rPr lang="en-IN" b="1">
                <a:solidFill>
                  <a:srgbClr val="002060"/>
                </a:solidFill>
              </a:rPr>
              <a:t>4. infix: inserted inside the stem</a:t>
            </a:r>
          </a:p>
          <a:p>
            <a:pPr marL="0" indent="0" algn="just">
              <a:buNone/>
            </a:pPr>
            <a:r>
              <a:rPr lang="en-IN" b="1"/>
              <a:t>       In Sanskrit: ‘n’ in </a:t>
            </a:r>
            <a:r>
              <a:rPr lang="en-IN" b="1" err="1"/>
              <a:t>vindati</a:t>
            </a:r>
            <a:r>
              <a:rPr lang="en-IN" b="1"/>
              <a:t> (he knows), as contrasted with vid (to know)</a:t>
            </a:r>
          </a:p>
        </p:txBody>
      </p:sp>
    </p:spTree>
    <p:extLst>
      <p:ext uri="{BB962C8B-B14F-4D97-AF65-F5344CB8AC3E}">
        <p14:creationId xmlns:p14="http://schemas.microsoft.com/office/powerpoint/2010/main" val="25119829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E825E-1901-C695-9F90-45451098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7E23F-1CC5-8A66-E734-517350A38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/>
              <a:t>A word can have more than one affix.</a:t>
            </a:r>
          </a:p>
          <a:p>
            <a:r>
              <a:rPr lang="en-IN" b="1"/>
              <a:t> </a:t>
            </a:r>
            <a:r>
              <a:rPr lang="en-IN" b="1" err="1"/>
              <a:t>eg.</a:t>
            </a:r>
            <a:r>
              <a:rPr lang="en-IN" b="1"/>
              <a:t> Rewrites(re-, write), unbelievably( un- , -able, -</a:t>
            </a:r>
            <a:r>
              <a:rPr lang="en-IN" b="1" err="1"/>
              <a:t>ly</a:t>
            </a:r>
            <a:r>
              <a:rPr lang="en-IN" b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370887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F53CA-45D9-A09E-8FC4-BE3D48A51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A2A92-304C-90BF-3344-0CFDFF5C2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There are many ways to combine morphemes to create words.</a:t>
            </a:r>
          </a:p>
          <a:p>
            <a:r>
              <a:rPr lang="en-US" b="1"/>
              <a:t>There are 4 methods which are common in speech and language processing:</a:t>
            </a:r>
          </a:p>
          <a:p>
            <a:pPr marL="514350" indent="-514350">
              <a:buAutoNum type="arabicPeriod"/>
            </a:pPr>
            <a:r>
              <a:rPr lang="en-US" b="1"/>
              <a:t>Inflection</a:t>
            </a:r>
          </a:p>
          <a:p>
            <a:pPr marL="514350" indent="-514350">
              <a:buAutoNum type="arabicPeriod"/>
            </a:pPr>
            <a:r>
              <a:rPr lang="en-US" b="1"/>
              <a:t>Derivation</a:t>
            </a:r>
          </a:p>
          <a:p>
            <a:pPr marL="514350" indent="-514350">
              <a:buAutoNum type="arabicPeriod"/>
            </a:pPr>
            <a:r>
              <a:rPr lang="en-US" b="1"/>
              <a:t>Compounding</a:t>
            </a:r>
          </a:p>
          <a:p>
            <a:pPr marL="514350" indent="-514350">
              <a:buAutoNum type="arabicPeriod"/>
            </a:pPr>
            <a:r>
              <a:rPr lang="en-US" b="1"/>
              <a:t>Cliticization 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31733529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8A49F0-708C-30F0-D3F3-894B10A37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89772"/>
            <a:ext cx="9144000" cy="2387600"/>
          </a:xfrm>
        </p:spPr>
        <p:txBody>
          <a:bodyPr/>
          <a:lstStyle/>
          <a:p>
            <a:r>
              <a:rPr lang="en-IN" b="1">
                <a:solidFill>
                  <a:srgbClr val="C00000"/>
                </a:solidFill>
              </a:rPr>
              <a:t>Inflectional and Derivational Morphology</a:t>
            </a:r>
          </a:p>
        </p:txBody>
      </p:sp>
    </p:spTree>
    <p:extLst>
      <p:ext uri="{BB962C8B-B14F-4D97-AF65-F5344CB8AC3E}">
        <p14:creationId xmlns:p14="http://schemas.microsoft.com/office/powerpoint/2010/main" val="38066097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2967" y="287169"/>
            <a:ext cx="7277100" cy="518155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20"/>
              </a:spcBef>
            </a:pPr>
            <a:r>
              <a:rPr sz="3267" b="1" spc="-13">
                <a:solidFill>
                  <a:srgbClr val="FF0000"/>
                </a:solidFill>
              </a:rPr>
              <a:t>Open</a:t>
            </a:r>
            <a:r>
              <a:rPr sz="3267" b="1" spc="-20">
                <a:solidFill>
                  <a:srgbClr val="FF0000"/>
                </a:solidFill>
              </a:rPr>
              <a:t> </a:t>
            </a:r>
            <a:r>
              <a:rPr sz="3267" b="1" spc="-13">
                <a:solidFill>
                  <a:srgbClr val="FF0000"/>
                </a:solidFill>
              </a:rPr>
              <a:t>class</a:t>
            </a:r>
            <a:r>
              <a:rPr sz="3267" b="1" spc="-20">
                <a:solidFill>
                  <a:srgbClr val="FF0000"/>
                </a:solidFill>
              </a:rPr>
              <a:t> </a:t>
            </a:r>
            <a:r>
              <a:rPr sz="3267" b="1" spc="-13">
                <a:solidFill>
                  <a:srgbClr val="FF0000"/>
                </a:solidFill>
              </a:rPr>
              <a:t>words and Closed class</a:t>
            </a:r>
            <a:r>
              <a:rPr sz="3267" b="1" spc="-20">
                <a:solidFill>
                  <a:srgbClr val="FF0000"/>
                </a:solidFill>
              </a:rPr>
              <a:t> words</a:t>
            </a:r>
            <a:endParaRPr sz="3267" b="1">
              <a:solidFill>
                <a:srgbClr val="FF0000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2636" y="1322845"/>
            <a:ext cx="11486727" cy="4680491"/>
          </a:xfrm>
          <a:prstGeom prst="rect">
            <a:avLst/>
          </a:prstGeom>
        </p:spPr>
        <p:txBody>
          <a:bodyPr vert="horz" wrap="square" lIns="0" tIns="240453" rIns="0" bIns="0" rtlCol="0">
            <a:spAutoFit/>
          </a:bodyPr>
          <a:lstStyle/>
          <a:p>
            <a:pPr marL="546086" indent="-530000" algn="just">
              <a:spcBef>
                <a:spcPts val="1893"/>
              </a:spcBef>
              <a:buFont typeface="Arial MT"/>
              <a:buChar char="●"/>
              <a:tabLst>
                <a:tab pos="546932" algn="l"/>
              </a:tabLst>
            </a:pPr>
            <a:r>
              <a:rPr sz="2933" spc="-73">
                <a:latin typeface="Times New Roman"/>
                <a:cs typeface="Times New Roman"/>
              </a:rPr>
              <a:t>Two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groups: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lexical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(or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content)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and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function</a:t>
            </a:r>
            <a:r>
              <a:rPr sz="2933" spc="-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(or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grammatical)</a:t>
            </a:r>
            <a:r>
              <a:rPr sz="2933" spc="-7">
                <a:latin typeface="Times New Roman"/>
                <a:cs typeface="Times New Roman"/>
              </a:rPr>
              <a:t> words.</a:t>
            </a:r>
            <a:endParaRPr sz="2933">
              <a:latin typeface="Times New Roman"/>
              <a:cs typeface="Times New Roman"/>
            </a:endParaRPr>
          </a:p>
          <a:p>
            <a:pPr marL="546086" marR="10160" indent="-530000" algn="just">
              <a:lnSpc>
                <a:spcPct val="150000"/>
              </a:lnSpc>
              <a:buFont typeface="Arial MT"/>
              <a:buChar char="●"/>
              <a:tabLst>
                <a:tab pos="546932" algn="l"/>
              </a:tabLst>
            </a:pPr>
            <a:r>
              <a:rPr sz="2933" spc="-7">
                <a:latin typeface="Times New Roman"/>
                <a:cs typeface="Times New Roman"/>
              </a:rPr>
              <a:t>Lexical words are called </a:t>
            </a:r>
            <a:r>
              <a:rPr sz="2933">
                <a:latin typeface="Times New Roman"/>
                <a:cs typeface="Times New Roman"/>
              </a:rPr>
              <a:t>open </a:t>
            </a:r>
            <a:r>
              <a:rPr sz="2933" spc="-7">
                <a:latin typeface="Times New Roman"/>
                <a:cs typeface="Times New Roman"/>
              </a:rPr>
              <a:t>class words and include </a:t>
            </a:r>
            <a:r>
              <a:rPr sz="2933">
                <a:latin typeface="Times New Roman"/>
                <a:cs typeface="Times New Roman"/>
              </a:rPr>
              <a:t>nouns, verbs, </a:t>
            </a:r>
            <a:r>
              <a:rPr sz="2933" spc="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adjectives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and adverbs.</a:t>
            </a:r>
            <a:endParaRPr sz="2933">
              <a:latin typeface="Times New Roman"/>
              <a:cs typeface="Times New Roman"/>
            </a:endParaRPr>
          </a:p>
          <a:p>
            <a:pPr marL="546086" indent="-530000" algn="just">
              <a:spcBef>
                <a:spcPts val="1760"/>
              </a:spcBef>
              <a:buFont typeface="Arial MT"/>
              <a:buChar char="●"/>
              <a:tabLst>
                <a:tab pos="546932" algn="l"/>
              </a:tabLst>
            </a:pPr>
            <a:r>
              <a:rPr sz="2933" spc="-7">
                <a:latin typeface="Times New Roman"/>
                <a:cs typeface="Times New Roman"/>
              </a:rPr>
              <a:t>New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words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can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regularly</a:t>
            </a:r>
            <a:r>
              <a:rPr sz="2933" spc="-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be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added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to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this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group.</a:t>
            </a:r>
          </a:p>
          <a:p>
            <a:pPr marL="546086" marR="6773" indent="-530000" algn="just">
              <a:lnSpc>
                <a:spcPct val="150000"/>
              </a:lnSpc>
              <a:buFont typeface="Arial MT"/>
              <a:buChar char="●"/>
              <a:tabLst>
                <a:tab pos="546932" algn="l"/>
              </a:tabLst>
            </a:pPr>
            <a:r>
              <a:rPr sz="2933" spc="-7">
                <a:latin typeface="Times New Roman"/>
                <a:cs typeface="Times New Roman"/>
              </a:rPr>
              <a:t>Function words, </a:t>
            </a:r>
            <a:r>
              <a:rPr sz="2933">
                <a:latin typeface="Times New Roman"/>
                <a:cs typeface="Times New Roman"/>
              </a:rPr>
              <a:t>or </a:t>
            </a:r>
            <a:r>
              <a:rPr sz="2933" spc="-7">
                <a:latin typeface="Times New Roman"/>
                <a:cs typeface="Times New Roman"/>
              </a:rPr>
              <a:t>closed class words, are conjunctions, </a:t>
            </a:r>
            <a:r>
              <a:rPr sz="2933">
                <a:latin typeface="Times New Roman"/>
                <a:cs typeface="Times New Roman"/>
              </a:rPr>
              <a:t>prepositions, </a:t>
            </a:r>
            <a:r>
              <a:rPr sz="2933" spc="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articles and </a:t>
            </a:r>
            <a:r>
              <a:rPr sz="2933">
                <a:latin typeface="Times New Roman"/>
                <a:cs typeface="Times New Roman"/>
              </a:rPr>
              <a:t>pronouns; </a:t>
            </a:r>
            <a:r>
              <a:rPr sz="2933" spc="-7">
                <a:latin typeface="Times New Roman"/>
                <a:cs typeface="Times New Roman"/>
              </a:rPr>
              <a:t>and </a:t>
            </a:r>
            <a:r>
              <a:rPr sz="2933">
                <a:latin typeface="Times New Roman"/>
                <a:cs typeface="Times New Roman"/>
              </a:rPr>
              <a:t>new </a:t>
            </a:r>
            <a:r>
              <a:rPr sz="2933" spc="-7">
                <a:latin typeface="Times New Roman"/>
                <a:cs typeface="Times New Roman"/>
              </a:rPr>
              <a:t>words cannot </a:t>
            </a:r>
            <a:r>
              <a:rPr sz="2933">
                <a:latin typeface="Times New Roman"/>
                <a:cs typeface="Times New Roman"/>
              </a:rPr>
              <a:t>be (or </a:t>
            </a:r>
            <a:r>
              <a:rPr sz="2933" spc="-7">
                <a:latin typeface="Times New Roman"/>
                <a:cs typeface="Times New Roman"/>
              </a:rPr>
              <a:t>are </a:t>
            </a:r>
            <a:r>
              <a:rPr sz="2933">
                <a:latin typeface="Times New Roman"/>
                <a:cs typeface="Times New Roman"/>
              </a:rPr>
              <a:t>very rarely) </a:t>
            </a:r>
            <a:r>
              <a:rPr sz="2933" spc="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added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to this class.</a:t>
            </a:r>
            <a:endParaRPr sz="293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92795" y="228075"/>
            <a:ext cx="11066779" cy="571949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46086" marR="8466" indent="-530000" algn="just">
              <a:lnSpc>
                <a:spcPct val="114999"/>
              </a:lnSpc>
              <a:spcBef>
                <a:spcPts val="133"/>
              </a:spcBef>
              <a:buFont typeface="Arial MT"/>
              <a:buChar char="●"/>
              <a:tabLst>
                <a:tab pos="546932" algn="l"/>
              </a:tabLst>
            </a:pPr>
            <a:r>
              <a:rPr sz="2933" spc="-7">
                <a:latin typeface="Times New Roman"/>
                <a:cs typeface="Times New Roman"/>
              </a:rPr>
              <a:t>Some word classes are OPEN, that is, </a:t>
            </a:r>
            <a:r>
              <a:rPr sz="2933">
                <a:latin typeface="Times New Roman"/>
                <a:cs typeface="Times New Roman"/>
              </a:rPr>
              <a:t>new </a:t>
            </a:r>
            <a:r>
              <a:rPr sz="2933" spc="-7">
                <a:latin typeface="Times New Roman"/>
                <a:cs typeface="Times New Roman"/>
              </a:rPr>
              <a:t>words can </a:t>
            </a:r>
            <a:r>
              <a:rPr sz="2933">
                <a:latin typeface="Times New Roman"/>
                <a:cs typeface="Times New Roman"/>
              </a:rPr>
              <a:t>be </a:t>
            </a:r>
            <a:r>
              <a:rPr sz="2933" spc="-7">
                <a:latin typeface="Times New Roman"/>
                <a:cs typeface="Times New Roman"/>
              </a:rPr>
              <a:t>added to the </a:t>
            </a:r>
            <a:r>
              <a:rPr sz="293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class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as the </a:t>
            </a:r>
            <a:r>
              <a:rPr sz="2933">
                <a:latin typeface="Times New Roman"/>
                <a:cs typeface="Times New Roman"/>
              </a:rPr>
              <a:t>need </a:t>
            </a:r>
            <a:r>
              <a:rPr sz="2933" spc="-7">
                <a:latin typeface="Times New Roman"/>
                <a:cs typeface="Times New Roman"/>
              </a:rPr>
              <a:t>arises.</a:t>
            </a:r>
            <a:endParaRPr sz="2933">
              <a:latin typeface="Times New Roman"/>
              <a:cs typeface="Times New Roman"/>
            </a:endParaRPr>
          </a:p>
          <a:p>
            <a:pPr marL="546086" marR="6773" indent="-530000" algn="just">
              <a:lnSpc>
                <a:spcPct val="114999"/>
              </a:lnSpc>
              <a:buFont typeface="Arial MT"/>
              <a:buChar char="●"/>
              <a:tabLst>
                <a:tab pos="546932" algn="l"/>
              </a:tabLst>
            </a:pPr>
            <a:r>
              <a:rPr sz="2933" spc="-7">
                <a:latin typeface="Times New Roman"/>
                <a:cs typeface="Times New Roman"/>
              </a:rPr>
              <a:t>The class </a:t>
            </a:r>
            <a:r>
              <a:rPr sz="2933">
                <a:latin typeface="Times New Roman"/>
                <a:cs typeface="Times New Roman"/>
              </a:rPr>
              <a:t>of nouns, for </a:t>
            </a:r>
            <a:r>
              <a:rPr sz="2933" spc="-7">
                <a:latin typeface="Times New Roman"/>
                <a:cs typeface="Times New Roman"/>
              </a:rPr>
              <a:t>instance, is </a:t>
            </a:r>
            <a:r>
              <a:rPr sz="2933">
                <a:latin typeface="Times New Roman"/>
                <a:cs typeface="Times New Roman"/>
              </a:rPr>
              <a:t>potentially </a:t>
            </a:r>
            <a:r>
              <a:rPr sz="2933" spc="-7">
                <a:latin typeface="Times New Roman"/>
                <a:cs typeface="Times New Roman"/>
              </a:rPr>
              <a:t>infinite, since it is </a:t>
            </a:r>
            <a:r>
              <a:rPr sz="293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continually </a:t>
            </a:r>
            <a:r>
              <a:rPr sz="2933">
                <a:latin typeface="Times New Roman"/>
                <a:cs typeface="Times New Roman"/>
              </a:rPr>
              <a:t>being </a:t>
            </a:r>
            <a:r>
              <a:rPr sz="2933" spc="-7">
                <a:latin typeface="Times New Roman"/>
                <a:cs typeface="Times New Roman"/>
              </a:rPr>
              <a:t>expanded as </a:t>
            </a:r>
            <a:r>
              <a:rPr sz="2933">
                <a:latin typeface="Times New Roman"/>
                <a:cs typeface="Times New Roman"/>
              </a:rPr>
              <a:t>new </a:t>
            </a:r>
            <a:r>
              <a:rPr sz="2933" spc="-7">
                <a:latin typeface="Times New Roman"/>
                <a:cs typeface="Times New Roman"/>
              </a:rPr>
              <a:t>scientific </a:t>
            </a:r>
            <a:r>
              <a:rPr sz="2933">
                <a:latin typeface="Times New Roman"/>
                <a:cs typeface="Times New Roman"/>
              </a:rPr>
              <a:t>discoveries </a:t>
            </a:r>
            <a:r>
              <a:rPr sz="2933" spc="-7">
                <a:latin typeface="Times New Roman"/>
                <a:cs typeface="Times New Roman"/>
              </a:rPr>
              <a:t>are made, </a:t>
            </a:r>
            <a:r>
              <a:rPr sz="2933">
                <a:latin typeface="Times New Roman"/>
                <a:cs typeface="Times New Roman"/>
              </a:rPr>
              <a:t> new</a:t>
            </a:r>
            <a:r>
              <a:rPr sz="2933" spc="-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products</a:t>
            </a:r>
            <a:r>
              <a:rPr sz="2933" spc="-7">
                <a:latin typeface="Times New Roman"/>
                <a:cs typeface="Times New Roman"/>
              </a:rPr>
              <a:t> are </a:t>
            </a:r>
            <a:r>
              <a:rPr sz="2933">
                <a:latin typeface="Times New Roman"/>
                <a:cs typeface="Times New Roman"/>
              </a:rPr>
              <a:t>developed,</a:t>
            </a:r>
            <a:r>
              <a:rPr sz="2933" spc="-7">
                <a:latin typeface="Times New Roman"/>
                <a:cs typeface="Times New Roman"/>
              </a:rPr>
              <a:t> and </a:t>
            </a:r>
            <a:r>
              <a:rPr sz="2933">
                <a:latin typeface="Times New Roman"/>
                <a:cs typeface="Times New Roman"/>
              </a:rPr>
              <a:t>new</a:t>
            </a:r>
            <a:r>
              <a:rPr sz="2933" spc="-7">
                <a:latin typeface="Times New Roman"/>
                <a:cs typeface="Times New Roman"/>
              </a:rPr>
              <a:t> ideas are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explored.</a:t>
            </a:r>
            <a:endParaRPr sz="2933">
              <a:latin typeface="Times New Roman"/>
              <a:cs typeface="Times New Roman"/>
            </a:endParaRPr>
          </a:p>
          <a:p>
            <a:pPr marL="546086" marR="32173" indent="-530000" algn="just">
              <a:lnSpc>
                <a:spcPct val="114999"/>
              </a:lnSpc>
              <a:buFont typeface="Arial MT"/>
              <a:buChar char="●"/>
              <a:tabLst>
                <a:tab pos="546932" algn="l"/>
              </a:tabLst>
            </a:pPr>
            <a:r>
              <a:rPr sz="2933">
                <a:latin typeface="Times New Roman"/>
                <a:cs typeface="Times New Roman"/>
              </a:rPr>
              <a:t>In </a:t>
            </a:r>
            <a:r>
              <a:rPr sz="2933" spc="-7">
                <a:latin typeface="Times New Roman"/>
                <a:cs typeface="Times New Roman"/>
              </a:rPr>
              <a:t>the late twentieth </a:t>
            </a:r>
            <a:r>
              <a:rPr sz="2933" spc="-33">
                <a:latin typeface="Times New Roman"/>
                <a:cs typeface="Times New Roman"/>
              </a:rPr>
              <a:t>century, </a:t>
            </a:r>
            <a:r>
              <a:rPr sz="2933">
                <a:latin typeface="Times New Roman"/>
                <a:cs typeface="Times New Roman"/>
              </a:rPr>
              <a:t>for </a:t>
            </a:r>
            <a:r>
              <a:rPr sz="2933" spc="-7">
                <a:latin typeface="Times New Roman"/>
                <a:cs typeface="Times New Roman"/>
              </a:rPr>
              <a:t>example, </a:t>
            </a:r>
            <a:r>
              <a:rPr sz="2933">
                <a:latin typeface="Times New Roman"/>
                <a:cs typeface="Times New Roman"/>
              </a:rPr>
              <a:t>developments </a:t>
            </a:r>
            <a:r>
              <a:rPr sz="2933" spc="-7">
                <a:latin typeface="Times New Roman"/>
                <a:cs typeface="Times New Roman"/>
              </a:rPr>
              <a:t>in computer </a:t>
            </a:r>
            <a:r>
              <a:rPr sz="293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technology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have given</a:t>
            </a:r>
            <a:r>
              <a:rPr sz="2933" spc="-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rise </a:t>
            </a:r>
            <a:r>
              <a:rPr sz="2933" spc="-7">
                <a:latin typeface="Times New Roman"/>
                <a:cs typeface="Times New Roman"/>
              </a:rPr>
              <a:t>to many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new nouns:</a:t>
            </a:r>
          </a:p>
          <a:p>
            <a:pPr marL="546086" marR="1280127" indent="-530000">
              <a:lnSpc>
                <a:spcPct val="114999"/>
              </a:lnSpc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>
                <a:latin typeface="Times New Roman"/>
                <a:cs typeface="Times New Roman"/>
              </a:rPr>
              <a:t>Internet,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website,</a:t>
            </a:r>
            <a:r>
              <a:rPr sz="2933" spc="-2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URL,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CD-ROM,</a:t>
            </a:r>
            <a:r>
              <a:rPr sz="2933" spc="-2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email,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newsgroup,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bitmap, </a:t>
            </a:r>
            <a:r>
              <a:rPr sz="2933" spc="-7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modem,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multimedia</a:t>
            </a:r>
            <a:endParaRPr sz="2933">
              <a:latin typeface="Times New Roman"/>
              <a:cs typeface="Times New Roman"/>
            </a:endParaRPr>
          </a:p>
          <a:p>
            <a:pPr marL="546086" indent="-530000">
              <a:spcBef>
                <a:spcPts val="527"/>
              </a:spcBef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spc="-7">
                <a:latin typeface="Times New Roman"/>
                <a:cs typeface="Times New Roman"/>
              </a:rPr>
              <a:t>New</a:t>
            </a:r>
            <a:r>
              <a:rPr sz="2933" spc="-2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verbs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have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also</a:t>
            </a:r>
            <a:r>
              <a:rPr sz="2933" spc="-2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been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introduced:</a:t>
            </a:r>
            <a:endParaRPr sz="2933">
              <a:latin typeface="Times New Roman"/>
              <a:cs typeface="Times New Roman"/>
            </a:endParaRPr>
          </a:p>
          <a:p>
            <a:pPr marL="546086" indent="-530000">
              <a:spcBef>
                <a:spcPts val="527"/>
              </a:spcBef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>
                <a:latin typeface="Times New Roman"/>
                <a:cs typeface="Times New Roman"/>
              </a:rPr>
              <a:t>download,</a:t>
            </a:r>
            <a:r>
              <a:rPr sz="2933" spc="-2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upload,</a:t>
            </a:r>
            <a:r>
              <a:rPr sz="2933" spc="-2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reboot,</a:t>
            </a:r>
            <a:r>
              <a:rPr sz="2933" spc="-2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right-click,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double-click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92795" y="1440079"/>
            <a:ext cx="11285220" cy="408962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46086" marR="6773" indent="-530000">
              <a:lnSpc>
                <a:spcPct val="150000"/>
              </a:lnSpc>
              <a:spcBef>
                <a:spcPts val="133"/>
              </a:spcBef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spc="-7">
                <a:latin typeface="Times New Roman"/>
                <a:cs typeface="Times New Roman"/>
              </a:rPr>
              <a:t>On</a:t>
            </a:r>
            <a:r>
              <a:rPr sz="2933" spc="305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the</a:t>
            </a:r>
            <a:r>
              <a:rPr sz="2933" spc="305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other</a:t>
            </a:r>
            <a:r>
              <a:rPr sz="2933" spc="3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hand,</a:t>
            </a:r>
            <a:r>
              <a:rPr sz="2933" spc="305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we</a:t>
            </a:r>
            <a:r>
              <a:rPr sz="2933" spc="3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never</a:t>
            </a:r>
            <a:r>
              <a:rPr sz="2933" spc="305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invent</a:t>
            </a:r>
            <a:r>
              <a:rPr sz="2933" spc="305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new</a:t>
            </a:r>
            <a:r>
              <a:rPr sz="2933" spc="3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prepositions,</a:t>
            </a:r>
            <a:r>
              <a:rPr sz="2933" spc="305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determiners,</a:t>
            </a:r>
            <a:r>
              <a:rPr sz="2933" spc="3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or </a:t>
            </a:r>
            <a:r>
              <a:rPr sz="2933" spc="-7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conjunctions.</a:t>
            </a:r>
            <a:endParaRPr sz="2933">
              <a:latin typeface="Times New Roman"/>
              <a:cs typeface="Times New Roman"/>
            </a:endParaRPr>
          </a:p>
          <a:p>
            <a:pPr marL="546086" indent="-530000">
              <a:spcBef>
                <a:spcPts val="1760"/>
              </a:spcBef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spc="-7">
                <a:latin typeface="Times New Roman"/>
                <a:cs typeface="Times New Roman"/>
              </a:rPr>
              <a:t>These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classes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include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words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like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of,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the,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and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but.</a:t>
            </a:r>
          </a:p>
          <a:p>
            <a:pPr marL="546086" marR="22859" indent="-530000">
              <a:lnSpc>
                <a:spcPct val="150000"/>
              </a:lnSpc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spc="-7">
                <a:latin typeface="Times New Roman"/>
                <a:cs typeface="Times New Roman"/>
              </a:rPr>
              <a:t>They</a:t>
            </a:r>
            <a:r>
              <a:rPr sz="2933" spc="40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are</a:t>
            </a:r>
            <a:r>
              <a:rPr sz="2933" spc="40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called</a:t>
            </a:r>
            <a:r>
              <a:rPr sz="2933" spc="40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CLOSED</a:t>
            </a:r>
            <a:r>
              <a:rPr sz="2933" spc="40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word</a:t>
            </a:r>
            <a:r>
              <a:rPr sz="2933" spc="40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classes</a:t>
            </a:r>
            <a:r>
              <a:rPr sz="2933" spc="400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because</a:t>
            </a:r>
            <a:r>
              <a:rPr sz="2933" spc="40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they</a:t>
            </a:r>
            <a:r>
              <a:rPr sz="2933" spc="40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are</a:t>
            </a:r>
            <a:r>
              <a:rPr sz="2933" spc="40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made</a:t>
            </a:r>
            <a:r>
              <a:rPr sz="2933" spc="400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up</a:t>
            </a:r>
            <a:r>
              <a:rPr sz="2933" spc="40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of </a:t>
            </a:r>
            <a:r>
              <a:rPr sz="2933" spc="-7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finite</a:t>
            </a:r>
            <a:r>
              <a:rPr sz="2933" spc="-7">
                <a:latin typeface="Times New Roman"/>
                <a:cs typeface="Times New Roman"/>
              </a:rPr>
              <a:t> sets </a:t>
            </a:r>
            <a:r>
              <a:rPr sz="2933">
                <a:latin typeface="Times New Roman"/>
                <a:cs typeface="Times New Roman"/>
              </a:rPr>
              <a:t>of </a:t>
            </a:r>
            <a:r>
              <a:rPr sz="2933" spc="-7">
                <a:latin typeface="Times New Roman"/>
                <a:cs typeface="Times New Roman"/>
              </a:rPr>
              <a:t>words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which are </a:t>
            </a:r>
            <a:r>
              <a:rPr sz="2933">
                <a:latin typeface="Times New Roman"/>
                <a:cs typeface="Times New Roman"/>
              </a:rPr>
              <a:t>never</a:t>
            </a:r>
            <a:r>
              <a:rPr sz="2933" spc="-7">
                <a:latin typeface="Times New Roman"/>
                <a:cs typeface="Times New Roman"/>
              </a:rPr>
              <a:t> expanded </a:t>
            </a:r>
            <a:r>
              <a:rPr sz="2933">
                <a:latin typeface="Times New Roman"/>
                <a:cs typeface="Times New Roman"/>
              </a:rPr>
              <a:t>.</a:t>
            </a:r>
          </a:p>
          <a:p>
            <a:pPr marL="546086" indent="-530000">
              <a:spcBef>
                <a:spcPts val="1760"/>
              </a:spcBef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spc="-7">
                <a:latin typeface="Times New Roman"/>
                <a:cs typeface="Times New Roman"/>
              </a:rPr>
              <a:t>The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subclass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of</a:t>
            </a:r>
            <a:r>
              <a:rPr sz="2933" spc="-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pronouns,</a:t>
            </a:r>
            <a:r>
              <a:rPr sz="2933" spc="-7">
                <a:latin typeface="Times New Roman"/>
                <a:cs typeface="Times New Roman"/>
              </a:rPr>
              <a:t> within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the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open</a:t>
            </a:r>
            <a:r>
              <a:rPr sz="2933" spc="-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noun</a:t>
            </a:r>
            <a:r>
              <a:rPr sz="2933" spc="-7">
                <a:latin typeface="Times New Roman"/>
                <a:cs typeface="Times New Roman"/>
              </a:rPr>
              <a:t> class,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is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also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closed.</a:t>
            </a:r>
            <a:endParaRPr sz="293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2967" y="588419"/>
            <a:ext cx="7027316" cy="697627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60"/>
              </a:spcBef>
            </a:pPr>
            <a:r>
              <a:rPr spc="-40"/>
              <a:t>Types </a:t>
            </a:r>
            <a:r>
              <a:rPr spc="7"/>
              <a:t>of</a:t>
            </a:r>
            <a:r>
              <a:rPr spc="-33"/>
              <a:t> </a:t>
            </a:r>
            <a:r>
              <a:rPr spc="7"/>
              <a:t>Morphology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2795" y="1395578"/>
            <a:ext cx="4379805" cy="1376317"/>
          </a:xfrm>
          <a:prstGeom prst="rect">
            <a:avLst/>
          </a:prstGeom>
        </p:spPr>
        <p:txBody>
          <a:bodyPr vert="horz" wrap="square" lIns="0" tIns="240453" rIns="0" bIns="0" rtlCol="0">
            <a:spAutoFit/>
          </a:bodyPr>
          <a:lstStyle/>
          <a:p>
            <a:pPr marL="546086" indent="-530000">
              <a:spcBef>
                <a:spcPts val="1893"/>
              </a:spcBef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>
                <a:latin typeface="Times New Roman"/>
                <a:cs typeface="Times New Roman"/>
              </a:rPr>
              <a:t>Inflectional</a:t>
            </a:r>
            <a:r>
              <a:rPr sz="2933" spc="-13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Morphology</a:t>
            </a:r>
            <a:endParaRPr sz="2933">
              <a:latin typeface="Times New Roman"/>
              <a:cs typeface="Times New Roman"/>
            </a:endParaRPr>
          </a:p>
          <a:p>
            <a:pPr marL="546086" indent="-530000">
              <a:spcBef>
                <a:spcPts val="1760"/>
              </a:spcBef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spc="-7">
                <a:latin typeface="Times New Roman"/>
                <a:cs typeface="Times New Roman"/>
              </a:rPr>
              <a:t>Derivational</a:t>
            </a:r>
            <a:r>
              <a:rPr sz="2933" spc="-13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Morphology</a:t>
            </a:r>
            <a:endParaRPr sz="293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2966" y="95782"/>
            <a:ext cx="6183255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53"/>
              <a:t>Types </a:t>
            </a:r>
            <a:r>
              <a:rPr b="1"/>
              <a:t>of</a:t>
            </a:r>
            <a:r>
              <a:rPr b="1" spc="-47"/>
              <a:t> </a:t>
            </a:r>
            <a:r>
              <a:rPr b="1" spc="-7"/>
              <a:t>Morphology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685521" y="4778067"/>
            <a:ext cx="288290" cy="167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rgbClr val="59595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IN" smtClean="0"/>
              <a:pPr marL="108585">
                <a:spcBef>
                  <a:spcPts val="5"/>
                </a:spcBef>
              </a:pPr>
              <a:t>60</a:t>
            </a:fld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2795" y="825065"/>
            <a:ext cx="11070167" cy="5720647"/>
          </a:xfrm>
          <a:prstGeom prst="rect">
            <a:avLst/>
          </a:prstGeom>
        </p:spPr>
        <p:txBody>
          <a:bodyPr vert="horz" wrap="square" lIns="0" tIns="220133" rIns="0" bIns="0" rtlCol="0">
            <a:spAutoFit/>
          </a:bodyPr>
          <a:lstStyle/>
          <a:p>
            <a:pPr marL="546086" indent="-530000">
              <a:spcBef>
                <a:spcPts val="1733"/>
              </a:spcBef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b="1" spc="-7">
                <a:latin typeface="Times New Roman"/>
                <a:cs typeface="Times New Roman"/>
              </a:rPr>
              <a:t>Inflectional</a:t>
            </a:r>
            <a:r>
              <a:rPr sz="2933" b="1" spc="-67">
                <a:latin typeface="Times New Roman"/>
                <a:cs typeface="Times New Roman"/>
              </a:rPr>
              <a:t> </a:t>
            </a:r>
            <a:r>
              <a:rPr sz="2933" b="1">
                <a:latin typeface="Times New Roman"/>
                <a:cs typeface="Times New Roman"/>
              </a:rPr>
              <a:t>morphology:</a:t>
            </a:r>
            <a:endParaRPr sz="2933">
              <a:latin typeface="Times New Roman"/>
              <a:cs typeface="Times New Roman"/>
            </a:endParaRPr>
          </a:p>
          <a:p>
            <a:pPr marL="546086">
              <a:spcBef>
                <a:spcPts val="1600"/>
              </a:spcBef>
            </a:pPr>
            <a:r>
              <a:rPr sz="2933" spc="-7">
                <a:latin typeface="Times New Roman"/>
                <a:cs typeface="Times New Roman"/>
              </a:rPr>
              <a:t>modification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of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a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word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to</a:t>
            </a:r>
            <a:r>
              <a:rPr sz="2933" spc="-2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express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different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grammatical</a:t>
            </a:r>
            <a:r>
              <a:rPr sz="2933" spc="-7">
                <a:latin typeface="Times New Roman"/>
                <a:cs typeface="Times New Roman"/>
              </a:rPr>
              <a:t> categories.</a:t>
            </a:r>
            <a:endParaRPr sz="2933">
              <a:latin typeface="Times New Roman"/>
              <a:cs typeface="Times New Roman"/>
            </a:endParaRPr>
          </a:p>
          <a:p>
            <a:pPr marL="546086">
              <a:spcBef>
                <a:spcPts val="1600"/>
              </a:spcBef>
            </a:pPr>
            <a:r>
              <a:rPr sz="2933" b="1" spc="-7">
                <a:latin typeface="Times New Roman"/>
                <a:cs typeface="Times New Roman"/>
              </a:rPr>
              <a:t>Examples</a:t>
            </a:r>
            <a:endParaRPr sz="2933">
              <a:latin typeface="Times New Roman"/>
              <a:cs typeface="Times New Roman"/>
            </a:endParaRPr>
          </a:p>
          <a:p>
            <a:pPr marL="546086">
              <a:spcBef>
                <a:spcPts val="1600"/>
              </a:spcBef>
            </a:pPr>
            <a:r>
              <a:rPr sz="2933" spc="-7">
                <a:latin typeface="Times New Roman"/>
                <a:cs typeface="Times New Roman"/>
              </a:rPr>
              <a:t>cats,</a:t>
            </a:r>
            <a:r>
              <a:rPr sz="2933" spc="-4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men</a:t>
            </a:r>
            <a:r>
              <a:rPr sz="2933" spc="-4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etc.</a:t>
            </a:r>
            <a:endParaRPr sz="2933">
              <a:latin typeface="Times New Roman"/>
              <a:cs typeface="Times New Roman"/>
            </a:endParaRPr>
          </a:p>
          <a:p>
            <a:pPr marL="546086" indent="-530000">
              <a:spcBef>
                <a:spcPts val="1600"/>
              </a:spcBef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b="1" spc="-7">
                <a:latin typeface="Times New Roman"/>
                <a:cs typeface="Times New Roman"/>
              </a:rPr>
              <a:t>Derivational</a:t>
            </a:r>
            <a:r>
              <a:rPr sz="2933" b="1" spc="-67">
                <a:latin typeface="Times New Roman"/>
                <a:cs typeface="Times New Roman"/>
              </a:rPr>
              <a:t> </a:t>
            </a:r>
            <a:r>
              <a:rPr sz="2933" b="1" spc="-7">
                <a:latin typeface="Times New Roman"/>
                <a:cs typeface="Times New Roman"/>
              </a:rPr>
              <a:t>Morphology:</a:t>
            </a:r>
            <a:endParaRPr sz="2933">
              <a:latin typeface="Times New Roman"/>
              <a:cs typeface="Times New Roman"/>
            </a:endParaRPr>
          </a:p>
          <a:p>
            <a:pPr marL="546086" marR="6773">
              <a:spcBef>
                <a:spcPts val="1600"/>
              </a:spcBef>
            </a:pPr>
            <a:r>
              <a:rPr sz="2933" spc="-7">
                <a:latin typeface="Times New Roman"/>
                <a:cs typeface="Times New Roman"/>
              </a:rPr>
              <a:t>creation</a:t>
            </a:r>
            <a:r>
              <a:rPr sz="2933" spc="18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of</a:t>
            </a:r>
            <a:r>
              <a:rPr sz="2933" spc="19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a</a:t>
            </a:r>
            <a:r>
              <a:rPr sz="2933" spc="18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new</a:t>
            </a:r>
            <a:r>
              <a:rPr sz="2933" spc="19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word</a:t>
            </a:r>
            <a:r>
              <a:rPr sz="2933" spc="18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from</a:t>
            </a:r>
            <a:r>
              <a:rPr sz="2933" spc="19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existing</a:t>
            </a:r>
            <a:r>
              <a:rPr sz="2933" spc="18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word</a:t>
            </a:r>
            <a:r>
              <a:rPr sz="2933" spc="19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by</a:t>
            </a:r>
            <a:r>
              <a:rPr sz="2933" spc="18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changing</a:t>
            </a:r>
            <a:r>
              <a:rPr sz="2933" spc="19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grammatical </a:t>
            </a:r>
            <a:r>
              <a:rPr sz="2933" spc="-713">
                <a:latin typeface="Times New Roman"/>
                <a:cs typeface="Times New Roman"/>
              </a:rPr>
              <a:t> </a:t>
            </a:r>
            <a:r>
              <a:rPr sz="2933" spc="-27">
                <a:latin typeface="Times New Roman"/>
                <a:cs typeface="Times New Roman"/>
              </a:rPr>
              <a:t>category.</a:t>
            </a:r>
            <a:endParaRPr sz="2933">
              <a:latin typeface="Times New Roman"/>
              <a:cs typeface="Times New Roman"/>
            </a:endParaRPr>
          </a:p>
          <a:p>
            <a:pPr marL="546086">
              <a:spcBef>
                <a:spcPts val="1600"/>
              </a:spcBef>
            </a:pPr>
            <a:r>
              <a:rPr sz="2933" b="1" spc="-7">
                <a:latin typeface="Times New Roman"/>
                <a:cs typeface="Times New Roman"/>
              </a:rPr>
              <a:t>Examples</a:t>
            </a:r>
            <a:endParaRPr sz="2933">
              <a:latin typeface="Times New Roman"/>
              <a:cs typeface="Times New Roman"/>
            </a:endParaRPr>
          </a:p>
          <a:p>
            <a:pPr marL="546086">
              <a:spcBef>
                <a:spcPts val="1600"/>
              </a:spcBef>
            </a:pPr>
            <a:r>
              <a:rPr sz="2933">
                <a:latin typeface="Times New Roman"/>
                <a:cs typeface="Times New Roman"/>
              </a:rPr>
              <a:t>happiness,</a:t>
            </a:r>
            <a:r>
              <a:rPr sz="2933" spc="-40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brotherhood</a:t>
            </a:r>
            <a:r>
              <a:rPr sz="2933" spc="-4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etc.</a:t>
            </a:r>
            <a:endParaRPr sz="293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7032" y="540552"/>
            <a:ext cx="7281047" cy="697627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60"/>
              </a:spcBef>
            </a:pPr>
            <a:r>
              <a:rPr b="1">
                <a:solidFill>
                  <a:srgbClr val="C00000"/>
                </a:solidFill>
              </a:rPr>
              <a:t>Inflectional</a:t>
            </a:r>
            <a:r>
              <a:rPr b="1" spc="-53">
                <a:solidFill>
                  <a:srgbClr val="C00000"/>
                </a:solidFill>
              </a:rPr>
              <a:t> </a:t>
            </a:r>
            <a:r>
              <a:rPr b="1" spc="7">
                <a:solidFill>
                  <a:srgbClr val="C00000"/>
                </a:solidFill>
              </a:rPr>
              <a:t>Morphology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0070" y="1986432"/>
            <a:ext cx="11071860" cy="360891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46086" marR="6773" indent="-530000" algn="just">
              <a:lnSpc>
                <a:spcPct val="114999"/>
              </a:lnSpc>
              <a:spcBef>
                <a:spcPts val="133"/>
              </a:spcBef>
              <a:buFont typeface="Arial MT"/>
              <a:buChar char="●"/>
              <a:tabLst>
                <a:tab pos="546932" algn="l"/>
              </a:tabLst>
            </a:pPr>
            <a:r>
              <a:rPr sz="2933">
                <a:latin typeface="Times New Roman"/>
                <a:cs typeface="Times New Roman"/>
              </a:rPr>
              <a:t>Inflectional </a:t>
            </a:r>
            <a:r>
              <a:rPr sz="2933" spc="-7">
                <a:latin typeface="Times New Roman"/>
                <a:cs typeface="Times New Roman"/>
              </a:rPr>
              <a:t>morphology is the study </a:t>
            </a:r>
            <a:r>
              <a:rPr sz="2933">
                <a:latin typeface="Times New Roman"/>
                <a:cs typeface="Times New Roman"/>
              </a:rPr>
              <a:t>of </a:t>
            </a:r>
            <a:r>
              <a:rPr sz="2933" spc="-7">
                <a:latin typeface="Times New Roman"/>
                <a:cs typeface="Times New Roman"/>
              </a:rPr>
              <a:t>the </a:t>
            </a:r>
            <a:r>
              <a:rPr sz="2933">
                <a:latin typeface="Times New Roman"/>
                <a:cs typeface="Times New Roman"/>
              </a:rPr>
              <a:t>processes </a:t>
            </a:r>
            <a:r>
              <a:rPr sz="2933" spc="-7">
                <a:latin typeface="Times New Roman"/>
                <a:cs typeface="Times New Roman"/>
              </a:rPr>
              <a:t>that </a:t>
            </a:r>
            <a:r>
              <a:rPr sz="2933">
                <a:latin typeface="Times New Roman"/>
                <a:cs typeface="Times New Roman"/>
              </a:rPr>
              <a:t>distinguish </a:t>
            </a:r>
            <a:r>
              <a:rPr sz="2933" spc="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the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forms of</a:t>
            </a:r>
            <a:r>
              <a:rPr sz="2933" spc="-7">
                <a:latin typeface="Times New Roman"/>
                <a:cs typeface="Times New Roman"/>
              </a:rPr>
              <a:t> words in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certain </a:t>
            </a:r>
            <a:r>
              <a:rPr sz="2933">
                <a:latin typeface="Times New Roman"/>
                <a:cs typeface="Times New Roman"/>
              </a:rPr>
              <a:t>grammatical</a:t>
            </a:r>
            <a:r>
              <a:rPr sz="2933" spc="-7">
                <a:latin typeface="Times New Roman"/>
                <a:cs typeface="Times New Roman"/>
              </a:rPr>
              <a:t> categories.</a:t>
            </a:r>
            <a:endParaRPr sz="2933">
              <a:latin typeface="Times New Roman"/>
              <a:cs typeface="Times New Roman"/>
            </a:endParaRPr>
          </a:p>
          <a:p>
            <a:pPr marL="546086" marR="14393" indent="-530000" algn="just">
              <a:lnSpc>
                <a:spcPct val="114999"/>
              </a:lnSpc>
              <a:buFont typeface="Arial MT"/>
              <a:buChar char="●"/>
              <a:tabLst>
                <a:tab pos="546932" algn="l"/>
              </a:tabLst>
            </a:pPr>
            <a:r>
              <a:rPr sz="2933" spc="-7">
                <a:latin typeface="Times New Roman"/>
                <a:cs typeface="Times New Roman"/>
              </a:rPr>
              <a:t>This includes </a:t>
            </a:r>
            <a:r>
              <a:rPr sz="2933">
                <a:latin typeface="Times New Roman"/>
                <a:cs typeface="Times New Roman"/>
              </a:rPr>
              <a:t>processes </a:t>
            </a:r>
            <a:r>
              <a:rPr sz="2933" spc="-7">
                <a:latin typeface="Times New Roman"/>
                <a:cs typeface="Times New Roman"/>
              </a:rPr>
              <a:t>such as affixation and </a:t>
            </a:r>
            <a:r>
              <a:rPr sz="2933">
                <a:latin typeface="Times New Roman"/>
                <a:cs typeface="Times New Roman"/>
              </a:rPr>
              <a:t>vowel </a:t>
            </a:r>
            <a:r>
              <a:rPr sz="2933" spc="-7">
                <a:latin typeface="Times New Roman"/>
                <a:cs typeface="Times New Roman"/>
              </a:rPr>
              <a:t>change, which </a:t>
            </a:r>
            <a:r>
              <a:rPr sz="293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create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inflectional morphemes.</a:t>
            </a:r>
            <a:endParaRPr sz="2933">
              <a:latin typeface="Times New Roman"/>
              <a:cs typeface="Times New Roman"/>
            </a:endParaRPr>
          </a:p>
          <a:p>
            <a:pPr marL="546086" marR="14393" indent="-530000" algn="just">
              <a:lnSpc>
                <a:spcPct val="114999"/>
              </a:lnSpc>
              <a:buFont typeface="Arial MT"/>
              <a:buChar char="●"/>
              <a:tabLst>
                <a:tab pos="546932" algn="l"/>
              </a:tabLst>
            </a:pPr>
            <a:r>
              <a:rPr sz="2933" spc="-7">
                <a:latin typeface="Times New Roman"/>
                <a:cs typeface="Times New Roman"/>
              </a:rPr>
              <a:t>An</a:t>
            </a:r>
            <a:r>
              <a:rPr sz="2933" spc="13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inflectional</a:t>
            </a:r>
            <a:r>
              <a:rPr sz="2933" spc="12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morpheme</a:t>
            </a:r>
            <a:r>
              <a:rPr sz="2933" spc="12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is</a:t>
            </a:r>
            <a:r>
              <a:rPr sz="2933" spc="13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a</a:t>
            </a:r>
            <a:r>
              <a:rPr sz="2933" spc="127">
                <a:latin typeface="Times New Roman"/>
                <a:cs typeface="Times New Roman"/>
              </a:rPr>
              <a:t> </a:t>
            </a:r>
            <a:r>
              <a:rPr sz="2933" spc="-13">
                <a:latin typeface="Times New Roman"/>
                <a:cs typeface="Times New Roman"/>
              </a:rPr>
              <a:t>suffix</a:t>
            </a:r>
            <a:r>
              <a:rPr sz="2933" spc="133">
                <a:latin typeface="Times New Roman"/>
                <a:cs typeface="Times New Roman"/>
              </a:rPr>
              <a:t> </a:t>
            </a:r>
            <a:r>
              <a:rPr sz="2933" spc="-33">
                <a:latin typeface="Times New Roman"/>
                <a:cs typeface="Times New Roman"/>
              </a:rPr>
              <a:t>that’s</a:t>
            </a:r>
            <a:r>
              <a:rPr sz="2933" spc="13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added</a:t>
            </a:r>
            <a:r>
              <a:rPr sz="2933" spc="13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to</a:t>
            </a:r>
            <a:r>
              <a:rPr sz="2933" spc="12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a</a:t>
            </a:r>
            <a:r>
              <a:rPr sz="2933" spc="12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word</a:t>
            </a:r>
            <a:r>
              <a:rPr sz="2933" spc="14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to</a:t>
            </a:r>
            <a:r>
              <a:rPr sz="2933" spc="12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assign </a:t>
            </a:r>
            <a:r>
              <a:rPr sz="2933" spc="-720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a particular grammatical property </a:t>
            </a:r>
            <a:r>
              <a:rPr sz="2933" spc="-7">
                <a:latin typeface="Times New Roman"/>
                <a:cs typeface="Times New Roman"/>
              </a:rPr>
              <a:t>to that word, such as its </a:t>
            </a:r>
            <a:r>
              <a:rPr sz="2933" spc="-20">
                <a:latin typeface="Times New Roman"/>
                <a:cs typeface="Times New Roman"/>
              </a:rPr>
              <a:t>number, 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mood,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tense, </a:t>
            </a:r>
            <a:r>
              <a:rPr sz="2933">
                <a:latin typeface="Times New Roman"/>
                <a:cs typeface="Times New Roman"/>
              </a:rPr>
              <a:t>or possession.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92795" y="1552041"/>
            <a:ext cx="11049845" cy="412796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46086" marR="6773" indent="-530000">
              <a:lnSpc>
                <a:spcPct val="114999"/>
              </a:lnSpc>
              <a:spcBef>
                <a:spcPts val="133"/>
              </a:spcBef>
              <a:buFont typeface="Arial MT"/>
              <a:buChar char="●"/>
              <a:tabLst>
                <a:tab pos="546086" algn="l"/>
                <a:tab pos="546932" algn="l"/>
                <a:tab pos="2324042" algn="l"/>
                <a:tab pos="3008978" algn="l"/>
                <a:tab pos="5032461" algn="l"/>
                <a:tab pos="7181247" algn="l"/>
                <a:tab pos="8031279" algn="l"/>
                <a:tab pos="9192877" algn="l"/>
                <a:tab pos="10578836" algn="l"/>
              </a:tabLst>
            </a:pPr>
            <a:r>
              <a:rPr sz="2933" spc="-7">
                <a:latin typeface="Times New Roman"/>
                <a:cs typeface="Times New Roman"/>
              </a:rPr>
              <a:t>Howeve</a:t>
            </a:r>
            <a:r>
              <a:rPr sz="2933" spc="-120">
                <a:latin typeface="Times New Roman"/>
                <a:cs typeface="Times New Roman"/>
              </a:rPr>
              <a:t>r</a:t>
            </a:r>
            <a:r>
              <a:rPr sz="2933">
                <a:latin typeface="Times New Roman"/>
                <a:cs typeface="Times New Roman"/>
              </a:rPr>
              <a:t>,	</a:t>
            </a:r>
            <a:r>
              <a:rPr sz="2933" spc="-7">
                <a:latin typeface="Times New Roman"/>
                <a:cs typeface="Times New Roman"/>
              </a:rPr>
              <a:t>a</a:t>
            </a:r>
            <a:r>
              <a:rPr sz="2933">
                <a:latin typeface="Times New Roman"/>
                <a:cs typeface="Times New Roman"/>
              </a:rPr>
              <a:t>n	</a:t>
            </a:r>
            <a:r>
              <a:rPr sz="2933" spc="-7">
                <a:latin typeface="Times New Roman"/>
                <a:cs typeface="Times New Roman"/>
              </a:rPr>
              <a:t>inflectiona</a:t>
            </a:r>
            <a:r>
              <a:rPr sz="2933">
                <a:latin typeface="Times New Roman"/>
                <a:cs typeface="Times New Roman"/>
              </a:rPr>
              <a:t>l	</a:t>
            </a:r>
            <a:r>
              <a:rPr sz="2933" spc="-7">
                <a:latin typeface="Times New Roman"/>
                <a:cs typeface="Times New Roman"/>
              </a:rPr>
              <a:t>morpholog</a:t>
            </a:r>
            <a:r>
              <a:rPr sz="2933">
                <a:latin typeface="Times New Roman"/>
                <a:cs typeface="Times New Roman"/>
              </a:rPr>
              <a:t>y	</a:t>
            </a:r>
            <a:r>
              <a:rPr sz="2933" spc="-7">
                <a:latin typeface="Times New Roman"/>
                <a:cs typeface="Times New Roman"/>
              </a:rPr>
              <a:t>ca</a:t>
            </a:r>
            <a:r>
              <a:rPr sz="2933">
                <a:latin typeface="Times New Roman"/>
                <a:cs typeface="Times New Roman"/>
              </a:rPr>
              <a:t>n	never	</a:t>
            </a:r>
            <a:r>
              <a:rPr sz="2933" spc="-7">
                <a:latin typeface="Times New Roman"/>
                <a:cs typeface="Times New Roman"/>
              </a:rPr>
              <a:t>chang</a:t>
            </a:r>
            <a:r>
              <a:rPr sz="2933">
                <a:latin typeface="Times New Roman"/>
                <a:cs typeface="Times New Roman"/>
              </a:rPr>
              <a:t>e	</a:t>
            </a:r>
            <a:r>
              <a:rPr sz="2933" spc="-7">
                <a:latin typeface="Times New Roman"/>
                <a:cs typeface="Times New Roman"/>
              </a:rPr>
              <a:t>the  </a:t>
            </a:r>
            <a:r>
              <a:rPr sz="2933">
                <a:latin typeface="Times New Roman"/>
                <a:cs typeface="Times New Roman"/>
              </a:rPr>
              <a:t>grammatical</a:t>
            </a:r>
            <a:r>
              <a:rPr sz="2933" spc="-7">
                <a:latin typeface="Times New Roman"/>
                <a:cs typeface="Times New Roman"/>
              </a:rPr>
              <a:t> category </a:t>
            </a:r>
            <a:r>
              <a:rPr sz="2933">
                <a:latin typeface="Times New Roman"/>
                <a:cs typeface="Times New Roman"/>
              </a:rPr>
              <a:t>of a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word.</a:t>
            </a:r>
            <a:endParaRPr sz="2933">
              <a:latin typeface="Times New Roman"/>
              <a:cs typeface="Times New Roman"/>
            </a:endParaRPr>
          </a:p>
          <a:p>
            <a:pPr marL="546086" marR="34711" indent="-530000">
              <a:lnSpc>
                <a:spcPct val="114999"/>
              </a:lnSpc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spc="-100">
                <a:latin typeface="Times New Roman"/>
                <a:cs typeface="Times New Roman"/>
              </a:rPr>
              <a:t>You</a:t>
            </a:r>
            <a:r>
              <a:rPr sz="2933" spc="8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can</a:t>
            </a:r>
            <a:r>
              <a:rPr sz="2933" spc="8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add</a:t>
            </a:r>
            <a:r>
              <a:rPr sz="2933" spc="8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an</a:t>
            </a:r>
            <a:r>
              <a:rPr sz="2933" spc="8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inflectional</a:t>
            </a:r>
            <a:r>
              <a:rPr sz="2933" spc="8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morphology</a:t>
            </a:r>
            <a:r>
              <a:rPr sz="2933" spc="8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to</a:t>
            </a:r>
            <a:r>
              <a:rPr sz="2933" spc="7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a</a:t>
            </a:r>
            <a:r>
              <a:rPr sz="2933" spc="80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verb,</a:t>
            </a:r>
            <a:r>
              <a:rPr sz="2933" spc="8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noun,</a:t>
            </a:r>
            <a:r>
              <a:rPr sz="2933" spc="8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adjective,</a:t>
            </a:r>
            <a:r>
              <a:rPr sz="2933" spc="80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or </a:t>
            </a:r>
            <a:r>
              <a:rPr sz="2933" spc="-7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an</a:t>
            </a:r>
            <a:r>
              <a:rPr sz="2933" spc="-1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adverb.</a:t>
            </a:r>
            <a:endParaRPr sz="2933">
              <a:latin typeface="Times New Roman"/>
              <a:cs typeface="Times New Roman"/>
            </a:endParaRPr>
          </a:p>
          <a:p>
            <a:pPr marL="546086" marR="44872" indent="-530000">
              <a:lnSpc>
                <a:spcPct val="114999"/>
              </a:lnSpc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spc="-7">
                <a:latin typeface="Times New Roman"/>
                <a:cs typeface="Times New Roman"/>
              </a:rPr>
              <a:t>For</a:t>
            </a:r>
            <a:r>
              <a:rPr sz="2933" spc="10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example,</a:t>
            </a:r>
            <a:r>
              <a:rPr sz="2933" spc="10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adding</a:t>
            </a:r>
            <a:r>
              <a:rPr sz="2933" spc="10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a</a:t>
            </a:r>
            <a:r>
              <a:rPr sz="2933" spc="10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‘-s’</a:t>
            </a:r>
            <a:r>
              <a:rPr sz="2933" spc="-10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to</a:t>
            </a:r>
            <a:r>
              <a:rPr sz="2933" spc="10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the</a:t>
            </a:r>
            <a:r>
              <a:rPr sz="2933" spc="10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verb</a:t>
            </a:r>
            <a:r>
              <a:rPr sz="2933" spc="1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plural</a:t>
            </a:r>
            <a:r>
              <a:rPr sz="2933" spc="10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verb</a:t>
            </a:r>
            <a:r>
              <a:rPr sz="2933" spc="1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‘run’</a:t>
            </a:r>
            <a:r>
              <a:rPr sz="2933" spc="-10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can</a:t>
            </a:r>
            <a:r>
              <a:rPr sz="2933" spc="10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make</a:t>
            </a:r>
            <a:r>
              <a:rPr sz="2933" spc="10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this </a:t>
            </a:r>
            <a:r>
              <a:rPr sz="2933" spc="-7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verb</a:t>
            </a:r>
            <a:r>
              <a:rPr sz="2933" spc="-7">
                <a:latin typeface="Times New Roman"/>
                <a:cs typeface="Times New Roman"/>
              </a:rPr>
              <a:t> </a:t>
            </a:r>
            <a:r>
              <a:rPr sz="2933" spc="-27">
                <a:latin typeface="Times New Roman"/>
                <a:cs typeface="Times New Roman"/>
              </a:rPr>
              <a:t>singular.</a:t>
            </a:r>
            <a:endParaRPr sz="2933">
              <a:latin typeface="Times New Roman"/>
              <a:cs typeface="Times New Roman"/>
            </a:endParaRPr>
          </a:p>
          <a:p>
            <a:pPr marL="546086" marR="41486" indent="-530000">
              <a:lnSpc>
                <a:spcPct val="114999"/>
              </a:lnSpc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spc="-27">
                <a:latin typeface="Times New Roman"/>
                <a:cs typeface="Times New Roman"/>
              </a:rPr>
              <a:t>Similarly,</a:t>
            </a:r>
            <a:r>
              <a:rPr sz="2933" spc="18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adding</a:t>
            </a:r>
            <a:r>
              <a:rPr sz="2933" spc="17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‘-ed’</a:t>
            </a:r>
            <a:r>
              <a:rPr sz="2933" spc="-3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to</a:t>
            </a:r>
            <a:r>
              <a:rPr sz="2933" spc="17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the</a:t>
            </a:r>
            <a:r>
              <a:rPr sz="2933" spc="17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verb</a:t>
            </a:r>
            <a:r>
              <a:rPr sz="2933" spc="180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dance</a:t>
            </a:r>
            <a:r>
              <a:rPr sz="2933" spc="18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creates</a:t>
            </a:r>
            <a:r>
              <a:rPr sz="2933" spc="173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the</a:t>
            </a:r>
            <a:r>
              <a:rPr sz="2933" spc="17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past</a:t>
            </a:r>
            <a:r>
              <a:rPr sz="2933" spc="187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tense</a:t>
            </a:r>
            <a:r>
              <a:rPr sz="2933" spc="17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of</a:t>
            </a:r>
            <a:r>
              <a:rPr sz="2933" spc="180">
                <a:latin typeface="Times New Roman"/>
                <a:cs typeface="Times New Roman"/>
              </a:rPr>
              <a:t> </a:t>
            </a:r>
            <a:r>
              <a:rPr sz="2933" spc="-7">
                <a:latin typeface="Times New Roman"/>
                <a:cs typeface="Times New Roman"/>
              </a:rPr>
              <a:t>the </a:t>
            </a:r>
            <a:r>
              <a:rPr sz="2933" spc="-713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verb</a:t>
            </a:r>
            <a:r>
              <a:rPr sz="2933" spc="-7">
                <a:latin typeface="Times New Roman"/>
                <a:cs typeface="Times New Roman"/>
              </a:rPr>
              <a:t> </a:t>
            </a:r>
            <a:r>
              <a:rPr sz="2933">
                <a:latin typeface="Times New Roman"/>
                <a:cs typeface="Times New Roman"/>
              </a:rPr>
              <a:t>(danced).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589233" y="210027"/>
            <a:ext cx="5780193" cy="487680"/>
          </a:xfrm>
          <a:custGeom>
            <a:avLst/>
            <a:gdLst/>
            <a:ahLst/>
            <a:cxnLst/>
            <a:rect l="l" t="t" r="r" b="b"/>
            <a:pathLst>
              <a:path w="4335145" h="365759">
                <a:moveTo>
                  <a:pt x="4335065" y="365759"/>
                </a:moveTo>
                <a:lnTo>
                  <a:pt x="0" y="365759"/>
                </a:lnTo>
                <a:lnTo>
                  <a:pt x="0" y="0"/>
                </a:lnTo>
                <a:lnTo>
                  <a:pt x="4335065" y="0"/>
                </a:lnTo>
                <a:lnTo>
                  <a:pt x="4335065" y="3657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1422401" y="453867"/>
            <a:ext cx="579035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49473" indent="-550320">
              <a:spcBef>
                <a:spcPts val="133"/>
              </a:spcBef>
              <a:buFont typeface="Arial"/>
              <a:buChar char="●"/>
              <a:tabLst>
                <a:tab pos="549473" algn="l"/>
                <a:tab pos="550320" algn="l"/>
              </a:tabLst>
            </a:pPr>
            <a:r>
              <a:rPr sz="3200" b="1" spc="-7">
                <a:solidFill>
                  <a:srgbClr val="333333"/>
                </a:solidFill>
                <a:latin typeface="Times New Roman"/>
                <a:cs typeface="Times New Roman"/>
              </a:rPr>
              <a:t>Some</a:t>
            </a:r>
            <a:r>
              <a:rPr sz="3200" b="1" spc="-4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00" b="1" spc="-7">
                <a:solidFill>
                  <a:srgbClr val="333333"/>
                </a:solidFill>
                <a:latin typeface="Times New Roman"/>
                <a:cs typeface="Times New Roman"/>
              </a:rPr>
              <a:t>examples</a:t>
            </a:r>
            <a:r>
              <a:rPr sz="3200" b="1" spc="-33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00" b="1" spc="-20">
                <a:solidFill>
                  <a:srgbClr val="333333"/>
                </a:solidFill>
                <a:latin typeface="Times New Roman"/>
                <a:cs typeface="Times New Roman"/>
              </a:rPr>
              <a:t>are</a:t>
            </a:r>
            <a:r>
              <a:rPr sz="3200" b="1" spc="-33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00" b="1">
                <a:solidFill>
                  <a:srgbClr val="333333"/>
                </a:solidFill>
                <a:latin typeface="Times New Roman"/>
                <a:cs typeface="Times New Roman"/>
              </a:rPr>
              <a:t>as</a:t>
            </a:r>
            <a:r>
              <a:rPr sz="3200" b="1" spc="-33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00" b="1">
                <a:solidFill>
                  <a:srgbClr val="333333"/>
                </a:solidFill>
                <a:latin typeface="Times New Roman"/>
                <a:cs typeface="Times New Roman"/>
              </a:rPr>
              <a:t>follows: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77034" y="1101322"/>
          <a:ext cx="3196167" cy="26680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2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7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195">
                <a:tc>
                  <a:txBody>
                    <a:bodyPr/>
                    <a:lstStyle/>
                    <a:p>
                      <a:pPr marL="31750">
                        <a:lnSpc>
                          <a:spcPts val="2400"/>
                        </a:lnSpc>
                      </a:pPr>
                      <a:r>
                        <a:rPr sz="2900" spc="-5">
                          <a:latin typeface="Times New Roman"/>
                          <a:cs typeface="Times New Roman"/>
                        </a:rPr>
                        <a:t>Cat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2400"/>
                        </a:lnSpc>
                      </a:pPr>
                      <a:r>
                        <a:rPr sz="2900">
                          <a:latin typeface="Times New Roman"/>
                          <a:cs typeface="Times New Roman"/>
                        </a:rPr>
                        <a:t>→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2400"/>
                        </a:lnSpc>
                      </a:pPr>
                      <a:r>
                        <a:rPr sz="2900">
                          <a:latin typeface="Times New Roman"/>
                          <a:cs typeface="Times New Roman"/>
                        </a:rPr>
                        <a:t>Cat</a:t>
                      </a:r>
                      <a:r>
                        <a:rPr sz="2900" u="heavy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s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900" spc="-35">
                          <a:latin typeface="Times New Roman"/>
                          <a:cs typeface="Times New Roman"/>
                        </a:rPr>
                        <a:t>Teach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128693" marB="0"/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900">
                          <a:latin typeface="Times New Roman"/>
                          <a:cs typeface="Times New Roman"/>
                        </a:rPr>
                        <a:t>→</a:t>
                      </a:r>
                    </a:p>
                  </a:txBody>
                  <a:tcPr marL="0" marR="0" marT="128693" marB="0"/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900" spc="-25">
                          <a:latin typeface="Times New Roman"/>
                          <a:cs typeface="Times New Roman"/>
                        </a:rPr>
                        <a:t>Teach</a:t>
                      </a:r>
                      <a:r>
                        <a:rPr sz="2900" u="heavy" spc="-2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es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128693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83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900" spc="-5">
                          <a:latin typeface="Times New Roman"/>
                          <a:cs typeface="Times New Roman"/>
                        </a:rPr>
                        <a:t>Clean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128693" marB="0"/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900">
                          <a:latin typeface="Times New Roman"/>
                          <a:cs typeface="Times New Roman"/>
                        </a:rPr>
                        <a:t>→</a:t>
                      </a:r>
                    </a:p>
                  </a:txBody>
                  <a:tcPr marL="0" marR="0" marT="128693" marB="0"/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900" spc="-5">
                          <a:latin typeface="Times New Roman"/>
                          <a:cs typeface="Times New Roman"/>
                        </a:rPr>
                        <a:t>Clean</a:t>
                      </a:r>
                      <a:r>
                        <a:rPr sz="2900" u="heavy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ed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128693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195">
                <a:tc>
                  <a:txBody>
                    <a:bodyPr/>
                    <a:lstStyle/>
                    <a:p>
                      <a:pPr marL="31750">
                        <a:lnSpc>
                          <a:spcPts val="2575"/>
                        </a:lnSpc>
                        <a:spcBef>
                          <a:spcPts val="760"/>
                        </a:spcBef>
                      </a:pPr>
                      <a:r>
                        <a:rPr sz="2900" spc="-5">
                          <a:latin typeface="Times New Roman"/>
                          <a:cs typeface="Times New Roman"/>
                        </a:rPr>
                        <a:t>Pretty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128693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575"/>
                        </a:lnSpc>
                        <a:spcBef>
                          <a:spcPts val="760"/>
                        </a:spcBef>
                      </a:pPr>
                      <a:r>
                        <a:rPr sz="2900">
                          <a:latin typeface="Times New Roman"/>
                          <a:cs typeface="Times New Roman"/>
                        </a:rPr>
                        <a:t>→</a:t>
                      </a:r>
                    </a:p>
                  </a:txBody>
                  <a:tcPr marL="0" marR="0" marT="128693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2575"/>
                        </a:lnSpc>
                        <a:spcBef>
                          <a:spcPts val="760"/>
                        </a:spcBef>
                      </a:pPr>
                      <a:r>
                        <a:rPr sz="2900" spc="-5">
                          <a:latin typeface="Times New Roman"/>
                          <a:cs typeface="Times New Roman"/>
                        </a:rPr>
                        <a:t>Prett</a:t>
                      </a:r>
                      <a:r>
                        <a:rPr sz="2900" u="heavy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ier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128693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92795" y="1552042"/>
            <a:ext cx="11072707" cy="360891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46086" marR="7620" indent="-530000" algn="just">
              <a:lnSpc>
                <a:spcPct val="114999"/>
              </a:lnSpc>
              <a:spcBef>
                <a:spcPts val="133"/>
              </a:spcBef>
              <a:buFont typeface="Arial MT"/>
              <a:buChar char="●"/>
              <a:tabLst>
                <a:tab pos="546932" algn="l"/>
              </a:tabLst>
            </a:pPr>
            <a:r>
              <a:rPr sz="2933">
                <a:solidFill>
                  <a:srgbClr val="333333"/>
                </a:solidFill>
                <a:latin typeface="Times New Roman"/>
                <a:cs typeface="Times New Roman"/>
              </a:rPr>
              <a:t>Inflectional </a:t>
            </a:r>
            <a:r>
              <a:rPr sz="2933" spc="-7">
                <a:solidFill>
                  <a:srgbClr val="333333"/>
                </a:solidFill>
                <a:latin typeface="Times New Roman"/>
                <a:cs typeface="Times New Roman"/>
              </a:rPr>
              <a:t>morphemes </a:t>
            </a:r>
            <a:r>
              <a:rPr sz="2933">
                <a:solidFill>
                  <a:srgbClr val="333333"/>
                </a:solidFill>
                <a:latin typeface="Times New Roman"/>
                <a:cs typeface="Times New Roman"/>
              </a:rPr>
              <a:t>usually produce </a:t>
            </a:r>
            <a:r>
              <a:rPr sz="2933" spc="-7">
                <a:solidFill>
                  <a:srgbClr val="333333"/>
                </a:solidFill>
                <a:latin typeface="Times New Roman"/>
                <a:cs typeface="Times New Roman"/>
              </a:rPr>
              <a:t>different </a:t>
            </a:r>
            <a:r>
              <a:rPr sz="2933">
                <a:solidFill>
                  <a:srgbClr val="333333"/>
                </a:solidFill>
                <a:latin typeface="Times New Roman"/>
                <a:cs typeface="Times New Roman"/>
              </a:rPr>
              <a:t>forms of </a:t>
            </a:r>
            <a:r>
              <a:rPr sz="2933" spc="-7">
                <a:solidFill>
                  <a:srgbClr val="333333"/>
                </a:solidFill>
                <a:latin typeface="Times New Roman"/>
                <a:cs typeface="Times New Roman"/>
              </a:rPr>
              <a:t>the same </a:t>
            </a:r>
            <a:r>
              <a:rPr sz="2933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33" spc="-7">
                <a:solidFill>
                  <a:srgbClr val="333333"/>
                </a:solidFill>
                <a:latin typeface="Times New Roman"/>
                <a:cs typeface="Times New Roman"/>
              </a:rPr>
              <a:t>word,</a:t>
            </a:r>
            <a:r>
              <a:rPr sz="2933" spc="-13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33" spc="-7">
                <a:solidFill>
                  <a:srgbClr val="333333"/>
                </a:solidFill>
                <a:latin typeface="Times New Roman"/>
                <a:cs typeface="Times New Roman"/>
              </a:rPr>
              <a:t>instead </a:t>
            </a:r>
            <a:r>
              <a:rPr sz="2933">
                <a:solidFill>
                  <a:srgbClr val="333333"/>
                </a:solidFill>
                <a:latin typeface="Times New Roman"/>
                <a:cs typeface="Times New Roman"/>
              </a:rPr>
              <a:t>of </a:t>
            </a:r>
            <a:r>
              <a:rPr sz="2933" spc="-7">
                <a:solidFill>
                  <a:srgbClr val="333333"/>
                </a:solidFill>
                <a:latin typeface="Times New Roman"/>
                <a:cs typeface="Times New Roman"/>
              </a:rPr>
              <a:t>different words.</a:t>
            </a:r>
            <a:endParaRPr sz="2933">
              <a:latin typeface="Times New Roman"/>
              <a:cs typeface="Times New Roman"/>
            </a:endParaRPr>
          </a:p>
          <a:p>
            <a:pPr marL="546086" marR="6773" indent="-530000" algn="just">
              <a:lnSpc>
                <a:spcPct val="114999"/>
              </a:lnSpc>
              <a:buFont typeface="Arial MT"/>
              <a:buChar char="●"/>
              <a:tabLst>
                <a:tab pos="546932" algn="l"/>
              </a:tabLst>
            </a:pPr>
            <a:r>
              <a:rPr sz="2933">
                <a:solidFill>
                  <a:srgbClr val="333333"/>
                </a:solidFill>
                <a:latin typeface="Times New Roman"/>
                <a:cs typeface="Times New Roman"/>
              </a:rPr>
              <a:t>Inflection does not generally </a:t>
            </a:r>
            <a:r>
              <a:rPr sz="2933" spc="-7">
                <a:solidFill>
                  <a:srgbClr val="333333"/>
                </a:solidFill>
                <a:latin typeface="Times New Roman"/>
                <a:cs typeface="Times New Roman"/>
              </a:rPr>
              <a:t>change the </a:t>
            </a:r>
            <a:r>
              <a:rPr sz="2933">
                <a:solidFill>
                  <a:srgbClr val="333333"/>
                </a:solidFill>
                <a:latin typeface="Times New Roman"/>
                <a:cs typeface="Times New Roman"/>
              </a:rPr>
              <a:t>basic </a:t>
            </a:r>
            <a:r>
              <a:rPr sz="2933" spc="-7">
                <a:solidFill>
                  <a:srgbClr val="333333"/>
                </a:solidFill>
                <a:latin typeface="Times New Roman"/>
                <a:cs typeface="Times New Roman"/>
              </a:rPr>
              <a:t>meaning </a:t>
            </a:r>
            <a:r>
              <a:rPr sz="2933">
                <a:solidFill>
                  <a:srgbClr val="333333"/>
                </a:solidFill>
                <a:latin typeface="Times New Roman"/>
                <a:cs typeface="Times New Roman"/>
              </a:rPr>
              <a:t>of a </a:t>
            </a:r>
            <a:r>
              <a:rPr sz="2933" spc="-7">
                <a:solidFill>
                  <a:srgbClr val="333333"/>
                </a:solidFill>
                <a:latin typeface="Times New Roman"/>
                <a:cs typeface="Times New Roman"/>
              </a:rPr>
              <a:t>word as </a:t>
            </a:r>
            <a:r>
              <a:rPr sz="2933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33" spc="-7">
                <a:solidFill>
                  <a:srgbClr val="333333"/>
                </a:solidFill>
                <a:latin typeface="Times New Roman"/>
                <a:cs typeface="Times New Roman"/>
              </a:rPr>
              <a:t>they </a:t>
            </a:r>
            <a:r>
              <a:rPr sz="2933">
                <a:solidFill>
                  <a:srgbClr val="333333"/>
                </a:solidFill>
                <a:latin typeface="Times New Roman"/>
                <a:cs typeface="Times New Roman"/>
              </a:rPr>
              <a:t>only </a:t>
            </a:r>
            <a:r>
              <a:rPr sz="2933" spc="-7">
                <a:solidFill>
                  <a:srgbClr val="333333"/>
                </a:solidFill>
                <a:latin typeface="Times New Roman"/>
                <a:cs typeface="Times New Roman"/>
              </a:rPr>
              <a:t>add specifications to </a:t>
            </a:r>
            <a:r>
              <a:rPr sz="2933">
                <a:solidFill>
                  <a:srgbClr val="333333"/>
                </a:solidFill>
                <a:latin typeface="Times New Roman"/>
                <a:cs typeface="Times New Roman"/>
              </a:rPr>
              <a:t>a </a:t>
            </a:r>
            <a:r>
              <a:rPr sz="2933" spc="-7">
                <a:solidFill>
                  <a:srgbClr val="333333"/>
                </a:solidFill>
                <a:latin typeface="Times New Roman"/>
                <a:cs typeface="Times New Roman"/>
              </a:rPr>
              <a:t>word </a:t>
            </a:r>
            <a:r>
              <a:rPr sz="2933">
                <a:solidFill>
                  <a:srgbClr val="333333"/>
                </a:solidFill>
                <a:latin typeface="Times New Roman"/>
                <a:cs typeface="Times New Roman"/>
              </a:rPr>
              <a:t>or </a:t>
            </a:r>
            <a:r>
              <a:rPr sz="2933" spc="-7">
                <a:solidFill>
                  <a:srgbClr val="333333"/>
                </a:solidFill>
                <a:latin typeface="Times New Roman"/>
                <a:cs typeface="Times New Roman"/>
              </a:rPr>
              <a:t>emphasize certain aspects </a:t>
            </a:r>
            <a:r>
              <a:rPr sz="2933">
                <a:solidFill>
                  <a:srgbClr val="333333"/>
                </a:solidFill>
                <a:latin typeface="Times New Roman"/>
                <a:cs typeface="Times New Roman"/>
              </a:rPr>
              <a:t>of </a:t>
            </a:r>
            <a:r>
              <a:rPr sz="2933" spc="7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33" spc="-7">
                <a:solidFill>
                  <a:srgbClr val="333333"/>
                </a:solidFill>
                <a:latin typeface="Times New Roman"/>
                <a:cs typeface="Times New Roman"/>
              </a:rPr>
              <a:t>its</a:t>
            </a:r>
            <a:r>
              <a:rPr sz="2933" spc="-13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33" spc="-7">
                <a:solidFill>
                  <a:srgbClr val="333333"/>
                </a:solidFill>
                <a:latin typeface="Times New Roman"/>
                <a:cs typeface="Times New Roman"/>
              </a:rPr>
              <a:t>meaning.</a:t>
            </a:r>
            <a:endParaRPr sz="2933">
              <a:latin typeface="Times New Roman"/>
              <a:cs typeface="Times New Roman"/>
            </a:endParaRPr>
          </a:p>
          <a:p>
            <a:pPr marL="546086" marR="41486" indent="-530000" algn="just">
              <a:lnSpc>
                <a:spcPct val="114999"/>
              </a:lnSpc>
              <a:buFont typeface="Arial MT"/>
              <a:buChar char="●"/>
              <a:tabLst>
                <a:tab pos="546932" algn="l"/>
              </a:tabLst>
            </a:pPr>
            <a:r>
              <a:rPr sz="2933" spc="-53">
                <a:solidFill>
                  <a:srgbClr val="333333"/>
                </a:solidFill>
                <a:latin typeface="Times New Roman"/>
                <a:cs typeface="Times New Roman"/>
              </a:rPr>
              <a:t>Words </a:t>
            </a:r>
            <a:r>
              <a:rPr sz="2933">
                <a:solidFill>
                  <a:srgbClr val="333333"/>
                </a:solidFill>
                <a:latin typeface="Times New Roman"/>
                <a:cs typeface="Times New Roman"/>
              </a:rPr>
              <a:t>under </a:t>
            </a:r>
            <a:r>
              <a:rPr sz="2933" spc="-7">
                <a:solidFill>
                  <a:srgbClr val="333333"/>
                </a:solidFill>
                <a:latin typeface="Times New Roman"/>
                <a:cs typeface="Times New Roman"/>
              </a:rPr>
              <a:t>inflectional morphology are </a:t>
            </a:r>
            <a:r>
              <a:rPr sz="2933">
                <a:solidFill>
                  <a:srgbClr val="333333"/>
                </a:solidFill>
                <a:latin typeface="Times New Roman"/>
                <a:cs typeface="Times New Roman"/>
              </a:rPr>
              <a:t>not found </a:t>
            </a:r>
            <a:r>
              <a:rPr sz="2933" spc="-7">
                <a:solidFill>
                  <a:srgbClr val="333333"/>
                </a:solidFill>
                <a:latin typeface="Times New Roman"/>
                <a:cs typeface="Times New Roman"/>
              </a:rPr>
              <a:t>as separate entries </a:t>
            </a:r>
            <a:r>
              <a:rPr sz="2933" spc="-713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33" spc="-7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2933" spc="-13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33">
                <a:solidFill>
                  <a:srgbClr val="333333"/>
                </a:solidFill>
                <a:latin typeface="Times New Roman"/>
                <a:cs typeface="Times New Roman"/>
              </a:rPr>
              <a:t>dictionaries.</a:t>
            </a:r>
            <a:endParaRPr sz="293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2967" y="1192861"/>
            <a:ext cx="9028853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0">
                <a:latin typeface="Times New Roman"/>
                <a:cs typeface="Times New Roman"/>
              </a:rPr>
              <a:t>In</a:t>
            </a:r>
            <a:r>
              <a:rPr spc="-13">
                <a:latin typeface="Times New Roman"/>
                <a:cs typeface="Times New Roman"/>
              </a:rPr>
              <a:t> </a:t>
            </a:r>
            <a:r>
              <a:rPr spc="-7">
                <a:latin typeface="Times New Roman"/>
                <a:cs typeface="Times New Roman"/>
              </a:rPr>
              <a:t>English</a:t>
            </a:r>
            <a:r>
              <a:rPr spc="-13">
                <a:latin typeface="Times New Roman"/>
                <a:cs typeface="Times New Roman"/>
              </a:rPr>
              <a:t> </a:t>
            </a:r>
            <a:r>
              <a:rPr spc="-7">
                <a:latin typeface="Times New Roman"/>
                <a:cs typeface="Times New Roman"/>
              </a:rPr>
              <a:t>there</a:t>
            </a:r>
            <a:r>
              <a:rPr spc="-13">
                <a:latin typeface="Times New Roman"/>
                <a:cs typeface="Times New Roman"/>
              </a:rPr>
              <a:t> </a:t>
            </a:r>
            <a:r>
              <a:rPr spc="-7">
                <a:latin typeface="Times New Roman"/>
                <a:cs typeface="Times New Roman"/>
              </a:rPr>
              <a:t>are</a:t>
            </a:r>
            <a:r>
              <a:rPr spc="-13">
                <a:latin typeface="Times New Roman"/>
                <a:cs typeface="Times New Roman"/>
              </a:rPr>
              <a:t> </a:t>
            </a:r>
            <a:r>
              <a:rPr b="0">
                <a:latin typeface="Times New Roman"/>
                <a:cs typeface="Times New Roman"/>
              </a:rPr>
              <a:t>only</a:t>
            </a:r>
            <a:r>
              <a:rPr spc="-7">
                <a:latin typeface="Times New Roman"/>
                <a:cs typeface="Times New Roman"/>
              </a:rPr>
              <a:t> eight</a:t>
            </a:r>
            <a:r>
              <a:rPr spc="-13">
                <a:latin typeface="Times New Roman"/>
                <a:cs typeface="Times New Roman"/>
              </a:rPr>
              <a:t> </a:t>
            </a:r>
            <a:r>
              <a:rPr spc="-7">
                <a:latin typeface="Times New Roman"/>
                <a:cs typeface="Times New Roman"/>
              </a:rPr>
              <a:t>total</a:t>
            </a:r>
            <a:r>
              <a:rPr spc="-13">
                <a:latin typeface="Times New Roman"/>
                <a:cs typeface="Times New Roman"/>
              </a:rPr>
              <a:t> </a:t>
            </a:r>
            <a:r>
              <a:rPr spc="-7">
                <a:latin typeface="Times New Roman"/>
                <a:cs typeface="Times New Roman"/>
              </a:rPr>
              <a:t>inflectional</a:t>
            </a:r>
            <a:r>
              <a:rPr spc="-13">
                <a:latin typeface="Times New Roman"/>
                <a:cs typeface="Times New Roman"/>
              </a:rPr>
              <a:t> affixes: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47350" y="171610"/>
          <a:ext cx="6944355" cy="65018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4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4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4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2732">
                <a:tc>
                  <a:txBody>
                    <a:bodyPr/>
                    <a:lstStyle/>
                    <a:p>
                      <a:pPr marL="5619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>
                          <a:latin typeface="Arial MT"/>
                          <a:cs typeface="Arial MT"/>
                        </a:rPr>
                        <a:t>-s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2128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5">
                          <a:latin typeface="Arial MT"/>
                          <a:cs typeface="Arial MT"/>
                        </a:rPr>
                        <a:t>3rd</a:t>
                      </a:r>
                      <a:r>
                        <a:rPr sz="19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5">
                          <a:latin typeface="Arial MT"/>
                          <a:cs typeface="Arial MT"/>
                        </a:rPr>
                        <a:t>person</a:t>
                      </a:r>
                      <a:r>
                        <a:rPr sz="19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>
                          <a:latin typeface="Arial MT"/>
                          <a:cs typeface="Arial MT"/>
                        </a:rPr>
                        <a:t>singular </a:t>
                      </a:r>
                      <a:r>
                        <a:rPr sz="1900" spc="-375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5">
                          <a:latin typeface="Arial MT"/>
                          <a:cs typeface="Arial MT"/>
                        </a:rPr>
                        <a:t>present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>
                          <a:latin typeface="Arial MT"/>
                          <a:cs typeface="Arial MT"/>
                        </a:rPr>
                        <a:t>she</a:t>
                      </a:r>
                      <a:r>
                        <a:rPr sz="19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5">
                          <a:latin typeface="Arial MT"/>
                          <a:cs typeface="Arial MT"/>
                        </a:rPr>
                        <a:t>waits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732">
                <a:tc>
                  <a:txBody>
                    <a:bodyPr/>
                    <a:lstStyle/>
                    <a:p>
                      <a:pPr marL="5619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>
                          <a:latin typeface="Arial MT"/>
                          <a:cs typeface="Arial MT"/>
                        </a:rPr>
                        <a:t>-ed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5">
                          <a:latin typeface="Arial MT"/>
                          <a:cs typeface="Arial MT"/>
                        </a:rPr>
                        <a:t>past</a:t>
                      </a:r>
                      <a:r>
                        <a:rPr sz="19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5">
                          <a:latin typeface="Arial MT"/>
                          <a:cs typeface="Arial MT"/>
                        </a:rPr>
                        <a:t>tense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5">
                          <a:latin typeface="Arial MT"/>
                          <a:cs typeface="Arial MT"/>
                        </a:rPr>
                        <a:t>he</a:t>
                      </a:r>
                      <a:r>
                        <a:rPr sz="19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5">
                          <a:latin typeface="Arial MT"/>
                          <a:cs typeface="Arial MT"/>
                        </a:rPr>
                        <a:t>walked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732">
                <a:tc>
                  <a:txBody>
                    <a:bodyPr/>
                    <a:lstStyle/>
                    <a:p>
                      <a:pPr marL="5619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>
                          <a:latin typeface="Arial MT"/>
                          <a:cs typeface="Arial MT"/>
                        </a:rPr>
                        <a:t>-ing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5">
                          <a:latin typeface="Arial MT"/>
                          <a:cs typeface="Arial MT"/>
                        </a:rPr>
                        <a:t>progressive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>
                          <a:latin typeface="Arial MT"/>
                          <a:cs typeface="Arial MT"/>
                        </a:rPr>
                        <a:t>she's</a:t>
                      </a:r>
                      <a:r>
                        <a:rPr sz="19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5">
                          <a:latin typeface="Arial MT"/>
                          <a:cs typeface="Arial MT"/>
                        </a:rPr>
                        <a:t>watching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265">
                <a:tc>
                  <a:txBody>
                    <a:bodyPr/>
                    <a:lstStyle/>
                    <a:p>
                      <a:pPr marL="5619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>
                          <a:latin typeface="Arial MT"/>
                          <a:cs typeface="Arial MT"/>
                        </a:rPr>
                        <a:t>-en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5">
                          <a:latin typeface="Arial MT"/>
                          <a:cs typeface="Arial MT"/>
                        </a:rPr>
                        <a:t>past</a:t>
                      </a:r>
                      <a:r>
                        <a:rPr sz="19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5">
                          <a:latin typeface="Arial MT"/>
                          <a:cs typeface="Arial MT"/>
                        </a:rPr>
                        <a:t>participle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>
                          <a:latin typeface="Arial MT"/>
                          <a:cs typeface="Arial MT"/>
                        </a:rPr>
                        <a:t>she</a:t>
                      </a:r>
                      <a:r>
                        <a:rPr sz="19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5">
                          <a:latin typeface="Arial MT"/>
                          <a:cs typeface="Arial MT"/>
                        </a:rPr>
                        <a:t>has</a:t>
                      </a:r>
                      <a:r>
                        <a:rPr sz="19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5">
                          <a:latin typeface="Arial MT"/>
                          <a:cs typeface="Arial MT"/>
                        </a:rPr>
                        <a:t>eaten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732">
                <a:tc>
                  <a:txBody>
                    <a:bodyPr/>
                    <a:lstStyle/>
                    <a:p>
                      <a:pPr marL="5619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>
                          <a:latin typeface="Arial MT"/>
                          <a:cs typeface="Arial MT"/>
                        </a:rPr>
                        <a:t>-s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5">
                          <a:latin typeface="Arial MT"/>
                          <a:cs typeface="Arial MT"/>
                        </a:rPr>
                        <a:t>plural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5">
                          <a:latin typeface="Arial MT"/>
                          <a:cs typeface="Arial MT"/>
                        </a:rPr>
                        <a:t>three</a:t>
                      </a:r>
                      <a:r>
                        <a:rPr sz="19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5">
                          <a:latin typeface="Arial MT"/>
                          <a:cs typeface="Arial MT"/>
                        </a:rPr>
                        <a:t>tables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2732">
                <a:tc>
                  <a:txBody>
                    <a:bodyPr/>
                    <a:lstStyle/>
                    <a:p>
                      <a:pPr marL="5619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>
                          <a:latin typeface="Arial MT"/>
                          <a:cs typeface="Arial MT"/>
                        </a:rPr>
                        <a:t>-'s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5">
                          <a:latin typeface="Arial MT"/>
                          <a:cs typeface="Arial MT"/>
                        </a:rPr>
                        <a:t>possessive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5">
                          <a:latin typeface="Arial MT"/>
                          <a:cs typeface="Arial MT"/>
                        </a:rPr>
                        <a:t>Holly's</a:t>
                      </a:r>
                      <a:r>
                        <a:rPr sz="19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>
                          <a:latin typeface="Arial MT"/>
                          <a:cs typeface="Arial MT"/>
                        </a:rPr>
                        <a:t>cat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2732">
                <a:tc>
                  <a:txBody>
                    <a:bodyPr/>
                    <a:lstStyle/>
                    <a:p>
                      <a:pPr marL="5619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>
                          <a:latin typeface="Arial MT"/>
                          <a:cs typeface="Arial MT"/>
                        </a:rPr>
                        <a:t>-er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>
                          <a:latin typeface="Arial MT"/>
                          <a:cs typeface="Arial MT"/>
                        </a:rPr>
                        <a:t>comparative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>
                          <a:latin typeface="Arial MT"/>
                          <a:cs typeface="Arial MT"/>
                        </a:rPr>
                        <a:t>you</a:t>
                      </a:r>
                      <a:r>
                        <a:rPr sz="19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5">
                          <a:latin typeface="Arial MT"/>
                          <a:cs typeface="Arial MT"/>
                        </a:rPr>
                        <a:t>are</a:t>
                      </a:r>
                      <a:r>
                        <a:rPr sz="19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5">
                          <a:latin typeface="Arial MT"/>
                          <a:cs typeface="Arial MT"/>
                        </a:rPr>
                        <a:t>taller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97232">
                <a:tc>
                  <a:txBody>
                    <a:bodyPr/>
                    <a:lstStyle/>
                    <a:p>
                      <a:pPr marL="5619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>
                          <a:latin typeface="Arial MT"/>
                          <a:cs typeface="Arial MT"/>
                        </a:rPr>
                        <a:t>-est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>
                          <a:latin typeface="Arial MT"/>
                          <a:cs typeface="Arial MT"/>
                        </a:rPr>
                        <a:t>superlative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>
                          <a:latin typeface="Arial MT"/>
                          <a:cs typeface="Arial MT"/>
                        </a:rPr>
                        <a:t>you</a:t>
                      </a:r>
                      <a:r>
                        <a:rPr sz="19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5">
                          <a:latin typeface="Arial MT"/>
                          <a:cs typeface="Arial MT"/>
                        </a:rPr>
                        <a:t>are</a:t>
                      </a:r>
                      <a:r>
                        <a:rPr sz="19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sz="19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5">
                          <a:latin typeface="Arial MT"/>
                          <a:cs typeface="Arial MT"/>
                        </a:rPr>
                        <a:t>tallest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0" y="730100"/>
            <a:ext cx="12090399" cy="53620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685521" y="4778067"/>
            <a:ext cx="288290" cy="167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rgbClr val="59595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IN" smtClean="0"/>
              <a:pPr marL="108585">
                <a:spcBef>
                  <a:spcPts val="5"/>
                </a:spcBef>
              </a:pPr>
              <a:t>67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B83C1-A9E8-E5A2-D172-3F32DC25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Inflectional morphology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947E6-D775-69A0-76D7-58DD6DB31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Grammatical : number, tense, case, gender</a:t>
            </a:r>
          </a:p>
          <a:p>
            <a:r>
              <a:rPr lang="en-US" b="1"/>
              <a:t>Creates new forms of the same word</a:t>
            </a:r>
          </a:p>
          <a:p>
            <a:r>
              <a:rPr lang="en-US" b="1"/>
              <a:t> </a:t>
            </a:r>
            <a:r>
              <a:rPr lang="en-US" b="1" err="1"/>
              <a:t>eg.</a:t>
            </a:r>
            <a:r>
              <a:rPr lang="en-US" b="1"/>
              <a:t> Bring, brought, brings, bringing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13686122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88144-9338-D0F0-E7CD-983401E84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71060"/>
            <a:ext cx="10744200" cy="6162261"/>
          </a:xfrm>
        </p:spPr>
        <p:txBody>
          <a:bodyPr/>
          <a:lstStyle/>
          <a:p>
            <a:r>
              <a:rPr lang="en-US" b="1"/>
              <a:t>English has relatively simple inflectional system:</a:t>
            </a:r>
          </a:p>
          <a:p>
            <a:pPr marL="0" indent="0">
              <a:buNone/>
            </a:pPr>
            <a:r>
              <a:rPr lang="en-US" b="1"/>
              <a:t> nouns, verbs, sometimes adjectives can be inflected.</a:t>
            </a:r>
          </a:p>
          <a:p>
            <a:pPr marL="0" indent="0">
              <a:buNone/>
            </a:pPr>
            <a:r>
              <a:rPr lang="en-US" b="1"/>
              <a:t>A. </a:t>
            </a:r>
            <a:r>
              <a:rPr lang="en-US" b="1" i="1" u="sng"/>
              <a:t>English noun </a:t>
            </a:r>
            <a:r>
              <a:rPr lang="en-US" b="1"/>
              <a:t>has two kinds of inflection:</a:t>
            </a:r>
          </a:p>
          <a:p>
            <a:pPr marL="0" indent="0">
              <a:buNone/>
            </a:pPr>
            <a:r>
              <a:rPr lang="en-US" b="1"/>
              <a:t>An affix that marks plural and an affix that marks possessive. </a:t>
            </a:r>
          </a:p>
          <a:p>
            <a:pPr marL="514350" indent="-514350">
              <a:buAutoNum type="arabicPeriod"/>
            </a:pPr>
            <a:r>
              <a:rPr lang="en-US" b="1">
                <a:solidFill>
                  <a:srgbClr val="002060"/>
                </a:solidFill>
              </a:rPr>
              <a:t>Singular and plural </a:t>
            </a:r>
          </a:p>
          <a:p>
            <a:pPr marL="514350" indent="-514350">
              <a:buAutoNum type="arabicPeriod"/>
            </a:pPr>
            <a:endParaRPr lang="en-US" b="1">
              <a:solidFill>
                <a:srgbClr val="002060"/>
              </a:solidFill>
            </a:endParaRPr>
          </a:p>
          <a:p>
            <a:pPr marL="514350" indent="-514350">
              <a:buAutoNum type="arabicPeriod"/>
            </a:pPr>
            <a:endParaRPr lang="en-US" b="1">
              <a:solidFill>
                <a:srgbClr val="002060"/>
              </a:solidFill>
            </a:endParaRPr>
          </a:p>
          <a:p>
            <a:pPr marL="514350" indent="-514350">
              <a:buAutoNum type="arabicPeriod"/>
            </a:pPr>
            <a:endParaRPr lang="en-US" b="1">
              <a:solidFill>
                <a:srgbClr val="002060"/>
              </a:solidFill>
            </a:endParaRPr>
          </a:p>
          <a:p>
            <a:pPr marL="514350" indent="-514350">
              <a:buAutoNum type="arabicPeriod"/>
            </a:pPr>
            <a:endParaRPr lang="en-US" b="1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b="1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b="1">
                <a:solidFill>
                  <a:srgbClr val="002060"/>
                </a:solidFill>
              </a:rPr>
              <a:t>2. Possessive suffix (apostrophe  + -s)</a:t>
            </a:r>
          </a:p>
          <a:p>
            <a:pPr marL="0" indent="0">
              <a:buNone/>
            </a:pPr>
            <a:r>
              <a:rPr lang="en-US" b="1"/>
              <a:t> e.g.  Emma’s, children’s, llamas’</a:t>
            </a:r>
            <a:endParaRPr lang="en-IN" b="1"/>
          </a:p>
          <a:p>
            <a:pPr marL="514350" indent="-514350">
              <a:buAutoNum type="arabicPeriod"/>
            </a:pPr>
            <a:endParaRPr lang="en-IN" b="1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F0349D-FF45-4490-2A2C-C54E9B8E0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867" y="2810185"/>
            <a:ext cx="6531665" cy="189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649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07C66-B5E6-0368-65C2-4D970A20E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288"/>
            <a:ext cx="10515600" cy="5951676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B. English has three kinds of </a:t>
            </a:r>
            <a:r>
              <a:rPr lang="en-US" b="1" i="1" u="sng"/>
              <a:t>verbs</a:t>
            </a:r>
            <a:r>
              <a:rPr lang="en-US" b="1"/>
              <a:t>:</a:t>
            </a:r>
          </a:p>
          <a:p>
            <a:pPr marL="0" indent="0">
              <a:buNone/>
            </a:pPr>
            <a:r>
              <a:rPr lang="en-US" b="1"/>
              <a:t>      main verbs (eat, sleep)</a:t>
            </a:r>
          </a:p>
          <a:p>
            <a:pPr marL="0" indent="0">
              <a:buNone/>
            </a:pPr>
            <a:r>
              <a:rPr lang="en-US" b="1"/>
              <a:t>      modal verbs (can, will, should)</a:t>
            </a:r>
          </a:p>
          <a:p>
            <a:pPr marL="0" indent="0">
              <a:buNone/>
            </a:pPr>
            <a:r>
              <a:rPr lang="en-US" b="1"/>
              <a:t>      primary verbs (be, have, do)</a:t>
            </a:r>
          </a:p>
          <a:p>
            <a:pPr marL="0" indent="0">
              <a:buNone/>
            </a:pPr>
            <a:endParaRPr lang="en-IN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5CB929-525E-C033-E988-C06DB2E3D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773" y="2381976"/>
            <a:ext cx="8494643" cy="20575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F7D623-24F2-6817-5082-ED2111110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774" y="4547566"/>
            <a:ext cx="8494643" cy="231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21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1768" y="349052"/>
            <a:ext cx="6677334" cy="697627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60"/>
              </a:spcBef>
            </a:pPr>
            <a:r>
              <a:rPr b="1">
                <a:solidFill>
                  <a:srgbClr val="C00000"/>
                </a:solidFill>
              </a:rPr>
              <a:t>Derivational</a:t>
            </a:r>
            <a:r>
              <a:rPr b="1" spc="-47">
                <a:solidFill>
                  <a:srgbClr val="C00000"/>
                </a:solidFill>
              </a:rPr>
              <a:t> </a:t>
            </a:r>
            <a:r>
              <a:rPr b="1" spc="7">
                <a:solidFill>
                  <a:srgbClr val="C00000"/>
                </a:solidFill>
              </a:rPr>
              <a:t>Morphology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8544" y="1091319"/>
            <a:ext cx="11071860" cy="467536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46086" marR="6773" indent="-530000">
              <a:lnSpc>
                <a:spcPct val="150000"/>
              </a:lnSpc>
              <a:spcBef>
                <a:spcPts val="133"/>
              </a:spcBef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b="1" spc="-7">
                <a:solidFill>
                  <a:srgbClr val="333333"/>
                </a:solidFill>
                <a:cs typeface="Times New Roman"/>
              </a:rPr>
              <a:t>Derivational</a:t>
            </a:r>
            <a:r>
              <a:rPr sz="2933" b="1" spc="233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morphology</a:t>
            </a:r>
            <a:r>
              <a:rPr sz="2933" b="1" spc="240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is</a:t>
            </a:r>
            <a:r>
              <a:rPr sz="2933" b="1" spc="233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the</a:t>
            </a:r>
            <a:r>
              <a:rPr sz="2933" b="1" spc="240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study</a:t>
            </a:r>
            <a:r>
              <a:rPr sz="2933" b="1" spc="240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of</a:t>
            </a:r>
            <a:r>
              <a:rPr sz="2933" b="1" spc="233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the</a:t>
            </a:r>
            <a:r>
              <a:rPr sz="2933" b="1" spc="240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formation</a:t>
            </a:r>
            <a:r>
              <a:rPr sz="2933" b="1" spc="240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of</a:t>
            </a:r>
            <a:r>
              <a:rPr sz="2933" b="1" spc="233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new</a:t>
            </a:r>
            <a:r>
              <a:rPr sz="2933" b="1" spc="240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words </a:t>
            </a:r>
            <a:r>
              <a:rPr sz="2933" b="1" spc="-713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that</a:t>
            </a:r>
            <a:r>
              <a:rPr sz="2933" b="1" spc="-13">
                <a:solidFill>
                  <a:srgbClr val="333333"/>
                </a:solidFill>
                <a:cs typeface="Times New Roman"/>
              </a:rPr>
              <a:t> differ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 either in</a:t>
            </a:r>
            <a:r>
              <a:rPr sz="2933" b="1" spc="-13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syntactic</a:t>
            </a:r>
            <a:r>
              <a:rPr sz="2933" b="1" spc="-13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category 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or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 in meaning</a:t>
            </a:r>
            <a:r>
              <a:rPr sz="2933" b="1" spc="-13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from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 their 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bases.</a:t>
            </a:r>
            <a:endParaRPr sz="2933" b="1">
              <a:cs typeface="Times New Roman"/>
            </a:endParaRPr>
          </a:p>
          <a:p>
            <a:pPr marL="546086" marR="33866" indent="-530000">
              <a:lnSpc>
                <a:spcPct val="150000"/>
              </a:lnSpc>
              <a:buFont typeface="Arial MT"/>
              <a:buChar char="●"/>
              <a:tabLst>
                <a:tab pos="546086" algn="l"/>
                <a:tab pos="546932" algn="l"/>
              </a:tabLst>
            </a:pPr>
            <a:r>
              <a:rPr sz="2933" b="1">
                <a:solidFill>
                  <a:srgbClr val="333333"/>
                </a:solidFill>
                <a:cs typeface="Times New Roman"/>
              </a:rPr>
              <a:t>A</a:t>
            </a:r>
            <a:r>
              <a:rPr sz="2933" b="1" spc="320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derivational</a:t>
            </a:r>
            <a:r>
              <a:rPr sz="2933" b="1" spc="480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morpheme</a:t>
            </a:r>
            <a:r>
              <a:rPr sz="2933" b="1" spc="473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is</a:t>
            </a:r>
            <a:r>
              <a:rPr sz="2933" b="1" spc="473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an</a:t>
            </a:r>
            <a:r>
              <a:rPr sz="2933" b="1" spc="473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13">
                <a:solidFill>
                  <a:srgbClr val="333333"/>
                </a:solidFill>
                <a:cs typeface="Times New Roman"/>
              </a:rPr>
              <a:t>affix</a:t>
            </a:r>
            <a:r>
              <a:rPr sz="2933" b="1" spc="480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we</a:t>
            </a:r>
            <a:r>
              <a:rPr sz="2933" b="1" spc="480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add</a:t>
            </a:r>
            <a:r>
              <a:rPr sz="2933" b="1" spc="473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to</a:t>
            </a:r>
            <a:r>
              <a:rPr sz="2933" b="1" spc="473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a</a:t>
            </a:r>
            <a:r>
              <a:rPr sz="2933" b="1" spc="473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word</a:t>
            </a:r>
            <a:r>
              <a:rPr sz="2933" b="1" spc="480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in</a:t>
            </a:r>
            <a:r>
              <a:rPr sz="2933" b="1" spc="480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order</a:t>
            </a:r>
            <a:r>
              <a:rPr sz="2933" b="1" spc="480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to </a:t>
            </a:r>
            <a:r>
              <a:rPr sz="2933" b="1" spc="-713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create</a:t>
            </a:r>
            <a:r>
              <a:rPr sz="2933" b="1" spc="-13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a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new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 word 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or a</a:t>
            </a:r>
            <a:r>
              <a:rPr sz="2933" b="1" spc="-13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new form of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a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 word.</a:t>
            </a:r>
            <a:endParaRPr sz="2933" b="1">
              <a:cs typeface="Times New Roman"/>
            </a:endParaRPr>
          </a:p>
          <a:p>
            <a:pPr marL="546086" marR="33866" indent="-530000">
              <a:lnSpc>
                <a:spcPct val="150000"/>
              </a:lnSpc>
              <a:buFont typeface="Arial MT"/>
              <a:buChar char="●"/>
              <a:tabLst>
                <a:tab pos="546086" algn="l"/>
                <a:tab pos="546932" algn="l"/>
                <a:tab pos="1012588" algn="l"/>
                <a:tab pos="3008978" algn="l"/>
                <a:tab pos="4814873" algn="l"/>
                <a:tab pos="5547221" algn="l"/>
                <a:tab pos="6608915" algn="l"/>
                <a:tab pos="7877190" algn="l"/>
                <a:tab pos="8548580" algn="l"/>
                <a:tab pos="10044602" algn="l"/>
                <a:tab pos="10572062" algn="l"/>
              </a:tabLst>
            </a:pPr>
            <a:r>
              <a:rPr sz="2933" b="1">
                <a:solidFill>
                  <a:srgbClr val="333333"/>
                </a:solidFill>
                <a:cs typeface="Times New Roman"/>
              </a:rPr>
              <a:t>A	derivational	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morphem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e	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ca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n	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eithe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r	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chang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e	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th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e	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meanin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g	or	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the  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grammatical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 category </a:t>
            </a:r>
            <a:r>
              <a:rPr sz="2933" b="1">
                <a:solidFill>
                  <a:srgbClr val="333333"/>
                </a:solidFill>
                <a:cs typeface="Times New Roman"/>
              </a:rPr>
              <a:t>of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the</a:t>
            </a:r>
            <a:r>
              <a:rPr sz="2933" b="1" spc="-13">
                <a:solidFill>
                  <a:srgbClr val="333333"/>
                </a:solidFill>
                <a:cs typeface="Times New Roman"/>
              </a:rPr>
              <a:t> </a:t>
            </a:r>
            <a:r>
              <a:rPr sz="2933" b="1" spc="-7">
                <a:solidFill>
                  <a:srgbClr val="333333"/>
                </a:solidFill>
                <a:cs typeface="Times New Roman"/>
              </a:rPr>
              <a:t>word.</a:t>
            </a:r>
            <a:endParaRPr sz="2933" b="1">
              <a:cs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5C8FD-70F8-CDB9-7A67-2F0285B33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Derivational morphology 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F8843-6173-43B6-15E8-18541514A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/>
              <a:t>Derivation is the combination of a word stem with a grammatical morpheme, usually resulting in a word of a different class, often with a meaning hard to predict exactly.</a:t>
            </a:r>
          </a:p>
          <a:p>
            <a:pPr algn="just"/>
            <a:r>
              <a:rPr lang="en-US" b="1"/>
              <a:t>A very common kind of derivation in English is the formation of new nouns, often from verbs or adjectives. This process is called nominalization. </a:t>
            </a:r>
          </a:p>
          <a:p>
            <a:pPr algn="just"/>
            <a:r>
              <a:rPr lang="en-US" b="1"/>
              <a:t>Creates new words by changing part- of- speech</a:t>
            </a:r>
          </a:p>
          <a:p>
            <a:pPr algn="just"/>
            <a:r>
              <a:rPr lang="en-US" b="1"/>
              <a:t> e.g. logic, logical, illogical, logician</a:t>
            </a:r>
          </a:p>
          <a:p>
            <a:pPr algn="just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91678368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83932-23AD-C9B9-9C71-3B1CB550D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47" y="596348"/>
            <a:ext cx="11502887" cy="5936974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1. Verbs : The suffix -</a:t>
            </a:r>
            <a:r>
              <a:rPr lang="en-US" b="1" err="1"/>
              <a:t>ation</a:t>
            </a:r>
            <a:r>
              <a:rPr lang="en-US" b="1"/>
              <a:t> produces nouns from verbs ending often in the suffix -</a:t>
            </a:r>
            <a:r>
              <a:rPr lang="en-US" b="1" err="1"/>
              <a:t>ize</a:t>
            </a:r>
            <a:r>
              <a:rPr lang="en-US" b="1"/>
              <a:t> (computerize → computerization).</a:t>
            </a:r>
            <a:endParaRPr lang="en-IN" b="1"/>
          </a:p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r>
              <a:rPr lang="en-US" b="1"/>
              <a:t>2. Adjectives can also be derived from nouns and verbs.</a:t>
            </a:r>
            <a:endParaRPr lang="en-IN" b="1"/>
          </a:p>
          <a:p>
            <a:pPr marL="0" indent="0">
              <a:buNone/>
            </a:pPr>
            <a:endParaRPr lang="en-IN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2A5288-1822-627C-2EB8-026DB3D82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183" y="1483414"/>
            <a:ext cx="7300913" cy="24789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FDEBA0-5BF0-788B-7A2E-65363D34E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183" y="4585873"/>
            <a:ext cx="7300913" cy="217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16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18D9E-B932-416A-279D-B43C30AE9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Morphological process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8E9C5-CC1C-9AEF-9372-0DB0D352E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3083"/>
          </a:xfrm>
        </p:spPr>
        <p:txBody>
          <a:bodyPr/>
          <a:lstStyle/>
          <a:p>
            <a:r>
              <a:rPr lang="en-US" b="1"/>
              <a:t>There are many processes. Some are:</a:t>
            </a:r>
          </a:p>
          <a:p>
            <a:pPr marL="514350" indent="-514350">
              <a:buAutoNum type="arabicPeriod"/>
            </a:pPr>
            <a:r>
              <a:rPr lang="en-US" b="1"/>
              <a:t>Concatenation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/>
              <a:t>Adding continuous affixes </a:t>
            </a:r>
          </a:p>
          <a:p>
            <a:pPr marL="0" indent="0">
              <a:buNone/>
            </a:pPr>
            <a:r>
              <a:rPr lang="en-US" b="1"/>
              <a:t>e.g. </a:t>
            </a:r>
            <a:r>
              <a:rPr lang="en-US" b="1" err="1"/>
              <a:t>hope+less</a:t>
            </a:r>
            <a:r>
              <a:rPr lang="en-US" b="1"/>
              <a:t>, </a:t>
            </a:r>
            <a:r>
              <a:rPr lang="en-US" b="1" err="1"/>
              <a:t>un_happy</a:t>
            </a:r>
            <a:r>
              <a:rPr lang="en-US" b="1"/>
              <a:t>, </a:t>
            </a:r>
            <a:r>
              <a:rPr lang="en-US" b="1" err="1"/>
              <a:t>anti+capital+ist+s</a:t>
            </a:r>
            <a:endParaRPr lang="en-US" b="1"/>
          </a:p>
          <a:p>
            <a:pPr>
              <a:buFont typeface="Wingdings" panose="05000000000000000000" pitchFamily="2" charset="2"/>
              <a:buChar char="§"/>
            </a:pPr>
            <a:r>
              <a:rPr lang="en-US" b="1"/>
              <a:t>There are two types of changes in concatenation</a:t>
            </a:r>
          </a:p>
          <a:p>
            <a:pPr marL="514350" indent="-514350">
              <a:buAutoNum type="alphaLcPeriod"/>
            </a:pPr>
            <a:r>
              <a:rPr lang="en-US" b="1"/>
              <a:t>Phonological</a:t>
            </a:r>
          </a:p>
          <a:p>
            <a:pPr marL="0" indent="0">
              <a:buNone/>
            </a:pPr>
            <a:r>
              <a:rPr lang="en-US" b="1"/>
              <a:t> </a:t>
            </a:r>
            <a:r>
              <a:rPr lang="en-US" b="1" err="1"/>
              <a:t>shoe+s</a:t>
            </a:r>
            <a:r>
              <a:rPr lang="en-US" b="1"/>
              <a:t> [z]</a:t>
            </a:r>
          </a:p>
          <a:p>
            <a:pPr marL="0" indent="0">
              <a:buNone/>
            </a:pPr>
            <a:r>
              <a:rPr lang="en-US" b="1"/>
              <a:t> b. graphemic </a:t>
            </a:r>
          </a:p>
          <a:p>
            <a:pPr marL="0" indent="0">
              <a:buNone/>
            </a:pPr>
            <a:r>
              <a:rPr lang="en-IN" b="1" err="1"/>
              <a:t>Happy+er</a:t>
            </a:r>
            <a:r>
              <a:rPr lang="en-IN" b="1"/>
              <a:t>-&gt; happier</a:t>
            </a:r>
          </a:p>
        </p:txBody>
      </p:sp>
    </p:spTree>
    <p:extLst>
      <p:ext uri="{BB962C8B-B14F-4D97-AF65-F5344CB8AC3E}">
        <p14:creationId xmlns:p14="http://schemas.microsoft.com/office/powerpoint/2010/main" val="315748083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1A822-FB5C-41B6-2F8C-06A038BBC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3583"/>
            <a:ext cx="10515600" cy="5673380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2. Reduplication </a:t>
            </a:r>
          </a:p>
          <a:p>
            <a:pPr marL="0" indent="0">
              <a:buNone/>
            </a:pPr>
            <a:r>
              <a:rPr lang="en-US" b="1"/>
              <a:t>Part of the word or entire word is doubled</a:t>
            </a:r>
            <a:endParaRPr lang="en-IN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" y="2214562"/>
            <a:ext cx="1182052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66223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3529C-AE35-E566-4A53-29DF93572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7078"/>
            <a:ext cx="10515600" cy="5699885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3. Suppletion</a:t>
            </a:r>
          </a:p>
          <a:p>
            <a:pPr marL="0" indent="0">
              <a:buNone/>
            </a:pPr>
            <a:r>
              <a:rPr lang="en-US" b="1"/>
              <a:t>‘irregular’ relation between the words</a:t>
            </a:r>
          </a:p>
          <a:p>
            <a:pPr marL="0" indent="0">
              <a:buNone/>
            </a:pPr>
            <a:r>
              <a:rPr lang="en-US" b="1"/>
              <a:t>e.g. go- went, good –better</a:t>
            </a:r>
          </a:p>
          <a:p>
            <a:pPr marL="0" indent="0">
              <a:buNone/>
            </a:pPr>
            <a:r>
              <a:rPr lang="en-US" b="1"/>
              <a:t>4. Morpheme internal changes</a:t>
            </a:r>
          </a:p>
          <a:p>
            <a:pPr marL="0" indent="0">
              <a:buNone/>
            </a:pPr>
            <a:r>
              <a:rPr lang="en-US" b="1"/>
              <a:t>The word changes internally</a:t>
            </a:r>
          </a:p>
          <a:p>
            <a:pPr marL="0" indent="0">
              <a:buNone/>
            </a:pPr>
            <a:r>
              <a:rPr lang="en-US" b="1"/>
              <a:t>e.g. sing-sang-sung, man-men, goose-geese 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392004494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F7CC2-A73C-438E-F138-3FABE83EF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5176"/>
            <a:ext cx="10515600" cy="816829"/>
          </a:xfrm>
        </p:spPr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Word formation 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1AFD6-D5CB-FE15-D0DF-5EB00E9A6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043" y="822005"/>
            <a:ext cx="11194774" cy="5354958"/>
          </a:xfrm>
        </p:spPr>
        <p:txBody>
          <a:bodyPr/>
          <a:lstStyle/>
          <a:p>
            <a:pPr marL="514350" indent="-514350">
              <a:buAutoNum type="alphaUcPeriod"/>
            </a:pPr>
            <a:r>
              <a:rPr lang="en-US" b="1"/>
              <a:t>Compounding </a:t>
            </a:r>
          </a:p>
          <a:p>
            <a:pPr marL="0" indent="0">
              <a:buNone/>
            </a:pPr>
            <a:r>
              <a:rPr lang="en-US" b="1"/>
              <a:t>Words formed by combining two or more words</a:t>
            </a:r>
          </a:p>
          <a:p>
            <a:pPr marL="0" indent="0">
              <a:buNone/>
            </a:pPr>
            <a:r>
              <a:rPr lang="en-US" b="1"/>
              <a:t>e.g. 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B. Blending </a:t>
            </a:r>
          </a:p>
          <a:p>
            <a:pPr marL="0" indent="0">
              <a:buNone/>
            </a:pPr>
            <a:r>
              <a:rPr lang="en-US" b="1"/>
              <a:t>Parts of two different words are combined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IN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65A062-CC66-9A47-9D32-0B064D986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293" y="1970885"/>
            <a:ext cx="6147289" cy="20415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04581F-551D-BA0A-B488-5CC1FBBE3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293" y="4883470"/>
            <a:ext cx="6147289" cy="178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7675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4595F-01D1-6E81-361C-F386A33B3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17" y="410816"/>
            <a:ext cx="11476383" cy="6135757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C. Clipping </a:t>
            </a:r>
          </a:p>
          <a:p>
            <a:pPr marL="0" indent="0">
              <a:buNone/>
            </a:pPr>
            <a:r>
              <a:rPr lang="en-US" b="1"/>
              <a:t>Longer words are shortened</a:t>
            </a:r>
          </a:p>
          <a:p>
            <a:pPr marL="0" indent="0">
              <a:buNone/>
            </a:pPr>
            <a:r>
              <a:rPr lang="en-US" b="1"/>
              <a:t>Doctor- doc </a:t>
            </a:r>
          </a:p>
          <a:p>
            <a:pPr marL="0" indent="0">
              <a:buNone/>
            </a:pPr>
            <a:r>
              <a:rPr lang="en-US" b="1"/>
              <a:t>Laboratory-lab</a:t>
            </a:r>
          </a:p>
          <a:p>
            <a:pPr marL="0" indent="0">
              <a:buNone/>
            </a:pPr>
            <a:r>
              <a:rPr lang="en-US" b="1"/>
              <a:t>Advertisement- ad</a:t>
            </a:r>
          </a:p>
          <a:p>
            <a:pPr marL="0" indent="0">
              <a:buNone/>
            </a:pPr>
            <a:r>
              <a:rPr lang="en-US" b="1"/>
              <a:t>Dormitory- dorm</a:t>
            </a:r>
          </a:p>
          <a:p>
            <a:pPr marL="0" indent="0">
              <a:buNone/>
            </a:pPr>
            <a:r>
              <a:rPr lang="en-US" b="1"/>
              <a:t>Examination- exam</a:t>
            </a:r>
          </a:p>
          <a:p>
            <a:pPr marL="0" indent="0">
              <a:buNone/>
            </a:pPr>
            <a:r>
              <a:rPr lang="en-US" b="1"/>
              <a:t>Bicycle- cycle</a:t>
            </a:r>
          </a:p>
          <a:p>
            <a:pPr marL="0" indent="0">
              <a:buNone/>
            </a:pPr>
            <a:r>
              <a:rPr lang="en-US" b="1"/>
              <a:t>Refrigerator- fridge</a:t>
            </a:r>
          </a:p>
          <a:p>
            <a:pPr marL="0" indent="0">
              <a:buNone/>
            </a:pP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74586618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6D4AF-831C-1D2A-169B-8AA1574B5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Processing morphology </a:t>
            </a:r>
            <a:endParaRPr lang="en-IN" b="1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1F32A5-5E02-3A78-63FE-8C14B523E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682" y="1892990"/>
            <a:ext cx="8515350" cy="819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1F059E-79DA-443F-9FE9-016327EE3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682" y="2914442"/>
            <a:ext cx="8915400" cy="742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8A40FF-64F9-5C6E-6575-3609E99F9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682" y="3736697"/>
            <a:ext cx="8305800" cy="723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A23087-6212-40EC-15E5-C2217895A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07" y="4652546"/>
            <a:ext cx="8467725" cy="45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364853-0E05-13D2-E190-048D3AE508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682" y="5455751"/>
            <a:ext cx="86296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1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E8CCA-AF28-918D-2DD8-AF414D36C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Applications :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F4650-4C4B-4CD8-4596-69A95DA23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Text to speech synthesis</a:t>
            </a:r>
          </a:p>
          <a:p>
            <a:pPr marL="0" indent="0">
              <a:buNone/>
            </a:pPr>
            <a:r>
              <a:rPr lang="en-US" b="1"/>
              <a:t> read: present or post?</a:t>
            </a:r>
          </a:p>
          <a:p>
            <a:pPr marL="0" indent="0">
              <a:buNone/>
            </a:pPr>
            <a:r>
              <a:rPr lang="en-US" b="1"/>
              <a:t>Lead :verb or past?</a:t>
            </a:r>
          </a:p>
          <a:p>
            <a:r>
              <a:rPr lang="en-US" b="1"/>
              <a:t>Search and information retrieval</a:t>
            </a:r>
          </a:p>
          <a:p>
            <a:r>
              <a:rPr lang="en-US" b="1"/>
              <a:t>Machine translation, grammar correction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373394618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A074-37E2-C10D-E8BD-A78943784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965" y="179596"/>
            <a:ext cx="10515600" cy="62878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Morphological analysis</a:t>
            </a:r>
            <a:endParaRPr lang="en-IN" b="1">
              <a:solidFill>
                <a:srgbClr val="C00000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3A4F005-8263-157A-0842-EFF6A216E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869" y="4940610"/>
            <a:ext cx="11098696" cy="1737793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EA4FE7-6533-38A8-DE24-56618750A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074" y="940904"/>
            <a:ext cx="8153400" cy="373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01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0265-D7AE-9B38-4B71-A8D2A194C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043"/>
            <a:ext cx="10515600" cy="5911920"/>
          </a:xfrm>
        </p:spPr>
        <p:txBody>
          <a:bodyPr/>
          <a:lstStyle/>
          <a:p>
            <a:pPr algn="just"/>
            <a:r>
              <a:rPr lang="en-US" b="1"/>
              <a:t>In order to build a morphological parser, we’ll need at least the following:  </a:t>
            </a:r>
          </a:p>
          <a:p>
            <a:pPr marL="514350" indent="-514350" algn="just">
              <a:buAutoNum type="arabicPeriod"/>
            </a:pPr>
            <a:r>
              <a:rPr lang="en-US" b="1" u="sng"/>
              <a:t>lexicon:</a:t>
            </a:r>
            <a:r>
              <a:rPr lang="en-US" b="1"/>
              <a:t> </a:t>
            </a:r>
            <a:r>
              <a:rPr lang="en-US" b="1" u="sng"/>
              <a:t>The list of stems and affixes</a:t>
            </a:r>
            <a:r>
              <a:rPr lang="en-US" b="1"/>
              <a:t>, together with basic information about them (whether a stem is a Noun stem or a Verb stem, etc.). </a:t>
            </a:r>
          </a:p>
          <a:p>
            <a:pPr marL="514350" indent="-514350" algn="just">
              <a:buAutoNum type="arabicPeriod"/>
            </a:pPr>
            <a:r>
              <a:rPr lang="en-US" b="1" u="sng"/>
              <a:t>Morphotactic :</a:t>
            </a:r>
            <a:r>
              <a:rPr lang="en-US" b="1"/>
              <a:t> </a:t>
            </a:r>
            <a:r>
              <a:rPr lang="en-US" b="1" u="sng"/>
              <a:t>The model of morpheme ordering that explains which classes of morphemes can follow other classes of morphemes inside a word</a:t>
            </a:r>
            <a:r>
              <a:rPr lang="en-US" b="1"/>
              <a:t>. For example, the fact that the English plural morpheme follows the noun rather than preceding it is a morphotactic fact. </a:t>
            </a:r>
          </a:p>
          <a:p>
            <a:pPr marL="514350" indent="-514350" algn="just">
              <a:buAutoNum type="arabicPeriod"/>
            </a:pPr>
            <a:r>
              <a:rPr lang="en-US" b="1" u="sng"/>
              <a:t>Orthographic  rules</a:t>
            </a:r>
            <a:r>
              <a:rPr lang="en-US" b="1"/>
              <a:t>: </a:t>
            </a:r>
            <a:r>
              <a:rPr lang="en-US" b="1" u="sng"/>
              <a:t>These spelling rules are used to model the changes that occur in a word, usually when two morphemes combine </a:t>
            </a:r>
            <a:r>
              <a:rPr lang="en-US" b="1"/>
              <a:t>(e.g., the y → </a:t>
            </a:r>
            <a:r>
              <a:rPr lang="en-US" b="1" err="1"/>
              <a:t>ie</a:t>
            </a:r>
            <a:r>
              <a:rPr lang="en-US" b="1"/>
              <a:t> spelling rule discussed above that changes city + -s to cities rather than </a:t>
            </a:r>
            <a:r>
              <a:rPr lang="en-US" b="1" err="1"/>
              <a:t>citys</a:t>
            </a:r>
            <a:r>
              <a:rPr lang="en-US" b="1"/>
              <a:t>).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250067997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9BC4A-8803-90E5-582E-98A7BBE87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Issues involved</a:t>
            </a:r>
            <a:endParaRPr lang="en-IN" b="1">
              <a:solidFill>
                <a:srgbClr val="C0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429F1E-B5DC-24E0-783A-B1BDF48D9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9179" y="1977536"/>
            <a:ext cx="7918206" cy="3371850"/>
          </a:xfrm>
        </p:spPr>
      </p:pic>
    </p:spTree>
    <p:extLst>
      <p:ext uri="{BB962C8B-B14F-4D97-AF65-F5344CB8AC3E}">
        <p14:creationId xmlns:p14="http://schemas.microsoft.com/office/powerpoint/2010/main" val="399797950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66A0D-3CB9-DF3A-1963-D4552A716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rmAutofit/>
          </a:bodyPr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Things we must know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5AD124-08E4-84A6-0BE7-1C6A7FD63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7" y="1271452"/>
            <a:ext cx="11847444" cy="11345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BF60D0-B9CD-F4A8-B9F2-DC7804DBF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17" y="2617302"/>
            <a:ext cx="11847444" cy="15205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72D1D4-857F-8960-A62C-18D444F08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17" y="4349124"/>
            <a:ext cx="11953461" cy="11337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CC82F4-402B-CE27-617C-CEAB306A0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17" y="5612794"/>
            <a:ext cx="11953461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9438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EADDC-02B5-8562-A015-46FD76818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711B6-E98F-BDC3-6EA7-D210BFD42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1322"/>
            <a:ext cx="10515600" cy="4531553"/>
          </a:xfrm>
        </p:spPr>
        <p:txBody>
          <a:bodyPr/>
          <a:lstStyle/>
          <a:p>
            <a:r>
              <a:rPr lang="en-IN">
                <a:hlinkClick r:id="rId2"/>
              </a:rPr>
              <a:t>https://web.stanford.edu/~jurafsky/slp3/14.pdf</a:t>
            </a:r>
            <a:endParaRPr lang="en-IN"/>
          </a:p>
          <a:p>
            <a:r>
              <a:rPr lang="en-US">
                <a:hlinkClick r:id="rId3"/>
              </a:rPr>
              <a:t>Quick Introduction to Smoothing Techniques for Language Models - Data Analytics (vitalflux.com)</a:t>
            </a:r>
            <a:endParaRPr lang="en-US"/>
          </a:p>
          <a:p>
            <a:r>
              <a:rPr lang="en-US"/>
              <a:t>NPTEL courses</a:t>
            </a:r>
          </a:p>
          <a:p>
            <a:r>
              <a:rPr lang="en-US"/>
              <a:t>Dan </a:t>
            </a:r>
            <a:r>
              <a:rPr lang="en-US" err="1"/>
              <a:t>Jurafsky</a:t>
            </a:r>
            <a:r>
              <a:rPr lang="en-US"/>
              <a:t> </a:t>
            </a:r>
            <a:r>
              <a:rPr lang="en-US" err="1"/>
              <a:t>coursera</a:t>
            </a:r>
            <a:endParaRPr lang="en-US"/>
          </a:p>
          <a:p>
            <a:r>
              <a:rPr lang="en-US"/>
              <a:t>T1-Jurafsky.pdf: Chapter 2,3,4</a:t>
            </a:r>
          </a:p>
        </p:txBody>
      </p:sp>
    </p:spTree>
    <p:extLst>
      <p:ext uri="{BB962C8B-B14F-4D97-AF65-F5344CB8AC3E}">
        <p14:creationId xmlns:p14="http://schemas.microsoft.com/office/powerpoint/2010/main" val="3193512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4781794_Research presentation_RVA_v3" id="{DF2794B4-2314-4F87-8639-5DCB9EEE28EE}" vid="{3B969E49-204F-4FF6-BD10-D26195B8D4D7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9595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CA875DA-F9FD-4F83-A049-3B1027B542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AB02E3-5ADF-4BF0-9C1B-35CDF3FE95B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3C7D9E6-B0D9-433E-BD46-EB60F64F4DA8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Research presentation</Template>
  <Application>Microsoft Office PowerPoint</Application>
  <PresentationFormat>Widescreen</PresentationFormat>
  <Slides>85</Slides>
  <Notes>8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85</vt:i4>
      </vt:variant>
    </vt:vector>
  </HeadingPairs>
  <TitlesOfParts>
    <vt:vector size="87" baseType="lpstr">
      <vt:lpstr>Office Theme</vt:lpstr>
      <vt:lpstr>1_Office Theme</vt:lpstr>
      <vt:lpstr>  B.Tech Sem-VII  Prof. Shirin matwankar</vt:lpstr>
      <vt:lpstr>Module 2- Text Processing and Word-Level Analysis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 terms of text processing</vt:lpstr>
      <vt:lpstr>Pre-Processing Steps</vt:lpstr>
      <vt:lpstr>Steps of NLP</vt:lpstr>
      <vt:lpstr>PowerPoint Presentation</vt:lpstr>
      <vt:lpstr>Sentence Segmentation </vt:lpstr>
      <vt:lpstr>Word Tokenization</vt:lpstr>
      <vt:lpstr>PowerPoint Presentation</vt:lpstr>
      <vt:lpstr>PowerPoint Presentation</vt:lpstr>
      <vt:lpstr>Issues in word Tokenization</vt:lpstr>
      <vt:lpstr>PowerPoint Presentation</vt:lpstr>
      <vt:lpstr>PowerPoint Presentation</vt:lpstr>
      <vt:lpstr>Longest word  Source (Wikipedia) </vt:lpstr>
      <vt:lpstr>Text Normalization</vt:lpstr>
      <vt:lpstr>Normalization </vt:lpstr>
      <vt:lpstr>Case folding </vt:lpstr>
      <vt:lpstr>Stemming </vt:lpstr>
      <vt:lpstr>POS tags</vt:lpstr>
      <vt:lpstr>Lemmatization </vt:lpstr>
      <vt:lpstr>PowerPoint Presentation</vt:lpstr>
      <vt:lpstr>Identifying of stop words </vt:lpstr>
      <vt:lpstr>Filtering </vt:lpstr>
      <vt:lpstr>Dependency parsing</vt:lpstr>
      <vt:lpstr>PowerPoint Presentation</vt:lpstr>
      <vt:lpstr>Chunking </vt:lpstr>
      <vt:lpstr>PowerPoint Presentation</vt:lpstr>
      <vt:lpstr>PowerPoint Presentation</vt:lpstr>
      <vt:lpstr>Morphology </vt:lpstr>
      <vt:lpstr>Morphology</vt:lpstr>
      <vt:lpstr>Morphology</vt:lpstr>
      <vt:lpstr>Morpheme</vt:lpstr>
      <vt:lpstr>Free Morpheme</vt:lpstr>
      <vt:lpstr>Bound Morpheme</vt:lpstr>
      <vt:lpstr>PowerPoint Presentation</vt:lpstr>
      <vt:lpstr>Types of morphemes</vt:lpstr>
      <vt:lpstr>PowerPoint Presentation</vt:lpstr>
      <vt:lpstr>Stems and affixes </vt:lpstr>
      <vt:lpstr>Types of affixes</vt:lpstr>
      <vt:lpstr>PowerPoint Presentation</vt:lpstr>
      <vt:lpstr>PowerPoint Presentation</vt:lpstr>
      <vt:lpstr>Inflectional and Derivational Morphology</vt:lpstr>
      <vt:lpstr>Open class words and Closed class words</vt:lpstr>
      <vt:lpstr>PowerPoint Presentation</vt:lpstr>
      <vt:lpstr>PowerPoint Presentation</vt:lpstr>
      <vt:lpstr>Types of Morphology</vt:lpstr>
      <vt:lpstr>Types of Morphology</vt:lpstr>
      <vt:lpstr>Inflectional Morphology</vt:lpstr>
      <vt:lpstr>PowerPoint Presentation</vt:lpstr>
      <vt:lpstr>PowerPoint Presentation</vt:lpstr>
      <vt:lpstr>PowerPoint Presentation</vt:lpstr>
      <vt:lpstr>In English there are only eight total inflectional affixes:</vt:lpstr>
      <vt:lpstr>PowerPoint Presentation</vt:lpstr>
      <vt:lpstr>PowerPoint Presentation</vt:lpstr>
      <vt:lpstr>Inflectional morphology</vt:lpstr>
      <vt:lpstr>PowerPoint Presentation</vt:lpstr>
      <vt:lpstr>PowerPoint Presentation</vt:lpstr>
      <vt:lpstr>Derivational Morphology</vt:lpstr>
      <vt:lpstr>Derivational morphology </vt:lpstr>
      <vt:lpstr>PowerPoint Presentation</vt:lpstr>
      <vt:lpstr>Morphological process</vt:lpstr>
      <vt:lpstr>PowerPoint Presentation</vt:lpstr>
      <vt:lpstr>PowerPoint Presentation</vt:lpstr>
      <vt:lpstr>Word formation </vt:lpstr>
      <vt:lpstr>PowerPoint Presentation</vt:lpstr>
      <vt:lpstr>Processing morphology </vt:lpstr>
      <vt:lpstr>Applications :</vt:lpstr>
      <vt:lpstr>Morphological analysis</vt:lpstr>
      <vt:lpstr>PowerPoint Presentation</vt:lpstr>
      <vt:lpstr>Issues involved</vt:lpstr>
      <vt:lpstr>Things we must know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 Sem-VII</dc:title>
  <dc:creator>Shirin Matwankar</dc:creator>
  <cp:revision>5</cp:revision>
  <dcterms:created xsi:type="dcterms:W3CDTF">2021-07-16T13:33:36Z</dcterms:created>
  <dcterms:modified xsi:type="dcterms:W3CDTF">2026-08-26T07:55:54Z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