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77" r:id="rId11"/>
    <p:sldId id="268" r:id="rId12"/>
    <p:sldId id="278" r:id="rId13"/>
    <p:sldId id="270" r:id="rId14"/>
    <p:sldId id="271" r:id="rId15"/>
    <p:sldId id="272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ADCF-B4C0-2D04-C053-6F3D7E729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AC9DB-2F63-7CA5-1111-BD7BF7BB7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4B55B-138F-CCEE-E51C-4FC7CAE8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DB30-0E63-98F0-AC66-1E7A4A827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B59D-3402-0E0A-5C17-916C5E6D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82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7647-63D6-C02A-23B8-76EF6301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936D3-31B3-FA05-B9B7-40ECDE24B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129EE-A1F2-694F-E48C-9D329430E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BE3C-A342-95E0-2A14-9CA85429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D8D45-4FFB-80ED-951B-6B01E213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45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4576-0DE0-F6D8-F28E-735BB5D0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A5D79-B388-A5DC-8493-FA1E79946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5953-32D7-C2A0-39AC-413F5256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16829-3AFF-EA73-75E2-A568949E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7CF06-7583-B916-AF04-5094BAF46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7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F9E1-0770-3850-97E4-B60E703E2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254A7-6332-38B2-931E-A1FA84A42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911B9-A7AE-FCB6-1A2B-83F05087E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DE6C-57CA-A632-B5E3-61DF708F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3CF0E-CB04-2F11-7ADE-EE541E15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E4055-6C9C-4656-5307-E1E24263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78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FAFB-9677-7B05-DB55-2BEDB61C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0D154-B55C-B0E2-09F5-B50A162B7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76654-6385-D1AA-EAA1-DD750DB93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121487-419C-B88D-B5E4-A70C91AB4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51088-F3F9-539A-01F8-D71CBED42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B5C2F-5C34-8852-E4D5-4E3FB2FD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A795F0-E661-6C6F-C007-393C18AA5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083554-81BA-FA60-7074-A5772857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048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363C-77B5-E951-82F5-2889DC64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8E23B-1344-5599-E54F-5E411E2E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3794F-705A-C3F4-5CE1-464FE64D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DA652-8DA2-7C6A-8B37-A095C705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01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436B4-C7F2-AA87-F274-FEEBAB57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143F72-836A-834A-A19F-E77FD847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3E75D-0167-7907-C0E0-7FBEF13E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29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D7830-9265-8C15-9C8C-0D24014F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9236F-D458-1D16-BE07-3CC28DB52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5F128-3047-A3B0-B3F7-F74D958C6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C124D-5C43-FAD3-AEE4-141F8F0EE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252D8-4231-6F43-D971-373F816F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12EB9-CC2D-56EA-946A-A376AF21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89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D2C2-140B-1DB8-0900-FCC692EE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7CF167-51DD-04B0-2659-AD92354C7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A8599-706C-F090-E9E6-3A1047169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DD299-C60C-4220-8950-A838334E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12FD2-9F22-3274-563B-FC5AD57E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50D7A-0DCF-55EC-EEB3-EFEA8204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22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327F-EB17-509B-2725-219426E5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3D0D9-AF67-3CD9-C79F-0C270813A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BF911-1142-6CED-CEFD-5F187FD2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6F8E2-5905-22E8-26ED-B3C09FA7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55640-C1F1-0758-EC0C-53E0C7D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5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A7905-7A53-E217-7409-7512D1EF9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D8F27-DA43-BD6F-BAAE-795168BD3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3AE18-A31A-BC6B-48AF-6D611F166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3B5B4-DC11-3A94-59FC-00FFA362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02D0F-349B-D796-59B4-672C3D39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51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26A3F-50BB-AEFD-2977-36FF7455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9E512-70CF-8DA7-CC64-75A930DD6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A4220-54BC-DE34-BB63-4857A3D0E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28B56-9236-4AF1-AD04-EEF14E3D6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1905A-278F-40CA-7C9B-4E783C81A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AD7E6-9F3B-BBF4-2BCC-60A60A9C2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EB262-C452-49A6-A47E-B9A29B4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0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B08A-5CAD-50AE-A40E-4E25ABF87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41977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CEPEC7032 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NATURAL LANGUAGE PROCESSING 	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B.Tech. VII</a:t>
            </a:r>
            <a:br>
              <a:rPr lang="en-IN" b="1" dirty="0">
                <a:solidFill>
                  <a:srgbClr val="C0000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DB091-DCDD-8EDD-ED30-206FD0A29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1673"/>
            <a:ext cx="10515600" cy="3335289"/>
          </a:xfrm>
        </p:spPr>
        <p:txBody>
          <a:bodyPr/>
          <a:lstStyle/>
          <a:p>
            <a:r>
              <a:rPr lang="en-US" b="1" dirty="0"/>
              <a:t>MSE Question Paper Pattern</a:t>
            </a:r>
          </a:p>
          <a:p>
            <a:r>
              <a:rPr lang="en-US" b="1" dirty="0"/>
              <a:t>MSE Syllabus</a:t>
            </a:r>
          </a:p>
          <a:p>
            <a:r>
              <a:rPr lang="en-US" b="1" dirty="0"/>
              <a:t>Practice and Revision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0549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AB69-3F81-1CED-D09E-3D23B6FD5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-30" dirty="0">
                <a:solidFill>
                  <a:srgbClr val="C00000"/>
                </a:solidFill>
              </a:rPr>
              <a:t>Question</a:t>
            </a:r>
            <a:r>
              <a:rPr lang="en-US" b="1" spc="-80" dirty="0">
                <a:solidFill>
                  <a:srgbClr val="C00000"/>
                </a:solidFill>
              </a:rPr>
              <a:t> </a:t>
            </a:r>
            <a:r>
              <a:rPr lang="en-US" b="1" spc="-10" dirty="0">
                <a:solidFill>
                  <a:srgbClr val="C00000"/>
                </a:solidFill>
              </a:rPr>
              <a:t>Paper</a:t>
            </a:r>
            <a:r>
              <a:rPr lang="en-US" b="1" spc="-75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Pattern</a:t>
            </a:r>
            <a:r>
              <a:rPr lang="en-US" b="1" spc="-75" dirty="0">
                <a:solidFill>
                  <a:srgbClr val="C00000"/>
                </a:solidFill>
              </a:rPr>
              <a:t> </a:t>
            </a:r>
            <a:r>
              <a:rPr lang="en-US" b="1" spc="-10" dirty="0">
                <a:solidFill>
                  <a:srgbClr val="C00000"/>
                </a:solidFill>
              </a:rPr>
              <a:t>for</a:t>
            </a:r>
            <a:r>
              <a:rPr lang="en-US" b="1" spc="-75" dirty="0">
                <a:solidFill>
                  <a:srgbClr val="C00000"/>
                </a:solidFill>
              </a:rPr>
              <a:t> </a:t>
            </a:r>
            <a:r>
              <a:rPr lang="en-US" b="1" spc="-25" dirty="0">
                <a:solidFill>
                  <a:srgbClr val="C00000"/>
                </a:solidFill>
              </a:rPr>
              <a:t>MSE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991FD-35D2-FBF4-E387-A37D20288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MSE </a:t>
            </a:r>
            <a:r>
              <a:rPr lang="en-US" b="1" spc="-25" dirty="0">
                <a:solidFill>
                  <a:srgbClr val="002060"/>
                </a:solidFill>
              </a:rPr>
              <a:t>(30 Marks)</a:t>
            </a:r>
          </a:p>
          <a:p>
            <a:r>
              <a:rPr lang="en-US" dirty="0"/>
              <a:t>Question 1 [08 Marks] [4 out of 5] [2 Marks each] : Mapped to CO – 1,2,3</a:t>
            </a:r>
          </a:p>
          <a:p>
            <a:r>
              <a:rPr lang="en-US" dirty="0"/>
              <a:t>Question 2 [12 Marks] [3 out of 4] [4 Marks each]: Mapped to CO - 3</a:t>
            </a:r>
          </a:p>
          <a:p>
            <a:r>
              <a:rPr lang="en-US" dirty="0"/>
              <a:t>Question 3 [10 Marks] [2 out of 3] [5 Marks each]: Mapped to CO - 2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61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D0D4-6829-37F0-181F-1E81FE8F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983"/>
            <a:ext cx="10515600" cy="71041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MSE: SYLLABUS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13882-25E0-5B36-FE05-BB562C47B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7792"/>
            <a:ext cx="10515600" cy="5866226"/>
          </a:xfrm>
        </p:spPr>
        <p:txBody>
          <a:bodyPr>
            <a:noAutofit/>
          </a:bodyPr>
          <a:lstStyle/>
          <a:p>
            <a:pPr algn="just"/>
            <a:r>
              <a:rPr lang="en-US" sz="2200" b="1" dirty="0">
                <a:solidFill>
                  <a:srgbClr val="002060"/>
                </a:solidFill>
              </a:rPr>
              <a:t>Module 1: Introduction to NLP</a:t>
            </a:r>
            <a:endParaRPr lang="en-IN" sz="2200" b="1" dirty="0">
              <a:solidFill>
                <a:srgbClr val="002060"/>
              </a:solidFill>
            </a:endParaRPr>
          </a:p>
          <a:p>
            <a:pPr lvl="1" algn="just"/>
            <a:r>
              <a:rPr lang="en-US" sz="2200" dirty="0"/>
              <a:t>1.1 NLP Pipeline and Levels of Analysis: Stages in NLP processing-text preprocessing, morphological, syntactic, semantic, pragmatic, and application-level stages. </a:t>
            </a:r>
          </a:p>
          <a:p>
            <a:pPr lvl="1" algn="just"/>
            <a:r>
              <a:rPr lang="en-US" sz="2200" dirty="0"/>
              <a:t>1.2 Ambiguity and Challenges in NLP (English and Indian Languages) </a:t>
            </a:r>
          </a:p>
          <a:p>
            <a:pPr lvl="1" algn="just"/>
            <a:r>
              <a:rPr lang="en-IN" sz="2200" dirty="0"/>
              <a:t>1.3 Applications of NLP </a:t>
            </a:r>
          </a:p>
          <a:p>
            <a:pPr lvl="1" algn="just"/>
            <a:r>
              <a:rPr lang="en-US" sz="2200" dirty="0"/>
              <a:t>1.4 Tools and Resources: NLTK, </a:t>
            </a:r>
            <a:r>
              <a:rPr lang="en-US" sz="2200" dirty="0" err="1"/>
              <a:t>SpaCy</a:t>
            </a:r>
            <a:r>
              <a:rPr lang="en-US" sz="2200" dirty="0"/>
              <a:t>, Hugging Face 	</a:t>
            </a:r>
          </a:p>
          <a:p>
            <a:pPr algn="just"/>
            <a:r>
              <a:rPr lang="en-US" sz="2200" b="1" dirty="0">
                <a:solidFill>
                  <a:srgbClr val="002060"/>
                </a:solidFill>
              </a:rPr>
              <a:t>Module 2: Text Processing and Word-Level Analysis </a:t>
            </a:r>
          </a:p>
          <a:p>
            <a:pPr lvl="1" algn="just"/>
            <a:r>
              <a:rPr lang="en-US" sz="2200" dirty="0"/>
              <a:t>2.1 Lexical Analysis: Basics of lexical processing and word representation. </a:t>
            </a:r>
          </a:p>
          <a:p>
            <a:pPr lvl="1" algn="just"/>
            <a:r>
              <a:rPr lang="en-US" sz="2200" dirty="0"/>
              <a:t>2.2 Empirical Laws on Raw Text 2.3 Preprocessing tasks: Sentence segmentation, tokenization, normalization, stop-word removal, stemming, lemmatization 	</a:t>
            </a:r>
          </a:p>
          <a:p>
            <a:pPr lvl="1" algn="just"/>
            <a:r>
              <a:rPr lang="en-US" sz="2200" dirty="0"/>
              <a:t>2.4 Morphological Analysis: Inflectional and derivational morphology </a:t>
            </a:r>
          </a:p>
          <a:p>
            <a:pPr lvl="1" algn="just"/>
            <a:r>
              <a:rPr lang="en-US" sz="2200" dirty="0"/>
              <a:t>2.5 Regular Relations and Finite-State Morphology: Regular expressions, finite-state automata, and transducers for morphological analysis. </a:t>
            </a:r>
          </a:p>
          <a:p>
            <a:pPr lvl="1" algn="just"/>
            <a:r>
              <a:rPr lang="en-US" sz="2200" dirty="0"/>
              <a:t>2.6 Stemming and Lemmatization: Porter and Snowball algorithms; dictionary- and rule-based lemmatization. </a:t>
            </a:r>
          </a:p>
          <a:p>
            <a:pPr lvl="1" algn="just"/>
            <a:r>
              <a:rPr lang="en-IN" sz="2200" dirty="0"/>
              <a:t>2.7 Statistical Models:</a:t>
            </a:r>
            <a:r>
              <a:rPr lang="en-US" sz="2200" dirty="0"/>
              <a:t>2.7.1 N-gram Models: unigram, bigram, trigram, and their evaluation. </a:t>
            </a:r>
          </a:p>
          <a:p>
            <a:pPr marL="457200" lvl="1" indent="0" algn="just">
              <a:buNone/>
            </a:pPr>
            <a:endParaRPr lang="en-US" sz="2200" dirty="0"/>
          </a:p>
          <a:p>
            <a:pPr marL="1371600" lvl="3" indent="0" algn="just">
              <a:buNone/>
            </a:pPr>
            <a:r>
              <a:rPr lang="en-US" sz="2200" dirty="0"/>
              <a:t>	</a:t>
            </a:r>
          </a:p>
          <a:p>
            <a:pPr algn="just"/>
            <a:endParaRPr lang="en-US" sz="2200" dirty="0"/>
          </a:p>
          <a:p>
            <a:pPr marL="457200" lvl="1" indent="0" algn="just">
              <a:buNone/>
            </a:pPr>
            <a:r>
              <a:rPr lang="en-US" sz="2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42040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2145-8DDB-A43D-C5B8-73DA4D15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331A-86F8-A9E7-2C37-54D58993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809" y="0"/>
            <a:ext cx="10515600" cy="4226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MSE: SYLLABUS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9C62D-65D2-C261-4B75-2631ED66F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4" y="422666"/>
            <a:ext cx="11788725" cy="6231351"/>
          </a:xfrm>
        </p:spPr>
        <p:txBody>
          <a:bodyPr>
            <a:noAutofit/>
          </a:bodyPr>
          <a:lstStyle/>
          <a:p>
            <a:pPr algn="just"/>
            <a:r>
              <a:rPr lang="en-US" sz="2200" b="1" dirty="0">
                <a:solidFill>
                  <a:srgbClr val="002060"/>
                </a:solidFill>
              </a:rPr>
              <a:t>Module 2: Text Processing and Word-Level Analysis </a:t>
            </a:r>
          </a:p>
          <a:p>
            <a:pPr lvl="1" algn="just"/>
            <a:r>
              <a:rPr lang="en-US" sz="2200" dirty="0"/>
              <a:t>2.7.2 Smoothing Techniques: Laplace, Good–Turing </a:t>
            </a:r>
          </a:p>
          <a:p>
            <a:pPr lvl="1" algn="just"/>
            <a:r>
              <a:rPr lang="en-IN" sz="2200" dirty="0"/>
              <a:t>2.7.3 Evaluation Metrics: Perplexity </a:t>
            </a:r>
          </a:p>
          <a:p>
            <a:pPr lvl="1" algn="just"/>
            <a:r>
              <a:rPr lang="en-US" sz="2200" dirty="0"/>
              <a:t>2.8 Word Representation Models: Bag of Words and TF-IDF features for statistical text representation</a:t>
            </a:r>
            <a:r>
              <a:rPr lang="en-US" sz="1800" dirty="0"/>
              <a:t>. 	</a:t>
            </a:r>
            <a:endParaRPr lang="en-IN" sz="2200" b="1" dirty="0"/>
          </a:p>
          <a:p>
            <a:pPr algn="just"/>
            <a:r>
              <a:rPr lang="en-US" sz="2200" b="1" dirty="0">
                <a:solidFill>
                  <a:srgbClr val="002060"/>
                </a:solidFill>
              </a:rPr>
              <a:t>Module 3: Syntax Analysis and Sequence Modeling </a:t>
            </a:r>
            <a:r>
              <a:rPr lang="en-US" dirty="0">
                <a:solidFill>
                  <a:srgbClr val="002060"/>
                </a:solidFill>
              </a:rPr>
              <a:t>	</a:t>
            </a:r>
          </a:p>
          <a:p>
            <a:pPr algn="just"/>
            <a:r>
              <a:rPr lang="en-IN" sz="2200" dirty="0"/>
              <a:t>3.1 Part-of-Speech (POS) Tagging: Stochastic based approach; POS tagging using Hidden Markov Model (HMM) and Viterbi algorithm; challenges in POS tagging. </a:t>
            </a:r>
          </a:p>
          <a:p>
            <a:pPr algn="just"/>
            <a:r>
              <a:rPr lang="en-IN" sz="2200" dirty="0"/>
              <a:t>3.2 Discriminative Models for Sequence </a:t>
            </a:r>
            <a:r>
              <a:rPr lang="en-IN" sz="2200" dirty="0" err="1"/>
              <a:t>Labeling</a:t>
            </a:r>
            <a:r>
              <a:rPr lang="en-IN" sz="2200" dirty="0"/>
              <a:t>: Maximum Entropy Markov Model (MEMM) and Conditional Random Field (CRF),</a:t>
            </a:r>
            <a:r>
              <a:rPr lang="en-IN" sz="2200" dirty="0" err="1"/>
              <a:t>BiLSTM</a:t>
            </a:r>
            <a:r>
              <a:rPr lang="en-IN" sz="2200" dirty="0"/>
              <a:t>-CRF for neural sequence </a:t>
            </a:r>
            <a:r>
              <a:rPr lang="en-IN" sz="2200" dirty="0" err="1"/>
              <a:t>labeling</a:t>
            </a:r>
            <a:r>
              <a:rPr lang="en-IN" sz="2200" dirty="0"/>
              <a:t>. </a:t>
            </a:r>
          </a:p>
          <a:p>
            <a:pPr algn="just"/>
            <a:r>
              <a:rPr lang="en-IN" sz="2200" dirty="0"/>
              <a:t>3.3 Grammar Formalisms: Context-Free Grammar (CFG) and Probabilistic Context-Free Grammar (PCFG); modelling syntactic structure and constituency. </a:t>
            </a:r>
          </a:p>
          <a:p>
            <a:pPr algn="just"/>
            <a:r>
              <a:rPr lang="en-IN" sz="2200" dirty="0"/>
              <a:t>3.4 Parsing Techniques: </a:t>
            </a:r>
            <a:r>
              <a:rPr lang="en-US" sz="2200" dirty="0"/>
              <a:t>3.4.1 Top-Down Parsers: Predictive and Early Parser; 3.4.2 Bottom-Up Parsers: Shift-Reduce and CKY algorithm; 3.4.3 Introduction to Dependency and Constituency Parsing. </a:t>
            </a:r>
          </a:p>
          <a:p>
            <a:pPr marL="0" indent="0" algn="just">
              <a:buNone/>
            </a:pPr>
            <a:endParaRPr lang="en-US" sz="2200" dirty="0"/>
          </a:p>
          <a:p>
            <a:pPr algn="just"/>
            <a:endParaRPr lang="en-US" sz="2200" dirty="0"/>
          </a:p>
          <a:p>
            <a:pPr marL="457200" lvl="1" indent="0" algn="just">
              <a:buNone/>
            </a:pPr>
            <a:r>
              <a:rPr lang="en-US" sz="2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7094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17271-C068-B675-9FAA-FE2C1FF1B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Practice</a:t>
            </a:r>
          </a:p>
          <a:p>
            <a:pPr marL="0" indent="0">
              <a:buNone/>
            </a:pPr>
            <a:r>
              <a:rPr lang="en-US" dirty="0"/>
              <a:t>Compute the Type-Token Ratio (TTR) and interpret whether the passage has high or low lexical diversity.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b="1" dirty="0"/>
              <a:t>Regular exercise improves physical fitness. Daily exercise helps people maintain fitness, build strength, and stay active.</a:t>
            </a:r>
            <a:endParaRPr lang="en-IN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A7F9B4-8595-9366-81E4-30355B21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69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44F92-37B5-F15D-5753-8D59359A6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Practice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Compute the measure m of the following words with respect to the Porter Stemmer: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	Complexity, Typography, Psychology, Organization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A08553-6CB6-8892-EB5B-2AA308A8A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6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6012-94AD-0F55-0C76-718C78B3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57F0-5550-28E4-1DB3-6EB55162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-30" dirty="0">
                <a:solidFill>
                  <a:srgbClr val="C00000"/>
                </a:solidFill>
              </a:rPr>
              <a:t>Question</a:t>
            </a:r>
            <a:r>
              <a:rPr lang="en-US" b="1" spc="-80" dirty="0">
                <a:solidFill>
                  <a:srgbClr val="C00000"/>
                </a:solidFill>
              </a:rPr>
              <a:t> </a:t>
            </a:r>
            <a:r>
              <a:rPr lang="en-US" b="1" spc="-10" dirty="0">
                <a:solidFill>
                  <a:srgbClr val="C00000"/>
                </a:solidFill>
              </a:rPr>
              <a:t>Paper</a:t>
            </a:r>
            <a:r>
              <a:rPr lang="en-US" b="1" spc="-75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Pattern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94997-94FE-31AA-1B9A-1FCDB0074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Practice: </a:t>
            </a:r>
            <a:r>
              <a:rPr lang="en-IN" b="1" dirty="0"/>
              <a:t>Ambiguity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“The manager told the employee that he had reviewed the report on the file.”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0876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6BCD-1EA4-FEB5-FE54-FDF2A958B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DF578-3336-09B6-19E4-560DE993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295"/>
            <a:ext cx="10515600" cy="4868668"/>
          </a:xfrm>
        </p:spPr>
        <p:txBody>
          <a:bodyPr>
            <a:normAutofit/>
          </a:bodyPr>
          <a:lstStyle/>
          <a:p>
            <a:r>
              <a:rPr lang="en-US" b="1" dirty="0"/>
              <a:t>Practice </a:t>
            </a:r>
            <a:br>
              <a:rPr lang="en-US" b="1" dirty="0"/>
            </a:br>
            <a:r>
              <a:rPr lang="en-US" b="1" dirty="0"/>
              <a:t>Compute the probability of the parse tree of the input string:</a:t>
            </a:r>
            <a:br>
              <a:rPr lang="en-US" dirty="0"/>
            </a:br>
            <a:r>
              <a:rPr lang="en-US" b="1" dirty="0"/>
              <a:t>“The storm caused a flood”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Given the following partial PCFG: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67449-B646-8976-8931-3B071DA06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06662"/>
            <a:ext cx="3955631" cy="435133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D40F10F-FAF7-42D8-8F1E-FE6BD2D5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92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AB574-1543-9ECC-06C9-CF2256D5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27FD7-3585-F272-B258-8A04476CC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Practice</a:t>
            </a:r>
            <a:endParaRPr lang="en-US" dirty="0"/>
          </a:p>
          <a:p>
            <a:pPr>
              <a:buNone/>
            </a:pPr>
            <a:r>
              <a:rPr lang="en-US" b="1" dirty="0"/>
              <a:t>In a corpus, the number of meanings associated with the words “bat” and “pitch” are 9 and 18, respectively. Estimate the ratio:</a:t>
            </a:r>
            <a:endParaRPr lang="en-US" dirty="0"/>
          </a:p>
          <a:p>
            <a:pPr>
              <a:buNone/>
            </a:pPr>
            <a:r>
              <a:rPr lang="en-US" dirty="0"/>
              <a:t>RANK(bat):RANK(pitch)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32AC23-D203-C366-6659-F0F33636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080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EAEE-9C35-32CA-680F-5B566BA7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-30" dirty="0">
                <a:solidFill>
                  <a:srgbClr val="C00000"/>
                </a:solidFill>
              </a:rPr>
              <a:t>Question</a:t>
            </a:r>
            <a:r>
              <a:rPr lang="en-US" b="1" spc="-80" dirty="0">
                <a:solidFill>
                  <a:srgbClr val="C00000"/>
                </a:solidFill>
              </a:rPr>
              <a:t> </a:t>
            </a:r>
            <a:r>
              <a:rPr lang="en-US" b="1" spc="-10" dirty="0">
                <a:solidFill>
                  <a:srgbClr val="C00000"/>
                </a:solidFill>
              </a:rPr>
              <a:t>Paper</a:t>
            </a:r>
            <a:r>
              <a:rPr lang="en-US" b="1" spc="-75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Pattern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F244E-156D-BFE6-5AE5-E5C3DFD7A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r>
              <a:rPr lang="en-IN" b="1" dirty="0"/>
              <a:t>Identify the morphological operation for given data	</a:t>
            </a:r>
          </a:p>
          <a:p>
            <a:r>
              <a:rPr lang="en-US" b="1" dirty="0"/>
              <a:t>Classify into inflectional and derivational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33376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011BC-3A1F-CB8A-419E-3DD7F316D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5B672-6BDB-83B9-0D7F-7286ECC62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Practice</a:t>
            </a:r>
            <a:endParaRPr lang="en-US" dirty="0"/>
          </a:p>
          <a:p>
            <a:r>
              <a:rPr lang="en-US" b="1" dirty="0"/>
              <a:t>Consider the following corpus:</a:t>
            </a:r>
            <a:br>
              <a:rPr lang="en-US" dirty="0"/>
            </a:br>
            <a:r>
              <a:rPr lang="en-US" dirty="0"/>
              <a:t>• &lt;s&gt; The doctor treats patients &lt;/s&gt;</a:t>
            </a:r>
            <a:br>
              <a:rPr lang="en-US" dirty="0"/>
            </a:br>
            <a:r>
              <a:rPr lang="en-US" dirty="0"/>
              <a:t>• &lt;s&gt; A nurse checks records &lt;/s&gt;</a:t>
            </a:r>
            <a:br>
              <a:rPr lang="en-US" dirty="0"/>
            </a:br>
            <a:r>
              <a:rPr lang="en-US" dirty="0"/>
              <a:t>• &lt;s&gt; The nurse treats patients &lt;/s&gt;</a:t>
            </a:r>
            <a:br>
              <a:rPr lang="en-US" dirty="0"/>
            </a:br>
            <a:r>
              <a:rPr lang="en-US" dirty="0"/>
              <a:t>• &lt;s&gt; A doctor checks records &lt;/s&gt;</a:t>
            </a:r>
          </a:p>
          <a:p>
            <a:r>
              <a:rPr lang="en-US" dirty="0"/>
              <a:t>Given the POS tags, </a:t>
            </a:r>
            <a:r>
              <a:rPr lang="en-US" b="1" dirty="0"/>
              <a:t>DT: Determiner, NN: Noun, VB: Verb</a:t>
            </a:r>
            <a:endParaRPr lang="en-US" dirty="0"/>
          </a:p>
          <a:p>
            <a:r>
              <a:rPr lang="en-US" b="1" dirty="0"/>
              <a:t>Apply a bigram HMM to compute emission and transition probabilities.</a:t>
            </a:r>
            <a:r>
              <a:rPr lang="en-US" dirty="0"/>
              <a:t>	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448F1F-5717-F231-1935-662232A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871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D777-62BD-4D7A-AF65-159357202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2C9B6-78A4-2C71-E725-3C4C3D487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Practice </a:t>
            </a:r>
            <a:br>
              <a:rPr lang="en-US" b="1" dirty="0"/>
            </a:br>
            <a:r>
              <a:rPr lang="en-US" b="1" dirty="0"/>
              <a:t>HMM table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07559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39A87-B6B4-DB20-E1C8-A9DBF5DA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CB1E9-56AE-4BFF-088F-D8412CFE4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295"/>
            <a:ext cx="11161542" cy="5416062"/>
          </a:xfrm>
        </p:spPr>
        <p:txBody>
          <a:bodyPr>
            <a:normAutofit/>
          </a:bodyPr>
          <a:lstStyle/>
          <a:p>
            <a:r>
              <a:rPr lang="en-US" b="1" dirty="0"/>
              <a:t>Practice </a:t>
            </a:r>
            <a:br>
              <a:rPr lang="en-US" b="1" dirty="0"/>
            </a:br>
            <a:r>
              <a:rPr lang="en-IN" dirty="0"/>
              <a:t>Consider the following CFG</a:t>
            </a:r>
            <a:endParaRPr lang="en-US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r>
              <a:rPr lang="en-US" b="1" dirty="0"/>
              <a:t>Input:</a:t>
            </a:r>
            <a:r>
              <a:rPr lang="en-US" dirty="0"/>
              <a:t> </a:t>
            </a:r>
            <a:r>
              <a:rPr lang="en-US" i="1" dirty="0"/>
              <a:t>A farmer grows the crop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Construct a CKY-based parsing table and parse tree.</a:t>
            </a: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DCEBE-6F06-2332-3A7E-D15CAF814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053" y="1308295"/>
            <a:ext cx="3235106" cy="357518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EA9CAE6-7F8E-FB00-5EFE-55BEEA4B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681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25BA1-7848-7139-16B2-61E00B462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D3D7-EE86-578C-53A6-CF07370F4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943"/>
            <a:ext cx="11161542" cy="6475414"/>
          </a:xfrm>
        </p:spPr>
        <p:txBody>
          <a:bodyPr>
            <a:normAutofit/>
          </a:bodyPr>
          <a:lstStyle/>
          <a:p>
            <a:r>
              <a:rPr lang="en-US" sz="1800" b="1" dirty="0"/>
              <a:t>Practice </a:t>
            </a:r>
            <a:br>
              <a:rPr lang="en-US" sz="1800" b="1" dirty="0"/>
            </a:br>
            <a:r>
              <a:rPr lang="en-IN" sz="1800" b="1" dirty="0"/>
              <a:t>The transition and emission probability matrices are given below.</a:t>
            </a:r>
          </a:p>
          <a:p>
            <a:endParaRPr lang="en-IN" sz="1800" b="1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b="1" dirty="0"/>
          </a:p>
          <a:p>
            <a:endParaRPr lang="en-IN" sz="1800" b="1" dirty="0"/>
          </a:p>
          <a:p>
            <a:endParaRPr lang="en-IN" sz="1800" b="1" dirty="0"/>
          </a:p>
          <a:p>
            <a:endParaRPr lang="en-IN" sz="1800" b="1" dirty="0"/>
          </a:p>
          <a:p>
            <a:endParaRPr lang="en-US" sz="1800" b="1" dirty="0"/>
          </a:p>
          <a:p>
            <a:r>
              <a:rPr lang="en-US" sz="1800" b="1" dirty="0"/>
              <a:t>Apply the Viterbi algorithm to determine the most probable POS-tag sequence for the observation sequence “The chef cooks”. </a:t>
            </a:r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6B2975-EA23-E2E5-DCD5-5EB5B0028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84" y="1095541"/>
            <a:ext cx="7506748" cy="2391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CA7193-BDEA-ED6F-4F0B-609B66D51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684" y="3486650"/>
            <a:ext cx="7659169" cy="195289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815214F-D69B-2488-7B3F-20270A9F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571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E41E7-6887-EC34-66E6-A668EB2B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4BDFD-A9E9-0777-C621-DBD1FC647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295"/>
            <a:ext cx="11161542" cy="5416062"/>
          </a:xfrm>
        </p:spPr>
        <p:txBody>
          <a:bodyPr>
            <a:normAutofit/>
          </a:bodyPr>
          <a:lstStyle/>
          <a:p>
            <a:r>
              <a:rPr lang="en-US" b="1" dirty="0"/>
              <a:t>Practice </a:t>
            </a:r>
            <a:br>
              <a:rPr lang="en-US" b="1" dirty="0"/>
            </a:br>
            <a:r>
              <a:rPr lang="en-US" dirty="0"/>
              <a:t>Consider the following CFG and the sentence given below. Apply the leftmost derivation and construct the corresponding parse tree 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Sentence:</a:t>
            </a:r>
            <a:r>
              <a:rPr lang="en-US" dirty="0"/>
              <a:t> </a:t>
            </a:r>
            <a:r>
              <a:rPr lang="en-US" i="1" dirty="0"/>
              <a:t>The teacher conducts a lesson in the classroom.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1FE877-3BFD-C461-C0DB-324262ED6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08" y="2749292"/>
            <a:ext cx="3971844" cy="320134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FF0E65B-7642-AB19-1F5B-F8628CA7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995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675A-D3D6-EDCB-4538-46F7D119A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592E2-5A47-A820-4AC0-B8F6E8E21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Practice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Compute the perplexity of “The storm causes heavy damage” by considering the bigram model from the following text.</a:t>
            </a:r>
          </a:p>
          <a:p>
            <a:pPr marL="0" indent="0">
              <a:buNone/>
            </a:pPr>
            <a:r>
              <a:rPr lang="en-US" b="1" dirty="0"/>
              <a:t>		The storm causes damage. The storm brings heavy rain. Heavy rain causes damage. The storm causes heavy damage. The rain causes flooding. The flooding causes damage.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796A28-D739-56B5-7EF7-4004BEFE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031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F530-CC64-2A6C-F583-EA148BDB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5B8FA-EDEA-1612-C729-BD44E5D7D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Practice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Using Add-1 (Laplace) smoothing, calculate the smoothed probability of the given test sentence:</a:t>
            </a:r>
            <a:br>
              <a:rPr lang="en-US" dirty="0"/>
            </a:br>
            <a:r>
              <a:rPr lang="en-US" b="1" dirty="0"/>
              <a:t>Musicians perform live concerts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Consider the following training corpus:</a:t>
            </a:r>
            <a:br>
              <a:rPr lang="en-US" dirty="0"/>
            </a:br>
            <a:r>
              <a:rPr lang="en-US" b="1" dirty="0"/>
              <a:t>Musicians perform concerts nightly. Musicians practice new songs. Live concerts attract audiences. New songs help musicians perform better.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7CB1BC-F9BA-37AC-A41B-7E075751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43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F8248-FC87-9BFC-0373-FB9339A8A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E8D52-74DF-C68A-8B8F-C6700D607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Practice</a:t>
            </a:r>
            <a:endParaRPr lang="en-US" dirty="0"/>
          </a:p>
          <a:p>
            <a:r>
              <a:rPr lang="en-IN" b="1" dirty="0"/>
              <a:t>Consider the following documents:</a:t>
            </a:r>
            <a:br>
              <a:rPr lang="en-IN" dirty="0"/>
            </a:br>
            <a:r>
              <a:rPr lang="en-IN" b="1" dirty="0"/>
              <a:t>D₁:</a:t>
            </a:r>
            <a:r>
              <a:rPr lang="en-IN" dirty="0"/>
              <a:t> Pilots monitor flight systems.</a:t>
            </a:r>
            <a:br>
              <a:rPr lang="en-IN" dirty="0"/>
            </a:br>
            <a:r>
              <a:rPr lang="en-IN" b="1" dirty="0"/>
              <a:t>D₂:</a:t>
            </a:r>
            <a:r>
              <a:rPr lang="en-IN" dirty="0"/>
              <a:t> Pilots monitor navigation systems.</a:t>
            </a:r>
            <a:br>
              <a:rPr lang="en-IN" dirty="0"/>
            </a:br>
            <a:r>
              <a:rPr lang="en-IN" b="1" dirty="0"/>
              <a:t>D₃:</a:t>
            </a:r>
            <a:r>
              <a:rPr lang="en-IN" dirty="0"/>
              <a:t> Engineers repair flight systems.</a:t>
            </a:r>
          </a:p>
          <a:p>
            <a:pPr marL="0" indent="0">
              <a:buNone/>
            </a:pPr>
            <a:r>
              <a:rPr lang="en-US" dirty="0"/>
              <a:t>TF-IDF	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304DBD-1B7B-5755-740F-6AB02BC6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23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924</Words>
  <Application>Microsoft Office PowerPoint</Application>
  <PresentationFormat>Widescreen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  CEPEC7032   NATURAL LANGUAGE PROCESSING   B.Tech. VII </vt:lpstr>
      <vt:lpstr>Question Paper Pattern for MSE</vt:lpstr>
      <vt:lpstr>MSE: SYLLABUS</vt:lpstr>
      <vt:lpstr>MSE: SYLLABUS</vt:lpstr>
      <vt:lpstr>PowerPoint Presentation</vt:lpstr>
      <vt:lpstr>PowerPoint Presentation</vt:lpstr>
      <vt:lpstr>Question Paper Pattern</vt:lpstr>
      <vt:lpstr>PowerPoint Presentation</vt:lpstr>
      <vt:lpstr>PowerPoint Presentation</vt:lpstr>
      <vt:lpstr>Question Paper 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Shirin Matwankar</dc:creator>
  <cp:lastModifiedBy>Shirin Matwankar</cp:lastModifiedBy>
  <cp:revision>18</cp:revision>
  <dcterms:created xsi:type="dcterms:W3CDTF">2026-08-31T08:38:05Z</dcterms:created>
  <dcterms:modified xsi:type="dcterms:W3CDTF">2026-09-05T06:29:59Z</dcterms:modified>
</cp:coreProperties>
</file>